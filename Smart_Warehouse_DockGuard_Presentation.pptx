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060F1E"/>
            </a:gs>
            <a:gs pos="38000">
              <a:srgbClr val="0A213D"/>
            </a:gs>
            <a:gs pos="75000">
              <a:srgbClr val="113665"/>
            </a:gs>
            <a:gs pos="100000">
              <a:srgbClr val="07182E"/>
            </a:gs>
          </a:gsLst>
          <a:lin ang="324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75488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AUTONOMOUS WAREHOUSE CARGO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04672"/>
            <a:ext cx="10728655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DockGuard AI</a:t>
            </a:r>
          </a:p>
          <a:p>
            <a:pPr>
              <a:spcBef>
                <a:spcPts val="300"/>
              </a:spcBef>
              <a:defRPr sz="2000" b="1">
                <a:solidFill>
                  <a:srgbClr val="38BDF8"/>
                </a:solidFill>
                <a:latin typeface="Segoe UI"/>
              </a:defRPr>
            </a:pPr>
            <a:r>
              <a:t>Because gravity shouldn't win on the warehouse loading dock.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84831"/>
            <a:ext cx="2423160" cy="1024128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84831"/>
            <a:ext cx="2423160" cy="32004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212847"/>
            <a:ext cx="220370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WAREHOUSE DOCK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4:00 PM trailer rush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9544" y="2386583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2152" y="2084831"/>
            <a:ext cx="2423160" cy="1024128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02152" y="2084831"/>
            <a:ext cx="2423160" cy="32004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212847"/>
            <a:ext cx="220370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DROP / DRAG / TILT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Cartons slip &amp; pallets 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176" y="2386583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2084831"/>
            <a:ext cx="2423160" cy="1024128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2084831"/>
            <a:ext cx="242316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212847"/>
            <a:ext cx="220370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UNNOTICED DAMAGE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Loaded into trucks blindly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0808" y="2386583"/>
            <a:ext cx="23774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43416" y="2084831"/>
            <a:ext cx="2423160" cy="1024128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43416" y="2084831"/>
            <a:ext cx="2423160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53144" y="2212847"/>
            <a:ext cx="2203704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  <a:latin typeface="Segoe UI"/>
              </a:defRPr>
            </a:pPr>
            <a:r>
              <a:t>CUSTOMER RETURN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$200+ claims &amp; friction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01568"/>
            <a:ext cx="3401568" cy="19659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401568"/>
            <a:ext cx="340156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566160"/>
            <a:ext cx="303580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Segoe UI"/>
              </a:defRPr>
            </a:pPr>
            <a:r>
              <a:t>$50B+</a:t>
            </a:r>
          </a:p>
          <a:p>
            <a:pPr>
              <a:spcBef>
                <a:spcPts val="200"/>
              </a:spcBef>
              <a:defRPr sz="1550" b="1">
                <a:solidFill>
                  <a:srgbClr val="38BDF8"/>
                </a:solidFill>
                <a:latin typeface="Segoe UI"/>
              </a:defRPr>
            </a:pPr>
            <a:r>
              <a:t>ANNUAL FREIGHT LOSS</a:t>
            </a:r>
          </a:p>
          <a:p>
            <a:pPr>
              <a:spcBef>
                <a:spcPts val="500"/>
              </a:spcBef>
              <a:defRPr sz="1350">
                <a:solidFill>
                  <a:srgbClr val="CBD5E1"/>
                </a:solidFill>
                <a:latin typeface="Segoe UI"/>
              </a:defRPr>
            </a:pPr>
            <a:r>
              <a:t>Destroyed in warehouses each year before reaching highways—mostly unrecorded.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89120" y="3401568"/>
            <a:ext cx="3401568" cy="19659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401568"/>
            <a:ext cx="340156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566160"/>
            <a:ext cx="303580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Segoe UI"/>
              </a:defRPr>
            </a:pPr>
            <a:r>
              <a:t>1 : 10</a:t>
            </a:r>
          </a:p>
          <a:p>
            <a:pPr>
              <a:spcBef>
                <a:spcPts val="200"/>
              </a:spcBef>
              <a:defRPr sz="1550" b="1">
                <a:solidFill>
                  <a:srgbClr val="38BDF8"/>
                </a:solidFill>
                <a:latin typeface="Segoe UI"/>
              </a:defRPr>
            </a:pPr>
            <a:r>
              <a:t>SUPERVISOR BLINDSPOT</a:t>
            </a:r>
          </a:p>
          <a:p>
            <a:pPr>
              <a:spcBef>
                <a:spcPts val="500"/>
              </a:spcBef>
              <a:defRPr sz="1350">
                <a:solidFill>
                  <a:srgbClr val="CBD5E1"/>
                </a:solidFill>
                <a:latin typeface="Segoe UI"/>
              </a:defRPr>
            </a:pPr>
            <a:r>
              <a:t>1 supervisor managing 10 active bays and 40 fast-moving workers simultaneously.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401568"/>
            <a:ext cx="3401568" cy="19659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401568"/>
            <a:ext cx="3401568" cy="3200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3566160"/>
            <a:ext cx="3035808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Segoe UI"/>
              </a:defRPr>
            </a:pPr>
            <a:r>
              <a:t>&lt; 1.5s</a:t>
            </a:r>
          </a:p>
          <a:p>
            <a:pPr>
              <a:spcBef>
                <a:spcPts val="200"/>
              </a:spcBef>
              <a:defRPr sz="1550" b="1">
                <a:solidFill>
                  <a:srgbClr val="38BDF8"/>
                </a:solidFill>
                <a:latin typeface="Segoe UI"/>
              </a:defRPr>
            </a:pPr>
            <a:r>
              <a:t>INTERVENTION WINDOW</a:t>
            </a:r>
          </a:p>
          <a:p>
            <a:pPr>
              <a:spcBef>
                <a:spcPts val="500"/>
              </a:spcBef>
              <a:defRPr sz="1350">
                <a:solidFill>
                  <a:srgbClr val="CBD5E1"/>
                </a:solidFill>
                <a:latin typeface="Segoe UI"/>
              </a:defRPr>
            </a:pPr>
            <a:r>
              <a:t>Dockside repack costs $10. Letting cracked cargo reach customers costs $200+.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550" b="1">
                <a:solidFill>
                  <a:srgbClr val="FFFFFF"/>
                </a:solidFill>
                <a:latin typeface="Segoe UI"/>
              </a:defRPr>
            </a:pPr>
            <a:r>
              <a:t>Team VisionGuard: </a:t>
            </a:r>
            <a:r>
              <a:rPr b="0">
                <a:solidFill>
                  <a:srgbClr val="38BDF8"/>
                </a:solidFill>
              </a:rPr>
              <a:t>Aastha Gupta (Computer Vision)   •   Lucky Lakhani (AI Pipeline)   •   Runjan Bawa (Dashboard &amp; UX)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060F1E"/>
            </a:gs>
            <a:gs pos="38000">
              <a:srgbClr val="0A213D"/>
            </a:gs>
            <a:gs pos="75000">
              <a:srgbClr val="113665"/>
            </a:gs>
            <a:gs pos="100000">
              <a:srgbClr val="07182E"/>
            </a:gs>
          </a:gsLst>
          <a:lin ang="324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5943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02  /  PROBLEM, SOLUTION &amp; 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Segoe UI"/>
              </a:defRPr>
            </a:pPr>
            <a:r>
              <a:t>From Sensor to Prevention: The 6-Stage 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1664208" cy="1353312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1664208" cy="3657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48132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200"/>
              </a:spcBef>
              <a:defRPr sz="1650" b="1">
                <a:solidFill>
                  <a:srgbClr val="FFFFFF"/>
                </a:solidFill>
                <a:latin typeface="Segoe UI"/>
              </a:defRPr>
            </a:pPr>
            <a:r>
              <a:t>CCTV Video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1080p dock stream</a:t>
            </a:r>
          </a:p>
        </p:txBody>
      </p:sp>
      <p:sp>
        <p:nvSpPr>
          <p:cNvPr id="8" name="Rectangle 7"/>
          <p:cNvSpPr/>
          <p:nvPr/>
        </p:nvSpPr>
        <p:spPr>
          <a:xfrm>
            <a:off x="2542032" y="1444752"/>
            <a:ext cx="1664208" cy="1353312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42032" y="1444752"/>
            <a:ext cx="166420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554480"/>
            <a:ext cx="148132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200"/>
              </a:spcBef>
              <a:defRPr sz="1650" b="1">
                <a:solidFill>
                  <a:srgbClr val="FFFFFF"/>
                </a:solidFill>
                <a:latin typeface="Segoe UI"/>
              </a:defRPr>
            </a:pPr>
            <a:r>
              <a:t>YOLOv8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Track boxes &amp; crew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52544" y="1444752"/>
            <a:ext cx="1664208" cy="1353312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52544" y="1444752"/>
            <a:ext cx="166420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43984" y="1554480"/>
            <a:ext cx="148132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200"/>
              </a:spcBef>
              <a:defRPr sz="1650" b="1">
                <a:solidFill>
                  <a:srgbClr val="FFFFFF"/>
                </a:solidFill>
                <a:latin typeface="Segoe UI"/>
              </a:defRPr>
            </a:pPr>
            <a:r>
              <a:t>Physics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vy &gt; 2.5m/s or drag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444752"/>
            <a:ext cx="1664208" cy="1353312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1444752"/>
            <a:ext cx="166420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554480"/>
            <a:ext cx="148132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  <a:p>
            <a:pPr>
              <a:spcBef>
                <a:spcPts val="200"/>
              </a:spcBef>
              <a:defRPr sz="1650" b="1">
                <a:solidFill>
                  <a:srgbClr val="FFFFFF"/>
                </a:solidFill>
                <a:latin typeface="Segoe UI"/>
              </a:defRPr>
            </a:pPr>
            <a:r>
              <a:t>Dock Chime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Polite audio tone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444752"/>
            <a:ext cx="1664208" cy="1353312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1444752"/>
            <a:ext cx="1664208" cy="3657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5008" y="1554480"/>
            <a:ext cx="148132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05</a:t>
            </a:r>
          </a:p>
          <a:p>
            <a:pPr>
              <a:spcBef>
                <a:spcPts val="200"/>
              </a:spcBef>
              <a:defRPr sz="1650" b="1">
                <a:solidFill>
                  <a:srgbClr val="FFFFFF"/>
                </a:solidFill>
                <a:latin typeface="Segoe UI"/>
              </a:defRPr>
            </a:pPr>
            <a:r>
              <a:t>Inspection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Worker checks tape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444752"/>
            <a:ext cx="1664208" cy="1353312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784080" y="1444752"/>
            <a:ext cx="166420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554480"/>
            <a:ext cx="1481328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38BDF8"/>
                </a:solidFill>
                <a:latin typeface="Segoe UI"/>
              </a:defRPr>
            </a:pPr>
            <a:r>
              <a:t>06</a:t>
            </a:r>
          </a:p>
          <a:p>
            <a:pPr>
              <a:spcBef>
                <a:spcPts val="200"/>
              </a:spcBef>
              <a:defRPr sz="1650" b="1">
                <a:solidFill>
                  <a:srgbClr val="FFFFFF"/>
                </a:solidFill>
                <a:latin typeface="Segoe UI"/>
              </a:defRPr>
            </a:pPr>
            <a:r>
              <a:t>Safe Transit</a:t>
            </a:r>
          </a:p>
          <a:p>
            <a:pPr>
              <a:spcBef>
                <a:spcPts val="3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100% verified cargo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090672"/>
            <a:ext cx="5230368" cy="33375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3090672"/>
            <a:ext cx="5230368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255264"/>
            <a:ext cx="4773168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OPERATOR MOMENT: RAMESH AT BAY 3</a:t>
            </a:r>
          </a:p>
          <a:p>
            <a:pPr>
              <a:spcBef>
                <a:spcPts val="2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Supportive dockside coaching — not punitive surveillance.</a:t>
            </a:r>
          </a:p>
          <a:p>
            <a:pPr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• The Rush: </a:t>
            </a:r>
            <a:r>
              <a:rPr b="0">
                <a:solidFill>
                  <a:srgbClr val="CBD5E1"/>
                </a:solidFill>
              </a:rPr>
              <a:t>4:15 PM container deadline; Ramesh lifts 25kg crate solo.</a:t>
            </a:r>
          </a:p>
          <a:p>
            <a:pPr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• The Slip: </a:t>
            </a:r>
            <a:r>
              <a:rPr b="0">
                <a:solidFill>
                  <a:srgbClr val="CBD5E1"/>
                </a:solidFill>
              </a:rPr>
              <a:t>Grip fails; carton drops 1.2 meters to concrete floor.</a:t>
            </a:r>
          </a:p>
          <a:p>
            <a:pPr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• The Chime: </a:t>
            </a:r>
            <a:r>
              <a:rPr b="0">
                <a:solidFill>
                  <a:srgbClr val="CBD5E1"/>
                </a:solidFill>
              </a:rPr>
              <a:t>Gentle microwave ping rings at Bay 3 (no panic siren).</a:t>
            </a:r>
          </a:p>
          <a:p>
            <a:pPr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• The Win: </a:t>
            </a:r>
            <a:r>
              <a:rPr b="0">
                <a:solidFill>
                  <a:srgbClr val="CBD5E1"/>
                </a:solidFill>
              </a:rPr>
              <a:t>Calls teammate for 2-person lift; sets cracked item aside.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9807" y="3090672"/>
            <a:ext cx="5230368" cy="33375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9807" y="3090672"/>
            <a:ext cx="5230368" cy="36576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58407" y="3255264"/>
            <a:ext cx="4773168" cy="3063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7DD3FC"/>
                </a:solidFill>
                <a:latin typeface="Segoe UI"/>
              </a:defRPr>
            </a:pPr>
            <a:r>
              <a:t>SUPERVISOR MOMENT: POOJA ON HER IPAD</a:t>
            </a:r>
          </a:p>
          <a:p>
            <a:pPr>
              <a:spcBef>
                <a:spcPts val="2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Replacing 45 minutes of manual video scrubbing with instant proof.</a:t>
            </a:r>
          </a:p>
          <a:p>
            <a:pPr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• The Old Way: </a:t>
            </a:r>
            <a:r>
              <a:rPr b="0">
                <a:solidFill>
                  <a:srgbClr val="CBD5E1"/>
                </a:solidFill>
              </a:rPr>
              <a:t>Wasted 45 mins nightly hunting timestamps on blurry DVRs.</a:t>
            </a:r>
          </a:p>
          <a:p>
            <a:pPr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• Instant Alert: </a:t>
            </a:r>
            <a:r>
              <a:rPr b="0">
                <a:solidFill>
                  <a:srgbClr val="CBD5E1"/>
                </a:solidFill>
              </a:rPr>
              <a:t>iPad buzzes: 'Bay 3: High-Velocity Drop Detected (10:14 AM)'.</a:t>
            </a:r>
          </a:p>
          <a:p>
            <a:pPr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• 5-Second Replay: </a:t>
            </a:r>
            <a:r>
              <a:rPr b="0">
                <a:solidFill>
                  <a:srgbClr val="CBD5E1"/>
                </a:solidFill>
              </a:rPr>
              <a:t>One tap plays fall trajectory and impact velocity vector.</a:t>
            </a:r>
          </a:p>
          <a:p>
            <a:pPr>
              <a:spcBef>
                <a:spcPts val="500"/>
              </a:spcBef>
              <a:defRPr sz="1500" b="1">
                <a:solidFill>
                  <a:srgbClr val="FFFFFF"/>
                </a:solidFill>
                <a:latin typeface="Segoe UI"/>
              </a:defRPr>
            </a:pPr>
            <a:r>
              <a:t>• Gemini Audit: </a:t>
            </a:r>
            <a:r>
              <a:rPr b="0">
                <a:solidFill>
                  <a:srgbClr val="CBD5E1"/>
                </a:solidFill>
              </a:rPr>
              <a:t>Shift-end query: 'Summarize all Bay 3 drops today' in 1 click.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060F1E"/>
            </a:gs>
            <a:gs pos="38000">
              <a:srgbClr val="0A213D"/>
            </a:gs>
            <a:gs pos="75000">
              <a:srgbClr val="113665"/>
            </a:gs>
            <a:gs pos="100000">
              <a:srgbClr val="07182E"/>
            </a:gs>
          </a:gsLst>
          <a:lin ang="324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5943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03  /  TECHNICAL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0" y="384048"/>
            <a:ext cx="46021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50" b="1">
                <a:solidFill>
                  <a:srgbClr val="94A3B8"/>
                </a:solidFill>
                <a:latin typeface="Segoe UI"/>
              </a:defRPr>
            </a:pPr>
            <a:r>
              <a:t>CONFIDENTIAL — ACADEMIC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Segoe UI"/>
              </a:defRPr>
            </a:pPr>
            <a:r>
              <a:t>Technical Architecture &amp; Edge-to-Cloud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5120640" cy="1078992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47548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01 • CCTV VIDEO STREAM &amp; RING BUFFER</a:t>
            </a:r>
          </a:p>
          <a:p>
            <a:pPr>
              <a:spcBef>
                <a:spcPts val="300"/>
              </a:spcBef>
              <a:defRPr sz="1350" b="1">
                <a:solidFill>
                  <a:srgbClr val="38BDF8"/>
                </a:solidFill>
                <a:latin typeface="Segoe UI"/>
              </a:defRPr>
            </a:pPr>
            <a:r>
              <a:t>OpenCV + FFmpeg  |  1080p @ 15fps  |  In-Memory 15s FIFO Buffer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339535" y="1444752"/>
            <a:ext cx="5120640" cy="1078992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2415" y="1554480"/>
            <a:ext cx="47548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02 • OBJECT DETECTION &amp; TRACKING</a:t>
            </a:r>
          </a:p>
          <a:p>
            <a:pPr>
              <a:spcBef>
                <a:spcPts val="300"/>
              </a:spcBef>
              <a:defRPr sz="1350" b="1">
                <a:solidFill>
                  <a:srgbClr val="38BDF8"/>
                </a:solidFill>
                <a:latin typeface="Segoe UI"/>
              </a:defRPr>
            </a:pPr>
            <a:r>
              <a:t>YOLOv8 + ByteTrack  |  Custom Carton, Pallet &amp; Worker IDs  |  Zero Loss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2542032"/>
            <a:ext cx="640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907792"/>
            <a:ext cx="5120640" cy="1078992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17520"/>
            <a:ext cx="47548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03 • SPATIAL &amp; KINEMATIC RULES</a:t>
            </a:r>
          </a:p>
          <a:p>
            <a:pPr>
              <a:spcBef>
                <a:spcPts val="300"/>
              </a:spcBef>
              <a:defRPr sz="1350" b="1">
                <a:solidFill>
                  <a:srgbClr val="38BDF8"/>
                </a:solidFill>
                <a:latin typeface="Segoe UI"/>
              </a:defRPr>
            </a:pPr>
            <a:r>
              <a:t>Vector Math  |  Drop vy &gt; 2.5m/s  |  Floor Drag &gt; 2m  |  Tilt &gt; 15°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535" y="2907792"/>
            <a:ext cx="5120640" cy="1078992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22415" y="3017520"/>
            <a:ext cx="47548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04 • EVENT DISPATCH &amp; DATABASE</a:t>
            </a:r>
          </a:p>
          <a:p>
            <a:pPr>
              <a:spcBef>
                <a:spcPts val="300"/>
              </a:spcBef>
              <a:defRPr sz="1350" b="1">
                <a:solidFill>
                  <a:srgbClr val="38BDF8"/>
                </a:solidFill>
                <a:latin typeface="Segoe UI"/>
              </a:defRPr>
            </a:pPr>
            <a:r>
              <a:t>FastAPI Core  |  &lt; 50ms WebSockets  |  SQLite Telemetry Logs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005072"/>
            <a:ext cx="640080" cy="34747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Segoe UI"/>
              </a:defRPr>
            </a:pPr>
            <a:r>
              <a:t>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70832"/>
            <a:ext cx="5120640" cy="123444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475488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05 • SUPERVISOR UI &amp; AUDIO ENGINE</a:t>
            </a:r>
          </a:p>
          <a:p>
            <a:pPr>
              <a:spcBef>
                <a:spcPts val="200"/>
              </a:spcBef>
              <a:defRPr sz="1350" b="1">
                <a:solidFill>
                  <a:srgbClr val="38BDF8"/>
                </a:solidFill>
                <a:latin typeface="Segoe UI"/>
              </a:defRPr>
            </a:pPr>
            <a:r>
              <a:t>React 18 + Tailwind CSS + Web Audio API</a:t>
            </a:r>
          </a:p>
          <a:p>
            <a:pPr>
              <a:spcBef>
                <a:spcPts val="3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Live KPI cards, 7-day risk trend curves &amp; instant synthetic dock chimes.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9535" y="4370832"/>
            <a:ext cx="5120640" cy="1234440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22415" y="4480560"/>
            <a:ext cx="4754880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FFFFFF"/>
                </a:solidFill>
                <a:latin typeface="Segoe UI"/>
              </a:defRPr>
            </a:pPr>
            <a:r>
              <a:t>06 • CONVERSATIONAL RAG ASSISTANT</a:t>
            </a:r>
          </a:p>
          <a:p>
            <a:pPr>
              <a:spcBef>
                <a:spcPts val="200"/>
              </a:spcBef>
              <a:defRPr sz="1350" b="1">
                <a:solidFill>
                  <a:srgbClr val="38BDF8"/>
                </a:solidFill>
                <a:latin typeface="Segoe UI"/>
              </a:defRPr>
            </a:pPr>
            <a:r>
              <a:t>Google Gemini 2.5 Flash + Structured RAG</a:t>
            </a:r>
          </a:p>
          <a:p>
            <a:pPr>
              <a:spcBef>
                <a:spcPts val="3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Natural language shift queries without SQL; instant risk summaries &amp; audit logs.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1722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450" b="1">
                <a:solidFill>
                  <a:srgbClr val="38BDF8"/>
                </a:solidFill>
                <a:latin typeface="Segoe UI"/>
              </a:defRPr>
            </a:pPr>
            <a:r>
              <a:t>Key Design Decision: </a:t>
            </a:r>
            <a:r>
              <a:rPr b="0">
                <a:solidFill>
                  <a:srgbClr val="E2E8F0"/>
                </a:solidFill>
              </a:rPr>
              <a:t>Local spatial vector physics filter false alarms in &lt;50ms → Only verified risk events reach Gemini &amp; WebSockets.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060F1E"/>
            </a:gs>
            <a:gs pos="38000">
              <a:srgbClr val="0A213D"/>
            </a:gs>
            <a:gs pos="75000">
              <a:srgbClr val="113665"/>
            </a:gs>
            <a:gs pos="100000">
              <a:srgbClr val="07182E"/>
            </a:gs>
          </a:gsLst>
          <a:lin ang="324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5943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04  /  PROTOTYPE SCREENSHOTS &amp;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Segoe UI"/>
              </a:defRPr>
            </a:pPr>
            <a:r>
              <a:t>Field Prototype: Live Detection, Replay &amp;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dia_1788498059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3200400" cy="2331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417320"/>
            <a:ext cx="2011680" cy="292608"/>
          </a:xfrm>
          <a:prstGeom prst="rect">
            <a:avLst/>
          </a:prstGeom>
          <a:solidFill>
            <a:srgbClr val="102C5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3560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4.6m FLOOR DRAG DETECTED</a:t>
            </a:r>
          </a:p>
        </p:txBody>
      </p:sp>
      <p:pic>
        <p:nvPicPr>
          <p:cNvPr id="8" name="Picture 7" descr="media_17884973975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417320"/>
            <a:ext cx="3246120" cy="2331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69080" y="1417320"/>
            <a:ext cx="2011680" cy="292608"/>
          </a:xfrm>
          <a:prstGeom prst="rect">
            <a:avLst/>
          </a:prstGeom>
          <a:solidFill>
            <a:srgbClr val="102C5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0" y="1435608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CRITICAL DROP REPLAY (5s)</a:t>
            </a:r>
          </a:p>
        </p:txBody>
      </p:sp>
      <p:pic>
        <p:nvPicPr>
          <p:cNvPr id="11" name="Picture 10" descr="media_178862762855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86200"/>
            <a:ext cx="6583680" cy="23317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31520" y="3886200"/>
            <a:ext cx="2377440" cy="292608"/>
          </a:xfrm>
          <a:prstGeom prst="rect">
            <a:avLst/>
          </a:prstGeom>
          <a:solidFill>
            <a:srgbClr val="102C52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04487"/>
            <a:ext cx="2286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LIVE OPERATIONAL DASHBOARD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1417320"/>
            <a:ext cx="3822191" cy="480060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417320"/>
            <a:ext cx="3822191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572768"/>
            <a:ext cx="3364991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800" b="1">
                <a:solidFill>
                  <a:srgbClr val="38BDF8"/>
                </a:solidFill>
                <a:latin typeface="Segoe UI"/>
              </a:defRPr>
            </a:pPr>
            <a:r>
              <a:t>TESTED IN REAL FOOTAGE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Drop from Staging (&gt;1.2m)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Freefall spike vy &gt; 2.8 m/s triggers dock chime in 1.2s flat.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Wet-Floor Dragging (4.6m)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Continuous floor displacement flagged as severe friction hazard.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Unstable Pallet Tilt (&gt;17°)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Stack angle warning alerts loaders before trailer loading.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Gemini AI Natural Query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'Which bay had drops today?' resolved instantly from SQLite logs.</a:t>
            </a:r>
          </a:p>
          <a:p>
            <a:pPr>
              <a:spcBef>
                <a:spcPts val="10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LIVE DEPLOYMENT:</a:t>
            </a:r>
          </a:p>
          <a:p>
            <a:pPr>
              <a:spcBef>
                <a:spcPts val="100"/>
              </a:spcBef>
              <a:defRPr sz="1250">
                <a:solidFill>
                  <a:srgbClr val="FFFFFF"/>
                </a:solidFill>
                <a:latin typeface="Segoe UI"/>
              </a:defRPr>
            </a:pPr>
            <a:r>
              <a:t>smart-warehouse-system-rk8p.onrender.com</a:t>
            </a:r>
          </a:p>
          <a:p>
            <a:pPr>
              <a:spcBef>
                <a:spcPts val="1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github.com/Aastha008/Smart-Warehouse-System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060F1E"/>
            </a:gs>
            <a:gs pos="38000">
              <a:srgbClr val="0A213D"/>
            </a:gs>
            <a:gs pos="75000">
              <a:srgbClr val="113665"/>
            </a:gs>
            <a:gs pos="100000">
              <a:srgbClr val="07182E"/>
            </a:gs>
          </a:gsLst>
          <a:lin ang="324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5943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05  /  IMPACT, DAMAGE PREVENTION &amp;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Segoe UI"/>
              </a:defRPr>
            </a:pPr>
            <a:r>
              <a:t>What Changed When We Put It Into Practice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2523744" cy="24231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2523744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9344"/>
            <a:ext cx="2249424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&lt; 1.5s</a:t>
            </a:r>
          </a:p>
          <a:p>
            <a:pPr>
              <a:spcBef>
                <a:spcPts val="3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DETECTION → CHIME</a:t>
            </a:r>
          </a:p>
          <a:p>
            <a:pPr>
              <a:spcBef>
                <a:spcPts val="600"/>
              </a:spcBef>
              <a:defRPr sz="1350">
                <a:solidFill>
                  <a:srgbClr val="CBD5E1"/>
                </a:solidFill>
                <a:latin typeface="Segoe UI"/>
              </a:defRPr>
            </a:pPr>
            <a:r>
              <a:t>Sub-second vision catches drops before cartons are buried in trucks.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65576" y="1444752"/>
            <a:ext cx="2523744" cy="24231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65576" y="1444752"/>
            <a:ext cx="2523744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609344"/>
            <a:ext cx="2249424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30m → 1m</a:t>
            </a:r>
          </a:p>
          <a:p>
            <a:pPr>
              <a:spcBef>
                <a:spcPts val="3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VERIFICATION SPEED</a:t>
            </a:r>
          </a:p>
          <a:p>
            <a:pPr>
              <a:spcBef>
                <a:spcPts val="600"/>
              </a:spcBef>
              <a:defRPr sz="1350">
                <a:solidFill>
                  <a:srgbClr val="CBD5E1"/>
                </a:solidFill>
                <a:latin typeface="Segoe UI"/>
              </a:defRPr>
            </a:pPr>
            <a:r>
              <a:t>5-second micro-replays replace 30 minutes of manual CCTV scrubbing.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9632" y="1444752"/>
            <a:ext cx="2523744" cy="24231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444752"/>
            <a:ext cx="2523744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609344"/>
            <a:ext cx="2249424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89%</a:t>
            </a:r>
          </a:p>
          <a:p>
            <a:pPr>
              <a:spcBef>
                <a:spcPts val="3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UNREPORTED DROPS</a:t>
            </a:r>
          </a:p>
          <a:p>
            <a:pPr>
              <a:spcBef>
                <a:spcPts val="600"/>
              </a:spcBef>
              <a:defRPr sz="1350">
                <a:solidFill>
                  <a:srgbClr val="CBD5E1"/>
                </a:solidFill>
                <a:latin typeface="Segoe UI"/>
              </a:defRPr>
            </a:pPr>
            <a:r>
              <a:t>Intercepted 8 of 9 physical drop incidents never logged by workers.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3688" y="1444752"/>
            <a:ext cx="2523744" cy="242316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33688" y="1444752"/>
            <a:ext cx="2523744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8" y="1609344"/>
            <a:ext cx="2249424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Segoe UI"/>
              </a:defRPr>
            </a:pPr>
            <a:r>
              <a:t>100%</a:t>
            </a:r>
          </a:p>
          <a:p>
            <a:pPr>
              <a:spcBef>
                <a:spcPts val="300"/>
              </a:spcBef>
              <a:defRPr sz="1400" b="1">
                <a:solidFill>
                  <a:srgbClr val="38BDF8"/>
                </a:solidFill>
                <a:latin typeface="Segoe UI"/>
              </a:defRPr>
            </a:pPr>
            <a:r>
              <a:t>AUDIT PROOF</a:t>
            </a:r>
          </a:p>
          <a:p>
            <a:pPr>
              <a:spcBef>
                <a:spcPts val="600"/>
              </a:spcBef>
              <a:defRPr sz="1350">
                <a:solidFill>
                  <a:srgbClr val="CBD5E1"/>
                </a:solidFill>
                <a:latin typeface="Segoe UI"/>
              </a:defRPr>
            </a:pPr>
            <a:r>
              <a:t>Timestamped video clips eliminate carrier-versus-warehouse liability disputes.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069080"/>
            <a:ext cx="3429000" cy="205740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69080"/>
            <a:ext cx="36576" cy="20574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206240"/>
            <a:ext cx="31546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SHIFT SUPERVISOR</a:t>
            </a:r>
          </a:p>
          <a:p>
            <a:pPr>
              <a:spcBef>
                <a:spcPts val="4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"I can't watch hours of CCTV while running across 6 active bays."</a:t>
            </a:r>
          </a:p>
          <a:p>
            <a:pPr>
              <a:spcBef>
                <a:spcPts val="5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→ Solution: 1-click 5-second replay with pre-buffered impact markers.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4069080"/>
            <a:ext cx="3429000" cy="205740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9976" y="4069080"/>
            <a:ext cx="36576" cy="20574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4206240"/>
            <a:ext cx="31546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DOCK LOADER</a:t>
            </a:r>
          </a:p>
          <a:p>
            <a:pPr>
              <a:spcBef>
                <a:spcPts val="4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"Your first alarm sounded like a fire siren. It made everyone defensive."</a:t>
            </a:r>
          </a:p>
          <a:p>
            <a:pPr>
              <a:spcBef>
                <a:spcPts val="5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→ Solution: Gentle microwave dock chime and coaching for 2-person lifts.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8432" y="4069080"/>
            <a:ext cx="3429000" cy="2057400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28432" y="4069080"/>
            <a:ext cx="36576" cy="205740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4" y="4206240"/>
            <a:ext cx="31546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LOGISTICS DIRECTOR</a:t>
            </a:r>
          </a:p>
          <a:p>
            <a:pPr>
              <a:spcBef>
                <a:spcPts val="4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"Carriers blame us for damaged goods discovered at destination."</a:t>
            </a:r>
          </a:p>
          <a:p>
            <a:pPr>
              <a:spcBef>
                <a:spcPts val="500"/>
              </a:spcBef>
              <a:defRPr sz="1300">
                <a:solidFill>
                  <a:srgbClr val="E2E8F0"/>
                </a:solidFill>
                <a:latin typeface="Segoe UI"/>
              </a:defRPr>
            </a:pPr>
            <a:r>
              <a:t>→ Solution: Tamper-evident video logs with velocity data end blame games.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flip="none" rotWithShape="1">
          <a:gsLst>
            <a:gs pos="0">
              <a:srgbClr val="060F1E"/>
            </a:gs>
            <a:gs pos="38000">
              <a:srgbClr val="0A213D"/>
            </a:gs>
            <a:gs pos="75000">
              <a:srgbClr val="113665"/>
            </a:gs>
            <a:gs pos="100000">
              <a:srgbClr val="07182E"/>
            </a:gs>
          </a:gsLst>
          <a:lin ang="324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5943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50" b="1">
                <a:solidFill>
                  <a:srgbClr val="38BDF8"/>
                </a:solidFill>
                <a:latin typeface="Segoe UI"/>
              </a:defRPr>
            </a:pPr>
            <a:r>
              <a:t>06  /  CONCLUSION &amp; ENTERPRISE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900" b="1">
                <a:solidFill>
                  <a:srgbClr val="FFFFFF"/>
                </a:solidFill>
                <a:latin typeface="Segoe UI"/>
              </a:defRPr>
            </a:pPr>
            <a:r>
              <a:t>Roadmap: Proven Today, Constraints &amp;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728655" cy="1371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44752"/>
            <a:ext cx="3364992" cy="4005072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44752"/>
            <a:ext cx="3364992" cy="3657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2999232" cy="3685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94A3B8"/>
                </a:solidFill>
                <a:latin typeface="Segoe UI"/>
              </a:defRPr>
            </a:pPr>
            <a:r>
              <a:t>01  —  NOW</a:t>
            </a:r>
          </a:p>
          <a:p>
            <a:pPr>
              <a:spcBef>
                <a:spcPts val="300"/>
              </a:spcBef>
              <a:defRPr sz="1850" b="1">
                <a:solidFill>
                  <a:srgbClr val="FFFFFF"/>
                </a:solidFill>
                <a:latin typeface="Segoe UI"/>
              </a:defRPr>
            </a:pPr>
            <a:r>
              <a:t>PROVEN TODAY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Live Full-Stack Cloud App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Hosted 24/7 on Render (React + FastAPI + SQLite).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YOLOv8 Video Inference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Accurately detects cartons, pallets &amp; drops in CCTV.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Real-Time Sound Chimes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Zero-latency synthetic browser dock alerts.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Gemini 2.5 Flash RAG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Answers natural language queries using real logs.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9664" y="3090672"/>
            <a:ext cx="182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407408" y="1444752"/>
            <a:ext cx="3364992" cy="4005072"/>
          </a:xfrm>
          <a:prstGeom prst="rect">
            <a:avLst/>
          </a:prstGeom>
          <a:solidFill>
            <a:srgbClr val="0A192E"/>
          </a:solidFill>
          <a:ln w="12700">
            <a:solidFill>
              <a:srgbClr val="1C3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07408" y="1444752"/>
            <a:ext cx="3364992" cy="3657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09344"/>
            <a:ext cx="2999232" cy="3685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94A3B8"/>
                </a:solidFill>
                <a:latin typeface="Segoe UI"/>
              </a:defRPr>
            </a:pPr>
            <a:r>
              <a:t>02  —  BOTTLENECK</a:t>
            </a:r>
          </a:p>
          <a:p>
            <a:pPr>
              <a:spcBef>
                <a:spcPts val="300"/>
              </a:spcBef>
              <a:defRPr sz="1850" b="1">
                <a:solidFill>
                  <a:srgbClr val="94A3B8"/>
                </a:solidFill>
                <a:latin typeface="Segoe UI"/>
              </a:defRPr>
            </a:pPr>
            <a:r>
              <a:t>HONEST CONSTRAINTS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Cloud CPU Inference Latency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Takes 5–8s per clip on free-tier; needs edge GPU.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Heavy Worker Crowding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Occlusion when 3+ workers cluster tightly over boxes.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Morning Sunlight Glare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Direct sun through bay doors lowers box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3090672"/>
            <a:ext cx="182880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defRPr sz="2400" b="1">
                <a:solidFill>
                  <a:srgbClr val="38BDF8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83296" y="1444752"/>
            <a:ext cx="3364992" cy="4005072"/>
          </a:xfrm>
          <a:prstGeom prst="rect">
            <a:avLst/>
          </a:prstGeom>
          <a:solidFill>
            <a:srgbClr val="102C52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83296" y="1444752"/>
            <a:ext cx="3364992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6" y="1609344"/>
            <a:ext cx="2999232" cy="3685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50" b="1">
                <a:solidFill>
                  <a:srgbClr val="38BDF8"/>
                </a:solidFill>
                <a:latin typeface="Segoe UI"/>
              </a:defRPr>
            </a:pPr>
            <a:r>
              <a:t>03  —  NEXT</a:t>
            </a:r>
          </a:p>
          <a:p>
            <a:pPr>
              <a:spcBef>
                <a:spcPts val="300"/>
              </a:spcBef>
              <a:defRPr sz="1850" b="1">
                <a:solidFill>
                  <a:srgbClr val="38BDF8"/>
                </a:solidFill>
                <a:latin typeface="Segoe UI"/>
              </a:defRPr>
            </a:pPr>
            <a:r>
              <a:t>ENTERPRISE ROADMAP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NVIDIA Jetson Edge AI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Run localized TensorRT models on-dock for &lt;50ms speeds.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Barcode &amp; WMS Sync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Connect incident timestamps directly to package tracking.</a:t>
            </a:r>
          </a:p>
          <a:p>
            <a:pPr>
              <a:spcBef>
                <a:spcPts val="700"/>
              </a:spcBef>
              <a:defRPr sz="1450" b="1">
                <a:solidFill>
                  <a:srgbClr val="FFFFFF"/>
                </a:solidFill>
                <a:latin typeface="Segoe UI"/>
              </a:defRPr>
            </a:pPr>
            <a:r>
              <a:t>• Ergonomic Safety Coach</a:t>
            </a:r>
          </a:p>
          <a:p>
            <a:pPr>
              <a:spcBef>
                <a:spcPts val="100"/>
              </a:spcBef>
              <a:defRPr sz="1250">
                <a:solidFill>
                  <a:srgbClr val="CBD5E1"/>
                </a:solidFill>
                <a:latin typeface="Segoe UI"/>
              </a:defRPr>
            </a:pPr>
            <a:r>
              <a:t>  Warn workers lifting with spine instead of knees.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23560"/>
            <a:ext cx="10728655" cy="13716"/>
          </a:xfrm>
          <a:prstGeom prst="rect">
            <a:avLst/>
          </a:prstGeom>
          <a:solidFill>
            <a:srgbClr val="1C3E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10728655" cy="38404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DockGuard AI: </a:t>
            </a:r>
            <a:r>
              <a:rPr b="1">
                <a:solidFill>
                  <a:srgbClr val="38BDF8"/>
                </a:solidFill>
              </a:rPr>
              <a:t>From detecting risk  →  to preventing it.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172200"/>
            <a:ext cx="1072865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Team VisionGuard: Aastha Gupta, Lucky Lakhani, Runjan Bawa   |   smart-warehouse-system-rk8p.onrender.com   |   github.com/Aastha008/Smart-Warehouse-System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