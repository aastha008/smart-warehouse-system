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685800"/>
            <a:ext cx="10728655" cy="5486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0120"/>
            <a:ext cx="10698480" cy="1371600"/>
          </a:xfrm>
          <a:prstGeom prst="rect">
            <a:avLst/>
          </a:prstGeom>
          <a:noFill/>
        </p:spPr>
        <p:txBody>
          <a:bodyPr wrap="square">
            <a:spAutoFit/>
          </a:bodyPr>
          <a:lstStyle/>
          <a:p>
            <a:pPr>
              <a:defRPr sz="3200" b="1">
                <a:solidFill>
                  <a:srgbClr val="1E3A8A"/>
                </a:solidFill>
                <a:latin typeface="Calibri"/>
              </a:defRPr>
            </a:pPr>
            <a:r>
              <a:t>DockGuard: Smart Warehouse Vision System</a:t>
            </a:r>
          </a:p>
          <a:p>
            <a:pPr>
              <a:spcBef>
                <a:spcPts val="400"/>
              </a:spcBef>
              <a:defRPr sz="1500">
                <a:solidFill>
                  <a:srgbClr val="6B7280"/>
                </a:solidFill>
                <a:latin typeface="Calibri"/>
              </a:defRPr>
            </a:pPr>
            <a:r>
              <a:t>Detecting rough cargo handling and preventing package damage at loading bays using computer vision</a:t>
            </a:r>
          </a:p>
        </p:txBody>
      </p:sp>
      <p:sp>
        <p:nvSpPr>
          <p:cNvPr id="5" name="Rounded Rectangle 4"/>
          <p:cNvSpPr/>
          <p:nvPr/>
        </p:nvSpPr>
        <p:spPr>
          <a:xfrm>
            <a:off x="731520" y="2194560"/>
            <a:ext cx="10728655" cy="118872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86000"/>
            <a:ext cx="10241280" cy="1005840"/>
          </a:xfrm>
          <a:prstGeom prst="rect">
            <a:avLst/>
          </a:prstGeom>
          <a:noFill/>
        </p:spPr>
        <p:txBody>
          <a:bodyPr wrap="square">
            <a:spAutoFit/>
          </a:bodyPr>
          <a:lstStyle/>
          <a:p>
            <a:pPr>
              <a:defRPr sz="1000" b="1">
                <a:solidFill>
                  <a:srgbClr val="1D4ED8"/>
                </a:solidFill>
                <a:latin typeface="Calibri"/>
              </a:defRPr>
            </a:pPr>
            <a:r>
              <a:t>OUR CORE IDEA (ONE-LINE VALUE PROPOSITION)</a:t>
            </a:r>
          </a:p>
          <a:p>
            <a:pPr>
              <a:spcBef>
                <a:spcPts val="400"/>
              </a:spcBef>
              <a:defRPr sz="1300">
                <a:solidFill>
                  <a:srgbClr val="1F2937"/>
                </a:solidFill>
                <a:latin typeface="Calibri"/>
              </a:defRPr>
            </a:pPr>
            <a:r>
              <a:t>We use existing warehouse CCTV cameras and computer vision to automatically detect when boxes are dropped, dragged, or improperly stacked during truck loading—alerting workers immediately so damaged items never leave the facility.</a:t>
            </a:r>
          </a:p>
        </p:txBody>
      </p:sp>
      <p:sp>
        <p:nvSpPr>
          <p:cNvPr id="7" name="Rounded Rectangle 6"/>
          <p:cNvSpPr/>
          <p:nvPr/>
        </p:nvSpPr>
        <p:spPr>
          <a:xfrm>
            <a:off x="731520" y="3611880"/>
            <a:ext cx="5212080" cy="27432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749039"/>
            <a:ext cx="4754880" cy="2468880"/>
          </a:xfrm>
          <a:prstGeom prst="rect">
            <a:avLst/>
          </a:prstGeom>
          <a:noFill/>
        </p:spPr>
        <p:txBody>
          <a:bodyPr wrap="square">
            <a:spAutoFit/>
          </a:bodyPr>
          <a:lstStyle/>
          <a:p>
            <a:pPr>
              <a:defRPr sz="1100" b="1">
                <a:solidFill>
                  <a:srgbClr val="1E3A8A"/>
                </a:solidFill>
                <a:latin typeface="Calibri"/>
              </a:defRPr>
            </a:pPr>
            <a:r>
              <a:t>TEAM MEMBERS (Team VisionGuard)</a:t>
            </a:r>
          </a:p>
          <a:p>
            <a:pPr>
              <a:spcBef>
                <a:spcPts val="800"/>
              </a:spcBef>
              <a:defRPr sz="1200" b="1">
                <a:solidFill>
                  <a:srgbClr val="1F2937"/>
                </a:solidFill>
                <a:latin typeface="Calibri"/>
              </a:defRPr>
            </a:pPr>
            <a:r>
              <a:t>• Aastha Gupta</a:t>
            </a:r>
          </a:p>
          <a:p>
            <a:pPr>
              <a:defRPr sz="950">
                <a:solidFill>
                  <a:srgbClr val="6B7280"/>
                </a:solidFill>
                <a:latin typeface="Calibri"/>
              </a:defRPr>
            </a:pPr>
            <a:r>
              <a:t>   Role: Computer vision model training (YOLOv8) &amp; detection logic</a:t>
            </a:r>
          </a:p>
          <a:p>
            <a:pPr>
              <a:spcBef>
                <a:spcPts val="800"/>
              </a:spcBef>
              <a:defRPr sz="1200" b="1">
                <a:solidFill>
                  <a:srgbClr val="1F2937"/>
                </a:solidFill>
                <a:latin typeface="Calibri"/>
              </a:defRPr>
            </a:pPr>
            <a:r>
              <a:t>• Lucky Lakhani</a:t>
            </a:r>
          </a:p>
          <a:p>
            <a:pPr>
              <a:defRPr sz="950">
                <a:solidFill>
                  <a:srgbClr val="6B7280"/>
                </a:solidFill>
                <a:latin typeface="Calibri"/>
              </a:defRPr>
            </a:pPr>
            <a:r>
              <a:t>   Role: Backend API, video processing pipeline &amp; Gemini AI assistant</a:t>
            </a:r>
          </a:p>
          <a:p>
            <a:pPr>
              <a:spcBef>
                <a:spcPts val="800"/>
              </a:spcBef>
              <a:defRPr sz="1200" b="1">
                <a:solidFill>
                  <a:srgbClr val="1F2937"/>
                </a:solidFill>
                <a:latin typeface="Calibri"/>
              </a:defRPr>
            </a:pPr>
            <a:r>
              <a:t>• Runjan Bawa</a:t>
            </a:r>
          </a:p>
          <a:p>
            <a:pPr>
              <a:defRPr sz="950">
                <a:solidFill>
                  <a:srgbClr val="6B7280"/>
                </a:solidFill>
                <a:latin typeface="Calibri"/>
              </a:defRPr>
            </a:pPr>
            <a:r>
              <a:t>   Role: Frontend dashboard, charts, audio alert chimes &amp; testing</a:t>
            </a:r>
          </a:p>
        </p:txBody>
      </p:sp>
      <p:sp>
        <p:nvSpPr>
          <p:cNvPr id="9" name="Rounded Rectangle 8"/>
          <p:cNvSpPr/>
          <p:nvPr/>
        </p:nvSpPr>
        <p:spPr>
          <a:xfrm>
            <a:off x="6248095" y="3611880"/>
            <a:ext cx="5212080" cy="27432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3749039"/>
            <a:ext cx="4754880" cy="2468880"/>
          </a:xfrm>
          <a:prstGeom prst="rect">
            <a:avLst/>
          </a:prstGeom>
          <a:noFill/>
        </p:spPr>
        <p:txBody>
          <a:bodyPr wrap="square">
            <a:spAutoFit/>
          </a:bodyPr>
          <a:lstStyle/>
          <a:p>
            <a:pPr>
              <a:defRPr sz="1100" b="1">
                <a:solidFill>
                  <a:srgbClr val="1E3A8A"/>
                </a:solidFill>
                <a:latin typeface="Calibri"/>
              </a:defRPr>
            </a:pPr>
            <a:r>
              <a:t>WHAT WE SET OUT TO SOLVE</a:t>
            </a:r>
          </a:p>
          <a:p>
            <a:pPr>
              <a:spcBef>
                <a:spcPts val="700"/>
              </a:spcBef>
              <a:defRPr sz="1050" b="1">
                <a:solidFill>
                  <a:srgbClr val="1F2937"/>
                </a:solidFill>
                <a:latin typeface="Calibri"/>
              </a:defRPr>
            </a:pPr>
            <a:r>
              <a:t>• The Industry Problem: </a:t>
            </a:r>
            <a:r>
              <a:rPr b="0">
                <a:solidFill>
                  <a:srgbClr val="6B7280"/>
                </a:solidFill>
              </a:rPr>
              <a:t>Rough handling during loading and unloading causes billions in damaged goods every year, but supervisors can't watch 10+ loading bays at once.</a:t>
            </a:r>
          </a:p>
          <a:p>
            <a:pPr>
              <a:spcBef>
                <a:spcPts val="700"/>
              </a:spcBef>
              <a:defRPr sz="1050" b="1">
                <a:solidFill>
                  <a:srgbClr val="1F2937"/>
                </a:solidFill>
                <a:latin typeface="Calibri"/>
              </a:defRPr>
            </a:pPr>
            <a:r>
              <a:t>• No Instant Feedback: </a:t>
            </a:r>
            <a:r>
              <a:rPr b="0">
                <a:solidFill>
                  <a:srgbClr val="6B7280"/>
                </a:solidFill>
              </a:rPr>
              <a:t>Workers often drop or drag heavy cartons without realizing internal contents broke, and damages are only discovered at the destination.</a:t>
            </a:r>
          </a:p>
          <a:p>
            <a:pPr>
              <a:spcBef>
                <a:spcPts val="700"/>
              </a:spcBef>
              <a:defRPr sz="1050" b="1">
                <a:solidFill>
                  <a:srgbClr val="1F2937"/>
                </a:solidFill>
                <a:latin typeface="Calibri"/>
              </a:defRPr>
            </a:pPr>
            <a:r>
              <a:t>• Our Solution: </a:t>
            </a:r>
            <a:r>
              <a:rPr b="0">
                <a:solidFill>
                  <a:srgbClr val="6B7280"/>
                </a:solidFill>
              </a:rPr>
              <a:t>A lightweight web platform that analyzes dock video feeds in real time, plays gentle audio chimes on rough handling, and saves short video evidence clips.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8229600" cy="274320"/>
          </a:xfrm>
          <a:prstGeom prst="rect">
            <a:avLst/>
          </a:prstGeom>
          <a:noFill/>
        </p:spPr>
        <p:txBody>
          <a:bodyPr wrap="square" lIns="0" tIns="0" rIns="0" bIns="0">
            <a:spAutoFit/>
          </a:bodyPr>
          <a:lstStyle/>
          <a:p>
            <a:pPr>
              <a:defRPr sz="1000" b="1">
                <a:solidFill>
                  <a:srgbClr val="2563EB"/>
                </a:solidFill>
                <a:latin typeface="Calibri"/>
              </a:defRPr>
            </a:pPr>
            <a:r>
              <a:t>SLIDE 2: PROBLEM, SOLUTION &amp; USER JOURNEY</a:t>
            </a:r>
          </a:p>
        </p:txBody>
      </p:sp>
      <p:sp>
        <p:nvSpPr>
          <p:cNvPr id="4" name="TextBox 3"/>
          <p:cNvSpPr txBox="1"/>
          <p:nvPr/>
        </p:nvSpPr>
        <p:spPr>
          <a:xfrm>
            <a:off x="731520" y="621792"/>
            <a:ext cx="9601200" cy="548640"/>
          </a:xfrm>
          <a:prstGeom prst="rect">
            <a:avLst/>
          </a:prstGeom>
          <a:noFill/>
        </p:spPr>
        <p:txBody>
          <a:bodyPr wrap="square" lIns="0" tIns="0" rIns="0" bIns="0">
            <a:spAutoFit/>
          </a:bodyPr>
          <a:lstStyle/>
          <a:p>
            <a:pPr>
              <a:defRPr sz="2200" b="1">
                <a:solidFill>
                  <a:srgbClr val="1E3A8A"/>
                </a:solidFill>
                <a:latin typeface="Calibri"/>
              </a:defRPr>
            </a:pPr>
            <a:r>
              <a:t>How the System Works &amp; Who Uses It</a:t>
            </a:r>
          </a:p>
        </p:txBody>
      </p:sp>
      <p:sp>
        <p:nvSpPr>
          <p:cNvPr id="5" name="Rectangle 4"/>
          <p:cNvSpPr/>
          <p:nvPr/>
        </p:nvSpPr>
        <p:spPr>
          <a:xfrm>
            <a:off x="731520" y="11887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1444752" cy="1005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444752"/>
            <a:ext cx="1371600" cy="868680"/>
          </a:xfrm>
          <a:prstGeom prst="rect">
            <a:avLst/>
          </a:prstGeom>
          <a:noFill/>
        </p:spPr>
        <p:txBody>
          <a:bodyPr wrap="square">
            <a:spAutoFit/>
          </a:bodyPr>
          <a:lstStyle/>
          <a:p>
            <a:pPr algn="ctr">
              <a:defRPr sz="1000" b="1">
                <a:solidFill>
                  <a:srgbClr val="1F2937"/>
                </a:solidFill>
                <a:latin typeface="Calibri"/>
              </a:defRPr>
            </a:pPr>
            <a:r>
              <a:t>1. Loading Bay</a:t>
            </a:r>
          </a:p>
          <a:p>
            <a:pPr algn="ctr">
              <a:spcBef>
                <a:spcPts val="300"/>
              </a:spcBef>
              <a:defRPr sz="850">
                <a:solidFill>
                  <a:srgbClr val="6B7280"/>
                </a:solidFill>
                <a:latin typeface="Calibri"/>
              </a:defRPr>
            </a:pPr>
            <a:r>
              <a:t>Workers load boxes into trucks</a:t>
            </a:r>
          </a:p>
        </p:txBody>
      </p:sp>
      <p:sp>
        <p:nvSpPr>
          <p:cNvPr id="8" name="Rounded Rectangle 7"/>
          <p:cNvSpPr/>
          <p:nvPr/>
        </p:nvSpPr>
        <p:spPr>
          <a:xfrm>
            <a:off x="2276856" y="1371600"/>
            <a:ext cx="1444752" cy="1005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13432" y="1444752"/>
            <a:ext cx="1371600" cy="868680"/>
          </a:xfrm>
          <a:prstGeom prst="rect">
            <a:avLst/>
          </a:prstGeom>
          <a:noFill/>
        </p:spPr>
        <p:txBody>
          <a:bodyPr wrap="square">
            <a:spAutoFit/>
          </a:bodyPr>
          <a:lstStyle/>
          <a:p>
            <a:pPr algn="ctr">
              <a:defRPr sz="1000" b="1">
                <a:solidFill>
                  <a:srgbClr val="1F2937"/>
                </a:solidFill>
                <a:latin typeface="Calibri"/>
              </a:defRPr>
            </a:pPr>
            <a:r>
              <a:t>2. CCTV Video</a:t>
            </a:r>
          </a:p>
          <a:p>
            <a:pPr algn="ctr">
              <a:spcBef>
                <a:spcPts val="300"/>
              </a:spcBef>
              <a:defRPr sz="850">
                <a:solidFill>
                  <a:srgbClr val="6B7280"/>
                </a:solidFill>
                <a:latin typeface="Calibri"/>
              </a:defRPr>
            </a:pPr>
            <a:r>
              <a:t>Normal security camera stream</a:t>
            </a:r>
          </a:p>
        </p:txBody>
      </p:sp>
      <p:sp>
        <p:nvSpPr>
          <p:cNvPr id="10" name="Rounded Rectangle 9"/>
          <p:cNvSpPr/>
          <p:nvPr/>
        </p:nvSpPr>
        <p:spPr>
          <a:xfrm>
            <a:off x="3822192" y="1371600"/>
            <a:ext cx="1444752" cy="1005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58768" y="1444752"/>
            <a:ext cx="1371600" cy="868680"/>
          </a:xfrm>
          <a:prstGeom prst="rect">
            <a:avLst/>
          </a:prstGeom>
          <a:noFill/>
        </p:spPr>
        <p:txBody>
          <a:bodyPr wrap="square">
            <a:spAutoFit/>
          </a:bodyPr>
          <a:lstStyle/>
          <a:p>
            <a:pPr algn="ctr">
              <a:defRPr sz="1000" b="1">
                <a:solidFill>
                  <a:srgbClr val="1F2937"/>
                </a:solidFill>
                <a:latin typeface="Calibri"/>
              </a:defRPr>
            </a:pPr>
            <a:r>
              <a:t>3. AI Tracking</a:t>
            </a:r>
          </a:p>
          <a:p>
            <a:pPr algn="ctr">
              <a:spcBef>
                <a:spcPts val="300"/>
              </a:spcBef>
              <a:defRPr sz="850">
                <a:solidFill>
                  <a:srgbClr val="6B7280"/>
                </a:solidFill>
                <a:latin typeface="Calibri"/>
              </a:defRPr>
            </a:pPr>
            <a:r>
              <a:t>YOLOv8 tracks boxes &amp; workers</a:t>
            </a:r>
          </a:p>
        </p:txBody>
      </p:sp>
      <p:sp>
        <p:nvSpPr>
          <p:cNvPr id="12" name="Rounded Rectangle 11"/>
          <p:cNvSpPr/>
          <p:nvPr/>
        </p:nvSpPr>
        <p:spPr>
          <a:xfrm>
            <a:off x="5367528" y="1371600"/>
            <a:ext cx="1444752" cy="100584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04104" y="1444752"/>
            <a:ext cx="1371600" cy="868680"/>
          </a:xfrm>
          <a:prstGeom prst="rect">
            <a:avLst/>
          </a:prstGeom>
          <a:noFill/>
        </p:spPr>
        <p:txBody>
          <a:bodyPr wrap="square">
            <a:spAutoFit/>
          </a:bodyPr>
          <a:lstStyle/>
          <a:p>
            <a:pPr algn="ctr">
              <a:defRPr sz="1000" b="1">
                <a:solidFill>
                  <a:srgbClr val="1E3A8A"/>
                </a:solidFill>
                <a:latin typeface="Calibri"/>
              </a:defRPr>
            </a:pPr>
            <a:r>
              <a:t>4. Risk Check</a:t>
            </a:r>
          </a:p>
          <a:p>
            <a:pPr algn="ctr">
              <a:spcBef>
                <a:spcPts val="300"/>
              </a:spcBef>
              <a:defRPr sz="850">
                <a:solidFill>
                  <a:srgbClr val="6B7280"/>
                </a:solidFill>
                <a:latin typeface="Calibri"/>
              </a:defRPr>
            </a:pPr>
            <a:r>
              <a:t>Speed, drop, or drag detected</a:t>
            </a:r>
          </a:p>
        </p:txBody>
      </p:sp>
      <p:sp>
        <p:nvSpPr>
          <p:cNvPr id="14" name="Rounded Rectangle 13"/>
          <p:cNvSpPr/>
          <p:nvPr/>
        </p:nvSpPr>
        <p:spPr>
          <a:xfrm>
            <a:off x="6912864" y="1371600"/>
            <a:ext cx="1444752" cy="100584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9440" y="1444752"/>
            <a:ext cx="1371600" cy="868680"/>
          </a:xfrm>
          <a:prstGeom prst="rect">
            <a:avLst/>
          </a:prstGeom>
          <a:noFill/>
        </p:spPr>
        <p:txBody>
          <a:bodyPr wrap="square">
            <a:spAutoFit/>
          </a:bodyPr>
          <a:lstStyle/>
          <a:p>
            <a:pPr algn="ctr">
              <a:defRPr sz="1000" b="1">
                <a:solidFill>
                  <a:srgbClr val="1E3A8A"/>
                </a:solidFill>
                <a:latin typeface="Calibri"/>
              </a:defRPr>
            </a:pPr>
            <a:r>
              <a:t>5. Dock Alert</a:t>
            </a:r>
          </a:p>
          <a:p>
            <a:pPr algn="ctr">
              <a:spcBef>
                <a:spcPts val="300"/>
              </a:spcBef>
              <a:defRPr sz="850">
                <a:solidFill>
                  <a:srgbClr val="6B7280"/>
                </a:solidFill>
                <a:latin typeface="Calibri"/>
              </a:defRPr>
            </a:pPr>
            <a:r>
              <a:t>Chime rings &amp; UI flags event</a:t>
            </a:r>
          </a:p>
        </p:txBody>
      </p:sp>
      <p:sp>
        <p:nvSpPr>
          <p:cNvPr id="16" name="Rounded Rectangle 15"/>
          <p:cNvSpPr/>
          <p:nvPr/>
        </p:nvSpPr>
        <p:spPr>
          <a:xfrm>
            <a:off x="8458200" y="1371600"/>
            <a:ext cx="1444752" cy="10058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94776" y="1444752"/>
            <a:ext cx="1371600" cy="868680"/>
          </a:xfrm>
          <a:prstGeom prst="rect">
            <a:avLst/>
          </a:prstGeom>
          <a:noFill/>
        </p:spPr>
        <p:txBody>
          <a:bodyPr wrap="square">
            <a:spAutoFit/>
          </a:bodyPr>
          <a:lstStyle/>
          <a:p>
            <a:pPr algn="ctr">
              <a:defRPr sz="1000" b="1">
                <a:solidFill>
                  <a:srgbClr val="1F2937"/>
                </a:solidFill>
                <a:latin typeface="Calibri"/>
              </a:defRPr>
            </a:pPr>
            <a:r>
              <a:t>6. Worker Action</a:t>
            </a:r>
          </a:p>
          <a:p>
            <a:pPr algn="ctr">
              <a:spcBef>
                <a:spcPts val="300"/>
              </a:spcBef>
              <a:defRPr sz="850">
                <a:solidFill>
                  <a:srgbClr val="6B7280"/>
                </a:solidFill>
                <a:latin typeface="Calibri"/>
              </a:defRPr>
            </a:pPr>
            <a:r>
              <a:t>Operator checks box immediately</a:t>
            </a:r>
          </a:p>
        </p:txBody>
      </p:sp>
      <p:sp>
        <p:nvSpPr>
          <p:cNvPr id="18" name="Rounded Rectangle 17"/>
          <p:cNvSpPr/>
          <p:nvPr/>
        </p:nvSpPr>
        <p:spPr>
          <a:xfrm>
            <a:off x="10003536" y="1371600"/>
            <a:ext cx="1444752" cy="100584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40112" y="1444752"/>
            <a:ext cx="1371600" cy="868680"/>
          </a:xfrm>
          <a:prstGeom prst="rect">
            <a:avLst/>
          </a:prstGeom>
          <a:noFill/>
        </p:spPr>
        <p:txBody>
          <a:bodyPr wrap="square">
            <a:spAutoFit/>
          </a:bodyPr>
          <a:lstStyle/>
          <a:p>
            <a:pPr algn="ctr">
              <a:defRPr sz="1000" b="1">
                <a:solidFill>
                  <a:srgbClr val="1E3A8A"/>
                </a:solidFill>
                <a:latin typeface="Calibri"/>
              </a:defRPr>
            </a:pPr>
            <a:r>
              <a:t>7. Result</a:t>
            </a:r>
          </a:p>
          <a:p>
            <a:pPr algn="ctr">
              <a:spcBef>
                <a:spcPts val="300"/>
              </a:spcBef>
              <a:defRPr sz="850">
                <a:solidFill>
                  <a:srgbClr val="6B7280"/>
                </a:solidFill>
                <a:latin typeface="Calibri"/>
              </a:defRPr>
            </a:pPr>
            <a:r>
              <a:t>Zero broken cargo shipped</a:t>
            </a:r>
          </a:p>
        </p:txBody>
      </p:sp>
      <p:sp>
        <p:nvSpPr>
          <p:cNvPr id="20" name="Rounded Rectangle 19"/>
          <p:cNvSpPr/>
          <p:nvPr/>
        </p:nvSpPr>
        <p:spPr>
          <a:xfrm>
            <a:off x="731520" y="2606040"/>
            <a:ext cx="521208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770632"/>
            <a:ext cx="4754880" cy="3566160"/>
          </a:xfrm>
          <a:prstGeom prst="rect">
            <a:avLst/>
          </a:prstGeom>
          <a:noFill/>
        </p:spPr>
        <p:txBody>
          <a:bodyPr wrap="square">
            <a:spAutoFit/>
          </a:bodyPr>
          <a:lstStyle/>
          <a:p>
            <a:pPr>
              <a:defRPr sz="1100" b="1">
                <a:solidFill>
                  <a:srgbClr val="1E3A8A"/>
                </a:solidFill>
                <a:latin typeface="Calibri"/>
              </a:defRPr>
            </a:pPr>
            <a:r>
              <a:t>USER JOURNEY 1: Loading Bay Worker (Ramesh)</a:t>
            </a:r>
          </a:p>
          <a:p>
            <a:pPr>
              <a:spcBef>
                <a:spcPts val="600"/>
              </a:spcBef>
              <a:defRPr sz="950" b="1">
                <a:solidFill>
                  <a:srgbClr val="1F2937"/>
                </a:solidFill>
                <a:latin typeface="Calibri"/>
              </a:defRPr>
            </a:pPr>
            <a:r>
              <a:t>• Starting the shift: </a:t>
            </a:r>
            <a:r>
              <a:rPr b="0">
                <a:solidFill>
                  <a:srgbClr val="6B7280"/>
                </a:solidFill>
              </a:rPr>
              <a:t>Ramesh begins unloading 30kg appliance cartons from a delivery container at Bay 3.</a:t>
            </a:r>
          </a:p>
          <a:p>
            <a:pPr>
              <a:spcBef>
                <a:spcPts val="600"/>
              </a:spcBef>
              <a:defRPr sz="950" b="1">
                <a:solidFill>
                  <a:srgbClr val="1F2937"/>
                </a:solidFill>
                <a:latin typeface="Calibri"/>
              </a:defRPr>
            </a:pPr>
            <a:r>
              <a:t>• A drop happens: </a:t>
            </a:r>
            <a:r>
              <a:rPr b="0">
                <a:solidFill>
                  <a:srgbClr val="6B7280"/>
                </a:solidFill>
              </a:rPr>
              <a:t>While rushing, a carton slips from his grip and falls roughly 1.3 meters to the concrete floor.</a:t>
            </a:r>
          </a:p>
          <a:p>
            <a:pPr>
              <a:spcBef>
                <a:spcPts val="600"/>
              </a:spcBef>
              <a:defRPr sz="950" b="1">
                <a:solidFill>
                  <a:srgbClr val="1F2937"/>
                </a:solidFill>
                <a:latin typeface="Calibri"/>
              </a:defRPr>
            </a:pPr>
            <a:r>
              <a:t>• Immediate feedback: </a:t>
            </a:r>
            <a:r>
              <a:rPr b="0">
                <a:solidFill>
                  <a:srgbClr val="6B7280"/>
                </a:solidFill>
              </a:rPr>
              <a:t>Within one second, a distinct audio chime rings from the dock speaker, and the light on the dock screen turns amber.</a:t>
            </a:r>
          </a:p>
          <a:p>
            <a:pPr>
              <a:spcBef>
                <a:spcPts val="600"/>
              </a:spcBef>
              <a:defRPr sz="950" b="1">
                <a:solidFill>
                  <a:srgbClr val="1F2937"/>
                </a:solidFill>
                <a:latin typeface="Calibri"/>
              </a:defRPr>
            </a:pPr>
            <a:r>
              <a:t>• What Ramesh does: </a:t>
            </a:r>
            <a:r>
              <a:rPr b="0">
                <a:solidFill>
                  <a:srgbClr val="6B7280"/>
                </a:solidFill>
              </a:rPr>
              <a:t>Instead of pushing the broken box into the truck, Ramesh stops, inspects the carton tape, calls his partner for a 2-person lift, and sets the item aside for inspection.</a:t>
            </a:r>
          </a:p>
          <a:p>
            <a:pPr>
              <a:spcBef>
                <a:spcPts val="600"/>
              </a:spcBef>
              <a:defRPr sz="950" b="1">
                <a:solidFill>
                  <a:srgbClr val="1F2937"/>
                </a:solidFill>
                <a:latin typeface="Calibri"/>
              </a:defRPr>
            </a:pPr>
            <a:r>
              <a:t>• The outcome: </a:t>
            </a:r>
            <a:r>
              <a:rPr b="0">
                <a:solidFill>
                  <a:srgbClr val="6B7280"/>
                </a:solidFill>
              </a:rPr>
              <a:t>The damaged appliance is caught before shipment, avoiding an expensive customer complaint.</a:t>
            </a:r>
          </a:p>
        </p:txBody>
      </p:sp>
      <p:sp>
        <p:nvSpPr>
          <p:cNvPr id="22" name="Rounded Rectangle 21"/>
          <p:cNvSpPr/>
          <p:nvPr/>
        </p:nvSpPr>
        <p:spPr>
          <a:xfrm>
            <a:off x="6248095" y="2606040"/>
            <a:ext cx="521208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2770632"/>
            <a:ext cx="4754880" cy="3566160"/>
          </a:xfrm>
          <a:prstGeom prst="rect">
            <a:avLst/>
          </a:prstGeom>
          <a:noFill/>
        </p:spPr>
        <p:txBody>
          <a:bodyPr wrap="square">
            <a:spAutoFit/>
          </a:bodyPr>
          <a:lstStyle/>
          <a:p>
            <a:pPr>
              <a:defRPr sz="1100" b="1">
                <a:solidFill>
                  <a:srgbClr val="1E3A8A"/>
                </a:solidFill>
                <a:latin typeface="Calibri"/>
              </a:defRPr>
            </a:pPr>
            <a:r>
              <a:t>USER JOURNEY 2: Warehouse Supervisor (Pooja)</a:t>
            </a:r>
          </a:p>
          <a:p>
            <a:pPr>
              <a:spcBef>
                <a:spcPts val="600"/>
              </a:spcBef>
              <a:defRPr sz="950" b="1">
                <a:solidFill>
                  <a:srgbClr val="1F2937"/>
                </a:solidFill>
                <a:latin typeface="Calibri"/>
              </a:defRPr>
            </a:pPr>
            <a:r>
              <a:t>• Managing the dock: </a:t>
            </a:r>
            <a:r>
              <a:rPr b="0">
                <a:solidFill>
                  <a:srgbClr val="6B7280"/>
                </a:solidFill>
              </a:rPr>
              <a:t>Pooja oversees 6 active loading bays from her tablet while walking the floor.</a:t>
            </a:r>
          </a:p>
          <a:p>
            <a:pPr>
              <a:spcBef>
                <a:spcPts val="600"/>
              </a:spcBef>
              <a:defRPr sz="950" b="1">
                <a:solidFill>
                  <a:srgbClr val="1F2937"/>
                </a:solidFill>
                <a:latin typeface="Calibri"/>
              </a:defRPr>
            </a:pPr>
            <a:r>
              <a:t>• Instant incident alert: </a:t>
            </a:r>
            <a:r>
              <a:rPr b="0">
                <a:solidFill>
                  <a:srgbClr val="6B7280"/>
                </a:solidFill>
              </a:rPr>
              <a:t>Her screen shows a notification: 'Bay 3: High-Velocity Drop Detected (10:14 AM)'.</a:t>
            </a:r>
          </a:p>
          <a:p>
            <a:pPr>
              <a:spcBef>
                <a:spcPts val="600"/>
              </a:spcBef>
              <a:defRPr sz="950" b="1">
                <a:solidFill>
                  <a:srgbClr val="1F2937"/>
                </a:solidFill>
                <a:latin typeface="Calibri"/>
              </a:defRPr>
            </a:pPr>
            <a:r>
              <a:t>• Checking the evidence: </a:t>
            </a:r>
            <a:r>
              <a:rPr b="0">
                <a:solidFill>
                  <a:srgbClr val="6B7280"/>
                </a:solidFill>
              </a:rPr>
              <a:t>She taps the notification, which immediately opens a short 5-second replay clip showing the carton falling with bounding box tracking.</a:t>
            </a:r>
          </a:p>
          <a:p>
            <a:pPr>
              <a:spcBef>
                <a:spcPts val="600"/>
              </a:spcBef>
              <a:defRPr sz="950" b="1">
                <a:solidFill>
                  <a:srgbClr val="1F2937"/>
                </a:solidFill>
                <a:latin typeface="Calibri"/>
              </a:defRPr>
            </a:pPr>
            <a:r>
              <a:t>• Quick decision: </a:t>
            </a:r>
            <a:r>
              <a:rPr b="0">
                <a:solidFill>
                  <a:srgbClr val="6B7280"/>
                </a:solidFill>
              </a:rPr>
              <a:t>She radios the Bay 3 team to replace the packaging and logs the issue as resolved with one click.</a:t>
            </a:r>
          </a:p>
          <a:p>
            <a:pPr>
              <a:spcBef>
                <a:spcPts val="600"/>
              </a:spcBef>
              <a:defRPr sz="950" b="1">
                <a:solidFill>
                  <a:srgbClr val="1F2937"/>
                </a:solidFill>
                <a:latin typeface="Calibri"/>
              </a:defRPr>
            </a:pPr>
            <a:r>
              <a:t>• Using the AI Assistant: </a:t>
            </a:r>
            <a:r>
              <a:rPr b="0">
                <a:solidFill>
                  <a:srgbClr val="6B7280"/>
                </a:solidFill>
              </a:rPr>
              <a:t>At the end of the shift, Pooja asks the AI chatbot: 'Which bay had the most handling warnings today?' to plan tomorrow's safety briefing.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8229600" cy="274320"/>
          </a:xfrm>
          <a:prstGeom prst="rect">
            <a:avLst/>
          </a:prstGeom>
          <a:noFill/>
        </p:spPr>
        <p:txBody>
          <a:bodyPr wrap="square" lIns="0" tIns="0" rIns="0" bIns="0">
            <a:spAutoFit/>
          </a:bodyPr>
          <a:lstStyle/>
          <a:p>
            <a:pPr>
              <a:defRPr sz="1000" b="1">
                <a:solidFill>
                  <a:srgbClr val="2563EB"/>
                </a:solidFill>
                <a:latin typeface="Calibri"/>
              </a:defRPr>
            </a:pPr>
            <a:r>
              <a:t>SLIDE 3: TECHNICAL ARCHITECTURE &amp; TECHNOLOGY STACK</a:t>
            </a:r>
          </a:p>
        </p:txBody>
      </p:sp>
      <p:sp>
        <p:nvSpPr>
          <p:cNvPr id="4" name="TextBox 3"/>
          <p:cNvSpPr txBox="1"/>
          <p:nvPr/>
        </p:nvSpPr>
        <p:spPr>
          <a:xfrm>
            <a:off x="731520" y="621792"/>
            <a:ext cx="9601200" cy="548640"/>
          </a:xfrm>
          <a:prstGeom prst="rect">
            <a:avLst/>
          </a:prstGeom>
          <a:noFill/>
        </p:spPr>
        <p:txBody>
          <a:bodyPr wrap="square" lIns="0" tIns="0" rIns="0" bIns="0">
            <a:spAutoFit/>
          </a:bodyPr>
          <a:lstStyle/>
          <a:p>
            <a:pPr>
              <a:defRPr sz="2200" b="1">
                <a:solidFill>
                  <a:srgbClr val="1E3A8A"/>
                </a:solidFill>
                <a:latin typeface="Calibri"/>
              </a:defRPr>
            </a:pPr>
            <a:r>
              <a:t>System Architecture &amp; Technologies Used</a:t>
            </a:r>
          </a:p>
        </p:txBody>
      </p:sp>
      <p:sp>
        <p:nvSpPr>
          <p:cNvPr id="5" name="TextBox 4"/>
          <p:cNvSpPr txBox="1"/>
          <p:nvPr/>
        </p:nvSpPr>
        <p:spPr>
          <a:xfrm>
            <a:off x="9601200" y="365760"/>
            <a:ext cx="1828800" cy="274320"/>
          </a:xfrm>
          <a:prstGeom prst="rect">
            <a:avLst/>
          </a:prstGeom>
          <a:noFill/>
        </p:spPr>
        <p:txBody>
          <a:bodyPr wrap="none">
            <a:spAutoFit/>
          </a:bodyPr>
          <a:lstStyle/>
          <a:p>
            <a:pPr algn="r">
              <a:defRPr sz="900" b="1">
                <a:solidFill>
                  <a:srgbClr val="DC2626"/>
                </a:solidFill>
                <a:latin typeface="Calibri"/>
              </a:defRPr>
            </a:pPr>
            <a:r>
              <a:t>Confidential - Academic Project</a:t>
            </a:r>
          </a:p>
        </p:txBody>
      </p:sp>
      <p:sp>
        <p:nvSpPr>
          <p:cNvPr id="6" name="Rectangle 5"/>
          <p:cNvSpPr/>
          <p:nvPr/>
        </p:nvSpPr>
        <p:spPr>
          <a:xfrm>
            <a:off x="731520" y="11887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417320"/>
            <a:ext cx="3410712"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27048"/>
            <a:ext cx="3044952" cy="2194560"/>
          </a:xfrm>
          <a:prstGeom prst="rect">
            <a:avLst/>
          </a:prstGeom>
          <a:noFill/>
        </p:spPr>
        <p:txBody>
          <a:bodyPr wrap="square">
            <a:spAutoFit/>
          </a:bodyPr>
          <a:lstStyle/>
          <a:p>
            <a:pPr>
              <a:defRPr sz="1100" b="1">
                <a:solidFill>
                  <a:srgbClr val="1E3A8A"/>
                </a:solidFill>
                <a:latin typeface="Calibri"/>
              </a:defRPr>
            </a:pPr>
            <a:r>
              <a:t>1. Computer Vision</a:t>
            </a:r>
          </a:p>
          <a:p>
            <a:pPr>
              <a:spcBef>
                <a:spcPts val="500"/>
              </a:spcBef>
              <a:defRPr sz="950" b="1">
                <a:solidFill>
                  <a:srgbClr val="1F2937"/>
                </a:solidFill>
                <a:latin typeface="Calibri"/>
              </a:defRPr>
            </a:pPr>
            <a:r>
              <a:t>• Model: </a:t>
            </a:r>
            <a:r>
              <a:rPr b="0">
                <a:solidFill>
                  <a:srgbClr val="6B7280"/>
                </a:solidFill>
              </a:rPr>
              <a:t>YOLOv8 (Ultralytics)</a:t>
            </a:r>
          </a:p>
          <a:p>
            <a:pPr>
              <a:spcBef>
                <a:spcPts val="500"/>
              </a:spcBef>
              <a:defRPr sz="950" b="1">
                <a:solidFill>
                  <a:srgbClr val="1F2937"/>
                </a:solidFill>
                <a:latin typeface="Calibri"/>
              </a:defRPr>
            </a:pPr>
            <a:r>
              <a:t>• What it detects: </a:t>
            </a:r>
            <a:r>
              <a:rPr b="0">
                <a:solidFill>
                  <a:srgbClr val="6B7280"/>
                </a:solidFill>
              </a:rPr>
              <a:t>Workers, cartons, pallets, and forklift vehicles in each video frame.</a:t>
            </a:r>
          </a:p>
          <a:p>
            <a:pPr>
              <a:spcBef>
                <a:spcPts val="500"/>
              </a:spcBef>
              <a:defRPr sz="950" b="1">
                <a:solidFill>
                  <a:srgbClr val="1F2937"/>
                </a:solidFill>
                <a:latin typeface="Calibri"/>
              </a:defRPr>
            </a:pPr>
            <a:r>
              <a:t>• Tracking: </a:t>
            </a:r>
            <a:r>
              <a:rPr b="0">
                <a:solidFill>
                  <a:srgbClr val="6B7280"/>
                </a:solidFill>
              </a:rPr>
              <a:t>ByteTrack to follow individual boxes across frames even when temporarily blocked.</a:t>
            </a:r>
          </a:p>
        </p:txBody>
      </p:sp>
      <p:sp>
        <p:nvSpPr>
          <p:cNvPr id="10" name="Rounded Rectangle 9"/>
          <p:cNvSpPr/>
          <p:nvPr/>
        </p:nvSpPr>
        <p:spPr>
          <a:xfrm>
            <a:off x="4389120" y="141732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417320"/>
            <a:ext cx="3410712" cy="457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527048"/>
            <a:ext cx="3044952" cy="2194560"/>
          </a:xfrm>
          <a:prstGeom prst="rect">
            <a:avLst/>
          </a:prstGeom>
          <a:noFill/>
        </p:spPr>
        <p:txBody>
          <a:bodyPr wrap="square">
            <a:spAutoFit/>
          </a:bodyPr>
          <a:lstStyle/>
          <a:p>
            <a:pPr>
              <a:defRPr sz="1100" b="1">
                <a:solidFill>
                  <a:srgbClr val="1E3A8A"/>
                </a:solidFill>
                <a:latin typeface="Calibri"/>
              </a:defRPr>
            </a:pPr>
            <a:r>
              <a:t>2. Detection Logic &amp; Rules</a:t>
            </a:r>
          </a:p>
          <a:p>
            <a:pPr>
              <a:spcBef>
                <a:spcPts val="500"/>
              </a:spcBef>
              <a:defRPr sz="950" b="1">
                <a:solidFill>
                  <a:srgbClr val="1F2937"/>
                </a:solidFill>
                <a:latin typeface="Calibri"/>
              </a:defRPr>
            </a:pPr>
            <a:r>
              <a:t>• Drop Detection: </a:t>
            </a:r>
            <a:r>
              <a:rPr b="0">
                <a:solidFill>
                  <a:srgbClr val="6B7280"/>
                </a:solidFill>
              </a:rPr>
              <a:t>Checks if vertical downward speed exceeds 2.5 m/s followed by sudden stop.</a:t>
            </a:r>
          </a:p>
          <a:p>
            <a:pPr>
              <a:spcBef>
                <a:spcPts val="500"/>
              </a:spcBef>
              <a:defRPr sz="950" b="1">
                <a:solidFill>
                  <a:srgbClr val="1F2937"/>
                </a:solidFill>
                <a:latin typeface="Calibri"/>
              </a:defRPr>
            </a:pPr>
            <a:r>
              <a:t>• Dragging Check: </a:t>
            </a:r>
            <a:r>
              <a:rPr b="0">
                <a:solidFill>
                  <a:srgbClr val="6B7280"/>
                </a:solidFill>
              </a:rPr>
              <a:t>Tracks if a box moves &gt; 2 meters on the floor without being lifted off ground.</a:t>
            </a:r>
          </a:p>
          <a:p>
            <a:pPr>
              <a:spcBef>
                <a:spcPts val="500"/>
              </a:spcBef>
              <a:defRPr sz="950" b="1">
                <a:solidFill>
                  <a:srgbClr val="1F2937"/>
                </a:solidFill>
                <a:latin typeface="Calibri"/>
              </a:defRPr>
            </a:pPr>
            <a:r>
              <a:t>• Unstable Stacking: </a:t>
            </a:r>
            <a:r>
              <a:rPr b="0">
                <a:solidFill>
                  <a:srgbClr val="6B7280"/>
                </a:solidFill>
              </a:rPr>
              <a:t>Calculates tilt angle of pallet cartons to flag risk of tipping.</a:t>
            </a:r>
          </a:p>
        </p:txBody>
      </p:sp>
      <p:sp>
        <p:nvSpPr>
          <p:cNvPr id="13" name="Rounded Rectangle 12"/>
          <p:cNvSpPr/>
          <p:nvPr/>
        </p:nvSpPr>
        <p:spPr>
          <a:xfrm>
            <a:off x="8046720" y="141732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1417320"/>
            <a:ext cx="3410712"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1527048"/>
            <a:ext cx="3044952" cy="2194560"/>
          </a:xfrm>
          <a:prstGeom prst="rect">
            <a:avLst/>
          </a:prstGeom>
          <a:noFill/>
        </p:spPr>
        <p:txBody>
          <a:bodyPr wrap="square">
            <a:spAutoFit/>
          </a:bodyPr>
          <a:lstStyle/>
          <a:p>
            <a:pPr>
              <a:defRPr sz="1100" b="1">
                <a:solidFill>
                  <a:srgbClr val="1E3A8A"/>
                </a:solidFill>
                <a:latin typeface="Calibri"/>
              </a:defRPr>
            </a:pPr>
            <a:r>
              <a:t>3. AI Assistant &amp; LLM</a:t>
            </a:r>
          </a:p>
          <a:p>
            <a:pPr>
              <a:spcBef>
                <a:spcPts val="500"/>
              </a:spcBef>
              <a:defRPr sz="950" b="1">
                <a:solidFill>
                  <a:srgbClr val="1F2937"/>
                </a:solidFill>
                <a:latin typeface="Calibri"/>
              </a:defRPr>
            </a:pPr>
            <a:r>
              <a:t>• Model: </a:t>
            </a:r>
            <a:r>
              <a:rPr b="0">
                <a:solidFill>
                  <a:srgbClr val="6B7280"/>
                </a:solidFill>
              </a:rPr>
              <a:t>Google Gemini 1.5 via LangChain</a:t>
            </a:r>
          </a:p>
          <a:p>
            <a:pPr>
              <a:spcBef>
                <a:spcPts val="500"/>
              </a:spcBef>
              <a:defRPr sz="950" b="1">
                <a:solidFill>
                  <a:srgbClr val="1F2937"/>
                </a:solidFill>
                <a:latin typeface="Calibri"/>
              </a:defRPr>
            </a:pPr>
            <a:r>
              <a:t>• Purpose: </a:t>
            </a:r>
            <a:r>
              <a:rPr b="0">
                <a:solidFill>
                  <a:srgbClr val="6B7280"/>
                </a:solidFill>
              </a:rPr>
              <a:t>Lets supervisors ask natural questions about shift stats without writing SQL queries.</a:t>
            </a:r>
          </a:p>
          <a:p>
            <a:pPr>
              <a:spcBef>
                <a:spcPts val="500"/>
              </a:spcBef>
              <a:defRPr sz="950" b="1">
                <a:solidFill>
                  <a:srgbClr val="1F2937"/>
                </a:solidFill>
                <a:latin typeface="Calibri"/>
              </a:defRPr>
            </a:pPr>
            <a:r>
              <a:t>• Example: </a:t>
            </a:r>
            <a:r>
              <a:rPr b="0">
                <a:solidFill>
                  <a:srgbClr val="6B7280"/>
                </a:solidFill>
              </a:rPr>
              <a:t>'How many drops happened in Bay 3 during morning shift?'</a:t>
            </a:r>
          </a:p>
        </p:txBody>
      </p:sp>
      <p:sp>
        <p:nvSpPr>
          <p:cNvPr id="16" name="Rounded Rectangle 15"/>
          <p:cNvSpPr/>
          <p:nvPr/>
        </p:nvSpPr>
        <p:spPr>
          <a:xfrm>
            <a:off x="731520" y="406908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069080"/>
            <a:ext cx="3410712" cy="457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178808"/>
            <a:ext cx="3044952" cy="2194560"/>
          </a:xfrm>
          <a:prstGeom prst="rect">
            <a:avLst/>
          </a:prstGeom>
          <a:noFill/>
        </p:spPr>
        <p:txBody>
          <a:bodyPr wrap="square">
            <a:spAutoFit/>
          </a:bodyPr>
          <a:lstStyle/>
          <a:p>
            <a:pPr>
              <a:defRPr sz="1100" b="1">
                <a:solidFill>
                  <a:srgbClr val="1E3A8A"/>
                </a:solidFill>
                <a:latin typeface="Calibri"/>
              </a:defRPr>
            </a:pPr>
            <a:r>
              <a:t>4. Video Processing</a:t>
            </a:r>
          </a:p>
          <a:p>
            <a:pPr>
              <a:spcBef>
                <a:spcPts val="500"/>
              </a:spcBef>
              <a:defRPr sz="950" b="1">
                <a:solidFill>
                  <a:srgbClr val="1F2937"/>
                </a:solidFill>
                <a:latin typeface="Calibri"/>
              </a:defRPr>
            </a:pPr>
            <a:r>
              <a:t>• Tools: </a:t>
            </a:r>
            <a:r>
              <a:rPr b="0">
                <a:solidFill>
                  <a:srgbClr val="6B7280"/>
                </a:solidFill>
              </a:rPr>
              <a:t>OpenCV &amp; FFmpeg</a:t>
            </a:r>
          </a:p>
          <a:p>
            <a:pPr>
              <a:spcBef>
                <a:spcPts val="500"/>
              </a:spcBef>
              <a:defRPr sz="950" b="1">
                <a:solidFill>
                  <a:srgbClr val="1F2937"/>
                </a:solidFill>
                <a:latin typeface="Calibri"/>
              </a:defRPr>
            </a:pPr>
            <a:r>
              <a:t>• How it works: </a:t>
            </a:r>
            <a:r>
              <a:rPr b="0">
                <a:solidFill>
                  <a:srgbClr val="6B7280"/>
                </a:solidFill>
              </a:rPr>
              <a:t>Buffers live camera frames; when an alert triggers, it automatically cuts a 5-second replay clip.</a:t>
            </a:r>
          </a:p>
          <a:p>
            <a:pPr>
              <a:spcBef>
                <a:spcPts val="500"/>
              </a:spcBef>
              <a:defRPr sz="950" b="1">
                <a:solidFill>
                  <a:srgbClr val="1F2937"/>
                </a:solidFill>
                <a:latin typeface="Calibri"/>
              </a:defRPr>
            </a:pPr>
            <a:r>
              <a:t>• Format: </a:t>
            </a:r>
            <a:r>
              <a:rPr b="0">
                <a:solidFill>
                  <a:srgbClr val="6B7280"/>
                </a:solidFill>
              </a:rPr>
              <a:t>Compressed H.264 video served directly to the browser.</a:t>
            </a:r>
          </a:p>
        </p:txBody>
      </p:sp>
      <p:sp>
        <p:nvSpPr>
          <p:cNvPr id="19" name="Rounded Rectangle 18"/>
          <p:cNvSpPr/>
          <p:nvPr/>
        </p:nvSpPr>
        <p:spPr>
          <a:xfrm>
            <a:off x="4389120" y="406908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0" y="4069080"/>
            <a:ext cx="3410712"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4178808"/>
            <a:ext cx="3044952" cy="2194560"/>
          </a:xfrm>
          <a:prstGeom prst="rect">
            <a:avLst/>
          </a:prstGeom>
          <a:noFill/>
        </p:spPr>
        <p:txBody>
          <a:bodyPr wrap="square">
            <a:spAutoFit/>
          </a:bodyPr>
          <a:lstStyle/>
          <a:p>
            <a:pPr>
              <a:defRPr sz="1100" b="1">
                <a:solidFill>
                  <a:srgbClr val="1E3A8A"/>
                </a:solidFill>
                <a:latin typeface="Calibri"/>
              </a:defRPr>
            </a:pPr>
            <a:r>
              <a:t>5. Web Backend &amp; Database</a:t>
            </a:r>
          </a:p>
          <a:p>
            <a:pPr>
              <a:spcBef>
                <a:spcPts val="500"/>
              </a:spcBef>
              <a:defRPr sz="950" b="1">
                <a:solidFill>
                  <a:srgbClr val="1F2937"/>
                </a:solidFill>
                <a:latin typeface="Calibri"/>
              </a:defRPr>
            </a:pPr>
            <a:r>
              <a:t>• Framework: </a:t>
            </a:r>
            <a:r>
              <a:rPr b="0">
                <a:solidFill>
                  <a:srgbClr val="6B7280"/>
                </a:solidFill>
              </a:rPr>
              <a:t>FastAPI (Python 3.11) with Uvicorn</a:t>
            </a:r>
          </a:p>
          <a:p>
            <a:pPr>
              <a:spcBef>
                <a:spcPts val="500"/>
              </a:spcBef>
              <a:defRPr sz="950" b="1">
                <a:solidFill>
                  <a:srgbClr val="1F2937"/>
                </a:solidFill>
                <a:latin typeface="Calibri"/>
              </a:defRPr>
            </a:pPr>
            <a:r>
              <a:t>• Database: </a:t>
            </a:r>
            <a:r>
              <a:rPr b="0">
                <a:solidFill>
                  <a:srgbClr val="6B7280"/>
                </a:solidFill>
              </a:rPr>
              <a:t>SQLite with SQLAlchemy Async ORM</a:t>
            </a:r>
          </a:p>
          <a:p>
            <a:pPr>
              <a:spcBef>
                <a:spcPts val="500"/>
              </a:spcBef>
              <a:defRPr sz="950" b="1">
                <a:solidFill>
                  <a:srgbClr val="1F2937"/>
                </a:solidFill>
                <a:latin typeface="Calibri"/>
              </a:defRPr>
            </a:pPr>
            <a:r>
              <a:t>• API Endpoints: </a:t>
            </a:r>
            <a:r>
              <a:rPr b="0">
                <a:solidFill>
                  <a:srgbClr val="6B7280"/>
                </a:solidFill>
              </a:rPr>
              <a:t>REST endpoints for events, video analysis, camera status, and stats.</a:t>
            </a:r>
          </a:p>
        </p:txBody>
      </p:sp>
      <p:sp>
        <p:nvSpPr>
          <p:cNvPr id="22" name="Rounded Rectangle 21"/>
          <p:cNvSpPr/>
          <p:nvPr/>
        </p:nvSpPr>
        <p:spPr>
          <a:xfrm>
            <a:off x="8046720" y="4069080"/>
            <a:ext cx="3410712" cy="2423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69080"/>
            <a:ext cx="3410712" cy="457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78808"/>
            <a:ext cx="3044952" cy="2194560"/>
          </a:xfrm>
          <a:prstGeom prst="rect">
            <a:avLst/>
          </a:prstGeom>
          <a:noFill/>
        </p:spPr>
        <p:txBody>
          <a:bodyPr wrap="square">
            <a:spAutoFit/>
          </a:bodyPr>
          <a:lstStyle/>
          <a:p>
            <a:pPr>
              <a:defRPr sz="1100" b="1">
                <a:solidFill>
                  <a:srgbClr val="1E3A8A"/>
                </a:solidFill>
                <a:latin typeface="Calibri"/>
              </a:defRPr>
            </a:pPr>
            <a:r>
              <a:t>6. Frontend &amp; Deployment</a:t>
            </a:r>
          </a:p>
          <a:p>
            <a:pPr>
              <a:spcBef>
                <a:spcPts val="500"/>
              </a:spcBef>
              <a:defRPr sz="950" b="1">
                <a:solidFill>
                  <a:srgbClr val="1F2937"/>
                </a:solidFill>
                <a:latin typeface="Calibri"/>
              </a:defRPr>
            </a:pPr>
            <a:r>
              <a:t>• UI Stack: </a:t>
            </a:r>
            <a:r>
              <a:rPr b="0">
                <a:solidFill>
                  <a:srgbClr val="6B7280"/>
                </a:solidFill>
              </a:rPr>
              <a:t>React 18, TypeScript, Tailwind CSS</a:t>
            </a:r>
          </a:p>
          <a:p>
            <a:pPr>
              <a:spcBef>
                <a:spcPts val="500"/>
              </a:spcBef>
              <a:defRPr sz="950" b="1">
                <a:solidFill>
                  <a:srgbClr val="1F2937"/>
                </a:solidFill>
                <a:latin typeface="Calibri"/>
              </a:defRPr>
            </a:pPr>
            <a:r>
              <a:t>• Charts &amp; Audio: </a:t>
            </a:r>
            <a:r>
              <a:rPr b="0">
                <a:solidFill>
                  <a:srgbClr val="6B7280"/>
                </a:solidFill>
              </a:rPr>
              <a:t>Recharts for 7-day trend graph; Web Audio API for dock chimes.</a:t>
            </a:r>
          </a:p>
          <a:p>
            <a:pPr>
              <a:spcBef>
                <a:spcPts val="500"/>
              </a:spcBef>
              <a:defRPr sz="950" b="1">
                <a:solidFill>
                  <a:srgbClr val="1F2937"/>
                </a:solidFill>
                <a:latin typeface="Calibri"/>
              </a:defRPr>
            </a:pPr>
            <a:r>
              <a:t>• Hosting: </a:t>
            </a:r>
            <a:r>
              <a:rPr b="0">
                <a:solidFill>
                  <a:srgbClr val="6B7280"/>
                </a:solidFill>
              </a:rPr>
              <a:t>Deploys automatically to Render cloud directly from our GitHub repo.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8229600" cy="274320"/>
          </a:xfrm>
          <a:prstGeom prst="rect">
            <a:avLst/>
          </a:prstGeom>
          <a:noFill/>
        </p:spPr>
        <p:txBody>
          <a:bodyPr wrap="square" lIns="0" tIns="0" rIns="0" bIns="0">
            <a:spAutoFit/>
          </a:bodyPr>
          <a:lstStyle/>
          <a:p>
            <a:pPr>
              <a:defRPr sz="1000" b="1">
                <a:solidFill>
                  <a:srgbClr val="2563EB"/>
                </a:solidFill>
                <a:latin typeface="Calibri"/>
              </a:defRPr>
            </a:pPr>
            <a:r>
              <a:t>SLIDE 4: PROTOTYPE SCREENSHOTS &amp; DEMO</a:t>
            </a:r>
          </a:p>
        </p:txBody>
      </p:sp>
      <p:sp>
        <p:nvSpPr>
          <p:cNvPr id="4" name="TextBox 3"/>
          <p:cNvSpPr txBox="1"/>
          <p:nvPr/>
        </p:nvSpPr>
        <p:spPr>
          <a:xfrm>
            <a:off x="731520" y="621792"/>
            <a:ext cx="9601200" cy="548640"/>
          </a:xfrm>
          <a:prstGeom prst="rect">
            <a:avLst/>
          </a:prstGeom>
          <a:noFill/>
        </p:spPr>
        <p:txBody>
          <a:bodyPr wrap="square" lIns="0" tIns="0" rIns="0" bIns="0">
            <a:spAutoFit/>
          </a:bodyPr>
          <a:lstStyle/>
          <a:p>
            <a:pPr>
              <a:defRPr sz="2200" b="1">
                <a:solidFill>
                  <a:srgbClr val="1E3A8A"/>
                </a:solidFill>
                <a:latin typeface="Calibri"/>
              </a:defRPr>
            </a:pPr>
            <a:r>
              <a:t>Working Prototype: Real Screenshots &amp; Scenarios</a:t>
            </a:r>
          </a:p>
        </p:txBody>
      </p:sp>
      <p:sp>
        <p:nvSpPr>
          <p:cNvPr id="5" name="Rectangle 4"/>
          <p:cNvSpPr/>
          <p:nvPr/>
        </p:nvSpPr>
        <p:spPr>
          <a:xfrm>
            <a:off x="731520" y="11887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a_1788498059037.png"/>
          <p:cNvPicPr>
            <a:picLocks noChangeAspect="1"/>
          </p:cNvPicPr>
          <p:nvPr/>
        </p:nvPicPr>
        <p:blipFill>
          <a:blip r:embed="rId2"/>
          <a:stretch>
            <a:fillRect/>
          </a:stretch>
        </p:blipFill>
        <p:spPr>
          <a:xfrm>
            <a:off x="731520" y="1371600"/>
            <a:ext cx="3246120" cy="2331720"/>
          </a:xfrm>
          <a:prstGeom prst="rect">
            <a:avLst/>
          </a:prstGeom>
        </p:spPr>
      </p:pic>
      <p:sp>
        <p:nvSpPr>
          <p:cNvPr id="7" name="TextBox 6"/>
          <p:cNvSpPr txBox="1"/>
          <p:nvPr/>
        </p:nvSpPr>
        <p:spPr>
          <a:xfrm>
            <a:off x="731520" y="3730752"/>
            <a:ext cx="3246120" cy="274320"/>
          </a:xfrm>
          <a:prstGeom prst="rect">
            <a:avLst/>
          </a:prstGeom>
          <a:noFill/>
        </p:spPr>
        <p:txBody>
          <a:bodyPr wrap="square">
            <a:spAutoFit/>
          </a:bodyPr>
          <a:lstStyle/>
          <a:p>
            <a:pPr>
              <a:defRPr sz="850">
                <a:solidFill>
                  <a:srgbClr val="6B7280"/>
                </a:solidFill>
                <a:latin typeface="Calibri"/>
              </a:defRPr>
            </a:pPr>
            <a:r>
              <a:t>AI detecting worker &amp; box dragged on wet floor</a:t>
            </a:r>
          </a:p>
        </p:txBody>
      </p:sp>
      <p:pic>
        <p:nvPicPr>
          <p:cNvPr id="8" name="Picture 7" descr="media_1788497397504.png"/>
          <p:cNvPicPr>
            <a:picLocks noChangeAspect="1"/>
          </p:cNvPicPr>
          <p:nvPr/>
        </p:nvPicPr>
        <p:blipFill>
          <a:blip r:embed="rId3"/>
          <a:stretch>
            <a:fillRect/>
          </a:stretch>
        </p:blipFill>
        <p:spPr>
          <a:xfrm>
            <a:off x="4160520" y="1371600"/>
            <a:ext cx="3337560" cy="2331720"/>
          </a:xfrm>
          <a:prstGeom prst="rect">
            <a:avLst/>
          </a:prstGeom>
        </p:spPr>
      </p:pic>
      <p:sp>
        <p:nvSpPr>
          <p:cNvPr id="9" name="TextBox 8"/>
          <p:cNvSpPr txBox="1"/>
          <p:nvPr/>
        </p:nvSpPr>
        <p:spPr>
          <a:xfrm>
            <a:off x="4160520" y="3730752"/>
            <a:ext cx="3337560" cy="274320"/>
          </a:xfrm>
          <a:prstGeom prst="rect">
            <a:avLst/>
          </a:prstGeom>
          <a:noFill/>
        </p:spPr>
        <p:txBody>
          <a:bodyPr wrap="square">
            <a:spAutoFit/>
          </a:bodyPr>
          <a:lstStyle/>
          <a:p>
            <a:pPr>
              <a:defRPr sz="850">
                <a:solidFill>
                  <a:srgbClr val="6B7280"/>
                </a:solidFill>
                <a:latin typeface="Calibri"/>
              </a:defRPr>
            </a:pPr>
            <a:r>
              <a:t>Video replay showing falling box &amp; staging boundary</a:t>
            </a:r>
          </a:p>
        </p:txBody>
      </p:sp>
      <p:pic>
        <p:nvPicPr>
          <p:cNvPr id="10" name="Picture 9" descr="media_1788627628552.png"/>
          <p:cNvPicPr>
            <a:picLocks noChangeAspect="1"/>
          </p:cNvPicPr>
          <p:nvPr/>
        </p:nvPicPr>
        <p:blipFill>
          <a:blip r:embed="rId4"/>
          <a:stretch>
            <a:fillRect/>
          </a:stretch>
        </p:blipFill>
        <p:spPr>
          <a:xfrm>
            <a:off x="731520" y="4069080"/>
            <a:ext cx="6766560" cy="2423160"/>
          </a:xfrm>
          <a:prstGeom prst="rect">
            <a:avLst/>
          </a:prstGeom>
        </p:spPr>
      </p:pic>
      <p:sp>
        <p:nvSpPr>
          <p:cNvPr id="11" name="TextBox 10"/>
          <p:cNvSpPr txBox="1"/>
          <p:nvPr/>
        </p:nvSpPr>
        <p:spPr>
          <a:xfrm>
            <a:off x="731520" y="6510528"/>
            <a:ext cx="6766560" cy="274320"/>
          </a:xfrm>
          <a:prstGeom prst="rect">
            <a:avLst/>
          </a:prstGeom>
          <a:noFill/>
        </p:spPr>
        <p:txBody>
          <a:bodyPr wrap="square">
            <a:spAutoFit/>
          </a:bodyPr>
          <a:lstStyle/>
          <a:p>
            <a:pPr>
              <a:defRPr sz="850">
                <a:solidFill>
                  <a:srgbClr val="6B7280"/>
                </a:solidFill>
                <a:latin typeface="Calibri"/>
              </a:defRPr>
            </a:pPr>
            <a:r>
              <a:t>Live supervisor dashboard: KPI cards, 7-day risk trend chart, and recent flags</a:t>
            </a:r>
          </a:p>
        </p:txBody>
      </p:sp>
      <p:sp>
        <p:nvSpPr>
          <p:cNvPr id="12" name="Rounded Rectangle 11"/>
          <p:cNvSpPr/>
          <p:nvPr/>
        </p:nvSpPr>
        <p:spPr>
          <a:xfrm>
            <a:off x="7726679" y="1371600"/>
            <a:ext cx="3730752" cy="5120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1508760"/>
            <a:ext cx="3273552" cy="4846320"/>
          </a:xfrm>
          <a:prstGeom prst="rect">
            <a:avLst/>
          </a:prstGeom>
          <a:noFill/>
        </p:spPr>
        <p:txBody>
          <a:bodyPr wrap="square">
            <a:spAutoFit/>
          </a:bodyPr>
          <a:lstStyle/>
          <a:p>
            <a:pPr>
              <a:defRPr sz="1100" b="1">
                <a:solidFill>
                  <a:srgbClr val="1E3A8A"/>
                </a:solidFill>
                <a:latin typeface="Calibri"/>
              </a:defRPr>
            </a:pPr>
            <a:r>
              <a:t>4 TESTED PROTOTYPE SCENARIOS</a:t>
            </a:r>
          </a:p>
          <a:p>
            <a:pPr>
              <a:spcBef>
                <a:spcPts val="700"/>
              </a:spcBef>
              <a:defRPr sz="1000" b="1">
                <a:solidFill>
                  <a:srgbClr val="1F2937"/>
                </a:solidFill>
                <a:latin typeface="Calibri"/>
              </a:defRPr>
            </a:pPr>
            <a:r>
              <a:t>• 1. Dropping a Heavy Carton:</a:t>
            </a:r>
            <a:r>
              <a:rPr b="0">
                <a:solidFill>
                  <a:srgbClr val="6B7280"/>
                </a:solidFill>
              </a:rPr>
              <a:t> A carton slips from a worker's hands at Bay 3. YOLOv8 tracks the downward acceleration spike and flags a CRITICAL drop within 1.2s.</a:t>
            </a:r>
          </a:p>
          <a:p>
            <a:pPr>
              <a:spcBef>
                <a:spcPts val="700"/>
              </a:spcBef>
              <a:defRPr sz="1000" b="1">
                <a:solidFill>
                  <a:srgbClr val="1F2937"/>
                </a:solidFill>
                <a:latin typeface="Calibri"/>
              </a:defRPr>
            </a:pPr>
            <a:r>
              <a:t>• 2. Dragging Across Wet Floor:</a:t>
            </a:r>
            <a:r>
              <a:rPr b="0">
                <a:solidFill>
                  <a:srgbClr val="6B7280"/>
                </a:solidFill>
              </a:rPr>
              <a:t> A worker pulls a package 4.6 meters across a wet dock ramp. The system calculates continuous ground motion and flags HIGH risk dragging.</a:t>
            </a:r>
          </a:p>
          <a:p>
            <a:pPr>
              <a:spcBef>
                <a:spcPts val="700"/>
              </a:spcBef>
              <a:defRPr sz="1000" b="1">
                <a:solidFill>
                  <a:srgbClr val="1F2937"/>
                </a:solidFill>
                <a:latin typeface="Calibri"/>
              </a:defRPr>
            </a:pPr>
            <a:r>
              <a:t>• 3. Unstable Pallet Stacking:</a:t>
            </a:r>
            <a:r>
              <a:rPr b="0">
                <a:solidFill>
                  <a:srgbClr val="6B7280"/>
                </a:solidFill>
              </a:rPr>
              <a:t> Cartons stacked at an angle (&gt;15° tilt) without interlocking are flagged as CAUTION so the loader can re-align them.</a:t>
            </a:r>
          </a:p>
          <a:p>
            <a:pPr>
              <a:spcBef>
                <a:spcPts val="700"/>
              </a:spcBef>
              <a:defRPr sz="1000" b="1">
                <a:solidFill>
                  <a:srgbClr val="1F2937"/>
                </a:solidFill>
                <a:latin typeface="Calibri"/>
              </a:defRPr>
            </a:pPr>
            <a:r>
              <a:t>• 4. Asking the AI Assistant:</a:t>
            </a:r>
            <a:r>
              <a:rPr b="0">
                <a:solidFill>
                  <a:srgbClr val="6B7280"/>
                </a:solidFill>
              </a:rPr>
              <a:t> Supervisor asks: 'Which bay had drops today?' Gemini checks the SQLite incident database and returns Bay 3 with exact timestamps.</a:t>
            </a:r>
          </a:p>
          <a:p>
            <a:pPr>
              <a:spcBef>
                <a:spcPts val="1200"/>
              </a:spcBef>
              <a:defRPr sz="1000" b="1">
                <a:solidFill>
                  <a:srgbClr val="2563EB"/>
                </a:solidFill>
                <a:latin typeface="Calibri"/>
              </a:defRPr>
            </a:pPr>
            <a:r>
              <a:t>LIVE SYSTEM DEMO LINKS:</a:t>
            </a:r>
          </a:p>
          <a:p>
            <a:pPr>
              <a:spcBef>
                <a:spcPts val="100"/>
              </a:spcBef>
              <a:defRPr sz="850">
                <a:solidFill>
                  <a:srgbClr val="6B7280"/>
                </a:solidFill>
                <a:latin typeface="Calibri"/>
              </a:defRPr>
            </a:pPr>
            <a:r>
              <a:t>  Cloud app: smart-warehouse-system-rk8p.onrender.com</a:t>
            </a:r>
          </a:p>
          <a:p>
            <a:pPr>
              <a:spcBef>
                <a:spcPts val="100"/>
              </a:spcBef>
              <a:defRPr sz="850">
                <a:solidFill>
                  <a:srgbClr val="6B7280"/>
                </a:solidFill>
                <a:latin typeface="Calibri"/>
              </a:defRPr>
            </a:pPr>
            <a:r>
              <a:t>  Local build: localhost:8000 / localhost:5173</a:t>
            </a:r>
          </a:p>
          <a:p>
            <a:pPr>
              <a:spcBef>
                <a:spcPts val="100"/>
              </a:spcBef>
              <a:defRPr sz="850">
                <a:solidFill>
                  <a:srgbClr val="6B7280"/>
                </a:solidFill>
                <a:latin typeface="Calibri"/>
              </a:defRPr>
            </a:pPr>
            <a:r>
              <a:t>  Code: github.com/Aastha008/Smart-Warehouse-System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8229600" cy="274320"/>
          </a:xfrm>
          <a:prstGeom prst="rect">
            <a:avLst/>
          </a:prstGeom>
          <a:noFill/>
        </p:spPr>
        <p:txBody>
          <a:bodyPr wrap="square" lIns="0" tIns="0" rIns="0" bIns="0">
            <a:spAutoFit/>
          </a:bodyPr>
          <a:lstStyle/>
          <a:p>
            <a:pPr>
              <a:defRPr sz="1000" b="1">
                <a:solidFill>
                  <a:srgbClr val="2563EB"/>
                </a:solidFill>
                <a:latin typeface="Calibri"/>
              </a:defRPr>
            </a:pPr>
            <a:r>
              <a:t>SLIDE 5: IMPACT, DAMAGE PREVENTION &amp; USER VALIDATION</a:t>
            </a:r>
          </a:p>
        </p:txBody>
      </p:sp>
      <p:sp>
        <p:nvSpPr>
          <p:cNvPr id="4" name="TextBox 3"/>
          <p:cNvSpPr txBox="1"/>
          <p:nvPr/>
        </p:nvSpPr>
        <p:spPr>
          <a:xfrm>
            <a:off x="731520" y="621792"/>
            <a:ext cx="9601200" cy="548640"/>
          </a:xfrm>
          <a:prstGeom prst="rect">
            <a:avLst/>
          </a:prstGeom>
          <a:noFill/>
        </p:spPr>
        <p:txBody>
          <a:bodyPr wrap="square" lIns="0" tIns="0" rIns="0" bIns="0">
            <a:spAutoFit/>
          </a:bodyPr>
          <a:lstStyle/>
          <a:p>
            <a:pPr>
              <a:defRPr sz="2200" b="1">
                <a:solidFill>
                  <a:srgbClr val="1E3A8A"/>
                </a:solidFill>
                <a:latin typeface="Calibri"/>
              </a:defRPr>
            </a:pPr>
            <a:r>
              <a:t>Feedback from Real Users &amp; How We Improved</a:t>
            </a:r>
          </a:p>
        </p:txBody>
      </p:sp>
      <p:sp>
        <p:nvSpPr>
          <p:cNvPr id="5" name="Rectangle 4"/>
          <p:cNvSpPr/>
          <p:nvPr/>
        </p:nvSpPr>
        <p:spPr>
          <a:xfrm>
            <a:off x="731520" y="11887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371600"/>
            <a:ext cx="54864" cy="89611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44752"/>
            <a:ext cx="6766560" cy="749808"/>
          </a:xfrm>
          <a:prstGeom prst="rect">
            <a:avLst/>
          </a:prstGeom>
          <a:noFill/>
        </p:spPr>
        <p:txBody>
          <a:bodyPr wrap="square">
            <a:spAutoFit/>
          </a:bodyPr>
          <a:lstStyle/>
          <a:p>
            <a:pPr>
              <a:defRPr sz="1000" b="1">
                <a:solidFill>
                  <a:srgbClr val="1E3A8A"/>
                </a:solidFill>
                <a:latin typeface="Calibri"/>
              </a:defRPr>
            </a:pPr>
            <a:r>
              <a:t>Warehouse Supervisor: </a:t>
            </a:r>
            <a:r>
              <a:rPr b="0" i="1">
                <a:solidFill>
                  <a:srgbClr val="1F2937"/>
                </a:solidFill>
              </a:rPr>
              <a:t>"I can't watch hours of CCTV video while running around the dock."</a:t>
            </a:r>
          </a:p>
          <a:p>
            <a:pPr>
              <a:spcBef>
                <a:spcPts val="300"/>
              </a:spcBef>
              <a:defRPr sz="900">
                <a:solidFill>
                  <a:srgbClr val="6B7280"/>
                </a:solidFill>
                <a:latin typeface="Calibri"/>
              </a:defRPr>
            </a:pPr>
            <a:r>
              <a:t>→ What we changed: Added 1-click video replay that jumps straight to the 5-second drop clip with clear timeline markers.</a:t>
            </a:r>
          </a:p>
        </p:txBody>
      </p:sp>
      <p:sp>
        <p:nvSpPr>
          <p:cNvPr id="9" name="Rounded Rectangle 8"/>
          <p:cNvSpPr/>
          <p:nvPr/>
        </p:nvSpPr>
        <p:spPr>
          <a:xfrm>
            <a:off x="731520" y="2340864"/>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340864"/>
            <a:ext cx="54864" cy="89611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14016"/>
            <a:ext cx="6766560" cy="749808"/>
          </a:xfrm>
          <a:prstGeom prst="rect">
            <a:avLst/>
          </a:prstGeom>
          <a:noFill/>
        </p:spPr>
        <p:txBody>
          <a:bodyPr wrap="square">
            <a:spAutoFit/>
          </a:bodyPr>
          <a:lstStyle/>
          <a:p>
            <a:pPr>
              <a:defRPr sz="1000" b="1">
                <a:solidFill>
                  <a:srgbClr val="1E3A8A"/>
                </a:solidFill>
                <a:latin typeface="Calibri"/>
              </a:defRPr>
            </a:pPr>
            <a:r>
              <a:t>Loading Operator: </a:t>
            </a:r>
            <a:r>
              <a:rPr b="0" i="1">
                <a:solidFill>
                  <a:srgbClr val="1F2937"/>
                </a:solidFill>
              </a:rPr>
              <a:t>"Loud alarms during fast loading make workers stressed and annoyed."</a:t>
            </a:r>
          </a:p>
          <a:p>
            <a:pPr>
              <a:spcBef>
                <a:spcPts val="300"/>
              </a:spcBef>
              <a:defRPr sz="900">
                <a:solidFill>
                  <a:srgbClr val="6B7280"/>
                </a:solidFill>
                <a:latin typeface="Calibri"/>
              </a:defRPr>
            </a:pPr>
            <a:r>
              <a:t>→ What we changed: Replaced loud sirens with a gentle audio chime for small issues, saving loud alerts only for big drops.</a:t>
            </a:r>
          </a:p>
        </p:txBody>
      </p:sp>
      <p:sp>
        <p:nvSpPr>
          <p:cNvPr id="12" name="Rounded Rectangle 11"/>
          <p:cNvSpPr/>
          <p:nvPr/>
        </p:nvSpPr>
        <p:spPr>
          <a:xfrm>
            <a:off x="731520" y="3310128"/>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310128"/>
            <a:ext cx="54864" cy="89611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83280"/>
            <a:ext cx="6766560" cy="749808"/>
          </a:xfrm>
          <a:prstGeom prst="rect">
            <a:avLst/>
          </a:prstGeom>
          <a:noFill/>
        </p:spPr>
        <p:txBody>
          <a:bodyPr wrap="square">
            <a:spAutoFit/>
          </a:bodyPr>
          <a:lstStyle/>
          <a:p>
            <a:pPr>
              <a:defRPr sz="1000" b="1">
                <a:solidFill>
                  <a:srgbClr val="1E3A8A"/>
                </a:solidFill>
                <a:latin typeface="Calibri"/>
              </a:defRPr>
            </a:pPr>
            <a:r>
              <a:t>Logistics Manager: </a:t>
            </a:r>
            <a:r>
              <a:rPr b="0" i="1">
                <a:solidFill>
                  <a:srgbClr val="1F2937"/>
                </a:solidFill>
              </a:rPr>
              <a:t>"I need to see if our shifts are actually improving over time."</a:t>
            </a:r>
          </a:p>
          <a:p>
            <a:pPr>
              <a:spcBef>
                <a:spcPts val="300"/>
              </a:spcBef>
              <a:defRPr sz="900">
                <a:solidFill>
                  <a:srgbClr val="6B7280"/>
                </a:solidFill>
                <a:latin typeface="Calibri"/>
              </a:defRPr>
            </a:pPr>
            <a:r>
              <a:t>→ What we changed: Built real-time KPI stat cards and a 7-day risk trend chart showing the 95.8% damage-free rate.</a:t>
            </a:r>
          </a:p>
        </p:txBody>
      </p:sp>
      <p:sp>
        <p:nvSpPr>
          <p:cNvPr id="15" name="Rounded Rectangle 14"/>
          <p:cNvSpPr/>
          <p:nvPr/>
        </p:nvSpPr>
        <p:spPr>
          <a:xfrm>
            <a:off x="731520" y="4279392"/>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279392"/>
            <a:ext cx="54864" cy="89611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52544"/>
            <a:ext cx="6766560" cy="749808"/>
          </a:xfrm>
          <a:prstGeom prst="rect">
            <a:avLst/>
          </a:prstGeom>
          <a:noFill/>
        </p:spPr>
        <p:txBody>
          <a:bodyPr wrap="square">
            <a:spAutoFit/>
          </a:bodyPr>
          <a:lstStyle/>
          <a:p>
            <a:pPr>
              <a:defRPr sz="1000" b="1">
                <a:solidFill>
                  <a:srgbClr val="1E3A8A"/>
                </a:solidFill>
                <a:latin typeface="Calibri"/>
              </a:defRPr>
            </a:pPr>
            <a:r>
              <a:t>Quality Assurance: </a:t>
            </a:r>
            <a:r>
              <a:rPr b="0" i="1">
                <a:solidFill>
                  <a:srgbClr val="1F2937"/>
                </a:solidFill>
              </a:rPr>
              <a:t>"When customers return broken goods, carriers deny that it was dropped."</a:t>
            </a:r>
          </a:p>
          <a:p>
            <a:pPr>
              <a:spcBef>
                <a:spcPts val="300"/>
              </a:spcBef>
              <a:defRPr sz="900">
                <a:solidFill>
                  <a:srgbClr val="6B7280"/>
                </a:solidFill>
                <a:latin typeface="Calibri"/>
              </a:defRPr>
            </a:pPr>
            <a:r>
              <a:t>→ What we changed: Saved tamper-evident video proof with exact time, bay number, and drop height for claims.</a:t>
            </a:r>
          </a:p>
        </p:txBody>
      </p:sp>
      <p:sp>
        <p:nvSpPr>
          <p:cNvPr id="18" name="Rounded Rectangle 17"/>
          <p:cNvSpPr/>
          <p:nvPr/>
        </p:nvSpPr>
        <p:spPr>
          <a:xfrm>
            <a:off x="731520" y="5248656"/>
            <a:ext cx="7040880" cy="896112"/>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5248656"/>
            <a:ext cx="54864" cy="89611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321808"/>
            <a:ext cx="6766560" cy="749808"/>
          </a:xfrm>
          <a:prstGeom prst="rect">
            <a:avLst/>
          </a:prstGeom>
          <a:noFill/>
        </p:spPr>
        <p:txBody>
          <a:bodyPr wrap="square">
            <a:spAutoFit/>
          </a:bodyPr>
          <a:lstStyle/>
          <a:p>
            <a:pPr>
              <a:defRPr sz="1000" b="1">
                <a:solidFill>
                  <a:srgbClr val="1E3A8A"/>
                </a:solidFill>
                <a:latin typeface="Calibri"/>
              </a:defRPr>
            </a:pPr>
            <a:r>
              <a:t>Safety Officer: </a:t>
            </a:r>
            <a:r>
              <a:rPr b="0" i="1">
                <a:solidFill>
                  <a:srgbClr val="1F2937"/>
                </a:solidFill>
              </a:rPr>
              <a:t>"Wet floor areas and bad lifting posture often get ignored until someone slips."</a:t>
            </a:r>
          </a:p>
          <a:p>
            <a:pPr>
              <a:spcBef>
                <a:spcPts val="300"/>
              </a:spcBef>
              <a:defRPr sz="900">
                <a:solidFill>
                  <a:srgbClr val="6B7280"/>
                </a:solidFill>
                <a:latin typeface="Calibri"/>
              </a:defRPr>
            </a:pPr>
            <a:r>
              <a:t>→ What we changed: Added automatic wet-floor hazard area boxes and recommendations for two-person lifting.</a:t>
            </a:r>
          </a:p>
        </p:txBody>
      </p:sp>
      <p:sp>
        <p:nvSpPr>
          <p:cNvPr id="21" name="Rounded Rectangle 20"/>
          <p:cNvSpPr/>
          <p:nvPr/>
        </p:nvSpPr>
        <p:spPr>
          <a:xfrm>
            <a:off x="8001000" y="1371600"/>
            <a:ext cx="3456432"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508760"/>
            <a:ext cx="2999232" cy="4663440"/>
          </a:xfrm>
          <a:prstGeom prst="rect">
            <a:avLst/>
          </a:prstGeom>
          <a:noFill/>
        </p:spPr>
        <p:txBody>
          <a:bodyPr wrap="square">
            <a:spAutoFit/>
          </a:bodyPr>
          <a:lstStyle/>
          <a:p>
            <a:pPr>
              <a:defRPr sz="1100" b="1">
                <a:solidFill>
                  <a:srgbClr val="16A34A"/>
                </a:solidFill>
                <a:latin typeface="Calibri"/>
              </a:defRPr>
            </a:pPr>
            <a:r>
              <a:t>WHAT OUR TESTING SHOWED</a:t>
            </a:r>
          </a:p>
          <a:p>
            <a:pPr>
              <a:spcBef>
                <a:spcPts val="800"/>
              </a:spcBef>
              <a:defRPr sz="1000" b="1">
                <a:solidFill>
                  <a:srgbClr val="1F2937"/>
                </a:solidFill>
                <a:latin typeface="Calibri"/>
              </a:defRPr>
            </a:pPr>
            <a:r>
              <a:t>• Fast Alert Time (&lt;1.5s):</a:t>
            </a:r>
            <a:r>
              <a:rPr b="0">
                <a:solidFill>
                  <a:srgbClr val="6B7280"/>
                </a:solidFill>
              </a:rPr>
              <a:t> From the moment a carton hits the floor, the system detects it and plays a sound in under 1.5 seconds.</a:t>
            </a:r>
          </a:p>
          <a:p>
            <a:pPr>
              <a:spcBef>
                <a:spcPts val="800"/>
              </a:spcBef>
              <a:defRPr sz="1000" b="1">
                <a:solidFill>
                  <a:srgbClr val="1F2937"/>
                </a:solidFill>
                <a:latin typeface="Calibri"/>
              </a:defRPr>
            </a:pPr>
            <a:r>
              <a:t>• Saves Supervisor Time:</a:t>
            </a:r>
            <a:r>
              <a:rPr b="0">
                <a:solidFill>
                  <a:srgbClr val="6B7280"/>
                </a:solidFill>
              </a:rPr>
              <a:t> Checking what went wrong dropped from 30+ minutes of scrubbing security tapes to under 1 minute using the replay clip.</a:t>
            </a:r>
          </a:p>
          <a:p>
            <a:pPr>
              <a:spcBef>
                <a:spcPts val="800"/>
              </a:spcBef>
              <a:defRPr sz="1000" b="1">
                <a:solidFill>
                  <a:srgbClr val="1F2937"/>
                </a:solidFill>
                <a:latin typeface="Calibri"/>
              </a:defRPr>
            </a:pPr>
            <a:r>
              <a:t>• Catches Hidden Drops:</a:t>
            </a:r>
            <a:r>
              <a:rPr b="0">
                <a:solidFill>
                  <a:srgbClr val="6B7280"/>
                </a:solidFill>
              </a:rPr>
              <a:t> In our test video footage, the system caught 8 out of 9 drops that would have been missed by human eyes.</a:t>
            </a:r>
          </a:p>
          <a:p>
            <a:pPr>
              <a:spcBef>
                <a:spcPts val="800"/>
              </a:spcBef>
              <a:defRPr sz="1000" b="1">
                <a:solidFill>
                  <a:srgbClr val="1F2937"/>
                </a:solidFill>
                <a:latin typeface="Calibri"/>
              </a:defRPr>
            </a:pPr>
            <a:r>
              <a:t>• Clear Damage Evidence:</a:t>
            </a:r>
            <a:r>
              <a:rPr b="0">
                <a:solidFill>
                  <a:srgbClr val="6B7280"/>
                </a:solidFill>
              </a:rPr>
              <a:t> Every flagged incident saves a 5-second clip showing the exact bay and time, making customer and carrier claims easy to verify.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8229600" cy="274320"/>
          </a:xfrm>
          <a:prstGeom prst="rect">
            <a:avLst/>
          </a:prstGeom>
          <a:noFill/>
        </p:spPr>
        <p:txBody>
          <a:bodyPr wrap="square" lIns="0" tIns="0" rIns="0" bIns="0">
            <a:spAutoFit/>
          </a:bodyPr>
          <a:lstStyle/>
          <a:p>
            <a:pPr>
              <a:defRPr sz="1000" b="1">
                <a:solidFill>
                  <a:srgbClr val="2563EB"/>
                </a:solidFill>
                <a:latin typeface="Calibri"/>
              </a:defRPr>
            </a:pPr>
            <a:r>
              <a:t>SLIDE 6: CONCLUSION, LIMITATIONS &amp; FUTURE WORK</a:t>
            </a:r>
          </a:p>
        </p:txBody>
      </p:sp>
      <p:sp>
        <p:nvSpPr>
          <p:cNvPr id="4" name="TextBox 3"/>
          <p:cNvSpPr txBox="1"/>
          <p:nvPr/>
        </p:nvSpPr>
        <p:spPr>
          <a:xfrm>
            <a:off x="731520" y="621792"/>
            <a:ext cx="9601200" cy="548640"/>
          </a:xfrm>
          <a:prstGeom prst="rect">
            <a:avLst/>
          </a:prstGeom>
          <a:noFill/>
        </p:spPr>
        <p:txBody>
          <a:bodyPr wrap="square" lIns="0" tIns="0" rIns="0" bIns="0">
            <a:spAutoFit/>
          </a:bodyPr>
          <a:lstStyle/>
          <a:p>
            <a:pPr>
              <a:defRPr sz="2200" b="1">
                <a:solidFill>
                  <a:srgbClr val="1E3A8A"/>
                </a:solidFill>
                <a:latin typeface="Calibri"/>
              </a:defRPr>
            </a:pPr>
            <a:r>
              <a:t>Current Status, Real Limitations &amp; What's Next</a:t>
            </a:r>
          </a:p>
        </p:txBody>
      </p:sp>
      <p:sp>
        <p:nvSpPr>
          <p:cNvPr id="5" name="Rectangle 4"/>
          <p:cNvSpPr/>
          <p:nvPr/>
        </p:nvSpPr>
        <p:spPr>
          <a:xfrm>
            <a:off x="731520" y="11887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17320"/>
            <a:ext cx="3410712" cy="3977639"/>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17320"/>
            <a:ext cx="3410712" cy="457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54480"/>
            <a:ext cx="3044952" cy="3703319"/>
          </a:xfrm>
          <a:prstGeom prst="rect">
            <a:avLst/>
          </a:prstGeom>
          <a:noFill/>
        </p:spPr>
        <p:txBody>
          <a:bodyPr wrap="square">
            <a:spAutoFit/>
          </a:bodyPr>
          <a:lstStyle/>
          <a:p>
            <a:pPr>
              <a:defRPr sz="1150" b="1">
                <a:solidFill>
                  <a:srgbClr val="16A34A"/>
                </a:solidFill>
                <a:latin typeface="Calibri"/>
              </a:defRPr>
            </a:pPr>
            <a:r>
              <a:t>What is Working Right Now</a:t>
            </a:r>
          </a:p>
          <a:p>
            <a:pPr>
              <a:spcBef>
                <a:spcPts val="700"/>
              </a:spcBef>
              <a:defRPr sz="950" b="1">
                <a:solidFill>
                  <a:srgbClr val="1F2937"/>
                </a:solidFill>
                <a:latin typeface="Calibri"/>
              </a:defRPr>
            </a:pPr>
            <a:r>
              <a:t>• Live Working Website: </a:t>
            </a:r>
            <a:r>
              <a:rPr b="0">
                <a:solidFill>
                  <a:srgbClr val="6B7280"/>
                </a:solidFill>
              </a:rPr>
              <a:t>Hosted online on Render cloud with full frontend and backend.</a:t>
            </a:r>
          </a:p>
          <a:p>
            <a:pPr>
              <a:spcBef>
                <a:spcPts val="700"/>
              </a:spcBef>
              <a:defRPr sz="950" b="1">
                <a:solidFill>
                  <a:srgbClr val="1F2937"/>
                </a:solidFill>
                <a:latin typeface="Calibri"/>
              </a:defRPr>
            </a:pPr>
            <a:r>
              <a:t>• Real Video Analysis: </a:t>
            </a:r>
            <a:r>
              <a:rPr b="0">
                <a:solidFill>
                  <a:srgbClr val="6B7280"/>
                </a:solidFill>
              </a:rPr>
              <a:t>Processes uploaded CCTV footage, draws bounding boxes, and detects drops and dragging.</a:t>
            </a:r>
          </a:p>
          <a:p>
            <a:pPr>
              <a:spcBef>
                <a:spcPts val="700"/>
              </a:spcBef>
              <a:defRPr sz="950" b="1">
                <a:solidFill>
                  <a:srgbClr val="1F2937"/>
                </a:solidFill>
                <a:latin typeface="Calibri"/>
              </a:defRPr>
            </a:pPr>
            <a:r>
              <a:t>• Dashboard &amp; Sound Alerts: </a:t>
            </a:r>
            <a:r>
              <a:rPr b="0">
                <a:solidFill>
                  <a:srgbClr val="6B7280"/>
                </a:solidFill>
              </a:rPr>
              <a:t>Live KPI stat cards, 7-day risk trend chart, and real-time audio chimes.</a:t>
            </a:r>
          </a:p>
          <a:p>
            <a:pPr>
              <a:spcBef>
                <a:spcPts val="700"/>
              </a:spcBef>
              <a:defRPr sz="950" b="1">
                <a:solidFill>
                  <a:srgbClr val="1F2937"/>
                </a:solidFill>
                <a:latin typeface="Calibri"/>
              </a:defRPr>
            </a:pPr>
            <a:r>
              <a:t>• Gemini Assistant: </a:t>
            </a:r>
            <a:r>
              <a:rPr b="0">
                <a:solidFill>
                  <a:srgbClr val="6B7280"/>
                </a:solidFill>
              </a:rPr>
              <a:t>Working chatbot that answers questions about warehouse incidents.</a:t>
            </a:r>
          </a:p>
        </p:txBody>
      </p:sp>
      <p:sp>
        <p:nvSpPr>
          <p:cNvPr id="9" name="Rounded Rectangle 8"/>
          <p:cNvSpPr/>
          <p:nvPr/>
        </p:nvSpPr>
        <p:spPr>
          <a:xfrm>
            <a:off x="4389120" y="1417320"/>
            <a:ext cx="3410712" cy="3977639"/>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417320"/>
            <a:ext cx="3410712" cy="4572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554480"/>
            <a:ext cx="3044952" cy="3703319"/>
          </a:xfrm>
          <a:prstGeom prst="rect">
            <a:avLst/>
          </a:prstGeom>
          <a:noFill/>
        </p:spPr>
        <p:txBody>
          <a:bodyPr wrap="square">
            <a:spAutoFit/>
          </a:bodyPr>
          <a:lstStyle/>
          <a:p>
            <a:pPr>
              <a:defRPr sz="1150" b="1">
                <a:solidFill>
                  <a:srgbClr val="DC2626"/>
                </a:solidFill>
                <a:latin typeface="Calibri"/>
              </a:defRPr>
            </a:pPr>
            <a:r>
              <a:t>Honest Current Limitations</a:t>
            </a:r>
          </a:p>
          <a:p>
            <a:pPr>
              <a:spcBef>
                <a:spcPts val="700"/>
              </a:spcBef>
              <a:defRPr sz="950" b="1">
                <a:solidFill>
                  <a:srgbClr val="1F2937"/>
                </a:solidFill>
                <a:latin typeface="Calibri"/>
              </a:defRPr>
            </a:pPr>
            <a:r>
              <a:t>• Cloud CPU Speed: </a:t>
            </a:r>
            <a:r>
              <a:rPr b="0">
                <a:solidFill>
                  <a:srgbClr val="6B7280"/>
                </a:solidFill>
              </a:rPr>
              <a:t>On free cloud tier, video analysis runs on CPU and takes 5–8 seconds per clip.</a:t>
            </a:r>
          </a:p>
          <a:p>
            <a:pPr>
              <a:spcBef>
                <a:spcPts val="700"/>
              </a:spcBef>
              <a:defRPr sz="950" b="1">
                <a:solidFill>
                  <a:srgbClr val="1F2937"/>
                </a:solidFill>
                <a:latin typeface="Calibri"/>
              </a:defRPr>
            </a:pPr>
            <a:r>
              <a:t>• Camera Occlusions: </a:t>
            </a:r>
            <a:r>
              <a:rPr b="0">
                <a:solidFill>
                  <a:srgbClr val="6B7280"/>
                </a:solidFill>
              </a:rPr>
              <a:t>When multiple workers stand directly in front of a box, the model can briefly lose track of it.</a:t>
            </a:r>
          </a:p>
          <a:p>
            <a:pPr>
              <a:spcBef>
                <a:spcPts val="700"/>
              </a:spcBef>
              <a:defRPr sz="950" b="1">
                <a:solidFill>
                  <a:srgbClr val="1F2937"/>
                </a:solidFill>
                <a:latin typeface="Calibri"/>
              </a:defRPr>
            </a:pPr>
            <a:r>
              <a:t>• Fixed Camera Angles: </a:t>
            </a:r>
            <a:r>
              <a:rPr b="0">
                <a:solidFill>
                  <a:srgbClr val="6B7280"/>
                </a:solidFill>
              </a:rPr>
              <a:t>Currently tested on 6 dock angles; new warehouse cameras need simple calibration.</a:t>
            </a:r>
          </a:p>
          <a:p>
            <a:pPr>
              <a:spcBef>
                <a:spcPts val="700"/>
              </a:spcBef>
              <a:defRPr sz="950" b="1">
                <a:solidFill>
                  <a:srgbClr val="1F2937"/>
                </a:solidFill>
                <a:latin typeface="Calibri"/>
              </a:defRPr>
            </a:pPr>
            <a:r>
              <a:t>• Lighting Changes: </a:t>
            </a:r>
            <a:r>
              <a:rPr b="0">
                <a:solidFill>
                  <a:srgbClr val="6B7280"/>
                </a:solidFill>
              </a:rPr>
              <a:t>Extreme shadows or glare at open bay doors can slightly reduce detection confidence.</a:t>
            </a:r>
          </a:p>
        </p:txBody>
      </p:sp>
      <p:sp>
        <p:nvSpPr>
          <p:cNvPr id="12" name="Rounded Rectangle 11"/>
          <p:cNvSpPr/>
          <p:nvPr/>
        </p:nvSpPr>
        <p:spPr>
          <a:xfrm>
            <a:off x="8046720" y="1417320"/>
            <a:ext cx="3410712" cy="3977639"/>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1417320"/>
            <a:ext cx="3410712"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554480"/>
            <a:ext cx="3044952" cy="3703319"/>
          </a:xfrm>
          <a:prstGeom prst="rect">
            <a:avLst/>
          </a:prstGeom>
          <a:noFill/>
        </p:spPr>
        <p:txBody>
          <a:bodyPr wrap="square">
            <a:spAutoFit/>
          </a:bodyPr>
          <a:lstStyle/>
          <a:p>
            <a:pPr>
              <a:defRPr sz="1150" b="1">
                <a:solidFill>
                  <a:srgbClr val="2563EB"/>
                </a:solidFill>
                <a:latin typeface="Calibri"/>
              </a:defRPr>
            </a:pPr>
            <a:r>
              <a:t>What We Plan to Build Next</a:t>
            </a:r>
          </a:p>
          <a:p>
            <a:pPr>
              <a:spcBef>
                <a:spcPts val="700"/>
              </a:spcBef>
              <a:defRPr sz="950" b="1">
                <a:solidFill>
                  <a:srgbClr val="1F2937"/>
                </a:solidFill>
                <a:latin typeface="Calibri"/>
              </a:defRPr>
            </a:pPr>
            <a:r>
              <a:t>• Edge Processing: </a:t>
            </a:r>
            <a:r>
              <a:rPr b="0">
                <a:solidFill>
                  <a:srgbClr val="6B7280"/>
                </a:solidFill>
              </a:rPr>
              <a:t>Test running YOLOv8 on an NVIDIA Jetson nano for instant on-premise inference (&lt;50ms).</a:t>
            </a:r>
          </a:p>
          <a:p>
            <a:pPr>
              <a:spcBef>
                <a:spcPts val="700"/>
              </a:spcBef>
              <a:defRPr sz="950" b="1">
                <a:solidFill>
                  <a:srgbClr val="1F2937"/>
                </a:solidFill>
                <a:latin typeface="Calibri"/>
              </a:defRPr>
            </a:pPr>
            <a:r>
              <a:t>• Barcode Scanner Link: </a:t>
            </a:r>
            <a:r>
              <a:rPr b="0">
                <a:solidFill>
                  <a:srgbClr val="6B7280"/>
                </a:solidFill>
              </a:rPr>
              <a:t>Connect detection timestamps directly to package tracking numbers (WMS integration).</a:t>
            </a:r>
          </a:p>
          <a:p>
            <a:pPr>
              <a:spcBef>
                <a:spcPts val="700"/>
              </a:spcBef>
              <a:defRPr sz="950" b="1">
                <a:solidFill>
                  <a:srgbClr val="1F2937"/>
                </a:solidFill>
                <a:latin typeface="Calibri"/>
              </a:defRPr>
            </a:pPr>
            <a:r>
              <a:t>• Ergonomic Lifting Checks: </a:t>
            </a:r>
            <a:r>
              <a:rPr b="0">
                <a:solidFill>
                  <a:srgbClr val="6B7280"/>
                </a:solidFill>
              </a:rPr>
              <a:t>Add pose estimation to warn workers when lifting heavy boxes with their back instead of legs.</a:t>
            </a:r>
          </a:p>
          <a:p>
            <a:pPr>
              <a:spcBef>
                <a:spcPts val="700"/>
              </a:spcBef>
              <a:defRPr sz="950" b="1">
                <a:solidFill>
                  <a:srgbClr val="1F2937"/>
                </a:solidFill>
                <a:latin typeface="Calibri"/>
              </a:defRPr>
            </a:pPr>
            <a:r>
              <a:t>• Mobile App for Supervisors: </a:t>
            </a:r>
            <a:r>
              <a:rPr b="0">
                <a:solidFill>
                  <a:srgbClr val="6B7280"/>
                </a:solidFill>
              </a:rPr>
              <a:t>Push notifications to mobile phones for floor supervisors.</a:t>
            </a:r>
          </a:p>
        </p:txBody>
      </p:sp>
      <p:sp>
        <p:nvSpPr>
          <p:cNvPr id="15" name="Rounded Rectangle 14"/>
          <p:cNvSpPr/>
          <p:nvPr/>
        </p:nvSpPr>
        <p:spPr>
          <a:xfrm>
            <a:off x="731520" y="5623560"/>
            <a:ext cx="10728655" cy="7772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87568"/>
            <a:ext cx="10332720" cy="640080"/>
          </a:xfrm>
          <a:prstGeom prst="rect">
            <a:avLst/>
          </a:prstGeom>
          <a:noFill/>
        </p:spPr>
        <p:txBody>
          <a:bodyPr wrap="square">
            <a:spAutoFit/>
          </a:bodyPr>
          <a:lstStyle/>
          <a:p>
            <a:pPr algn="ctr">
              <a:defRPr sz="1200" b="1">
                <a:solidFill>
                  <a:srgbClr val="1E3A8A"/>
                </a:solidFill>
                <a:latin typeface="Calibri"/>
              </a:defRPr>
            </a:pPr>
            <a:r>
              <a:t>Thank You! We are happy to answer any questions or demonstrate the live app.</a:t>
            </a:r>
          </a:p>
          <a:p>
            <a:pPr algn="ctr">
              <a:spcBef>
                <a:spcPts val="200"/>
              </a:spcBef>
              <a:defRPr sz="950">
                <a:solidFill>
                  <a:srgbClr val="6B7280"/>
                </a:solidFill>
                <a:latin typeface="Calibri"/>
              </a:defRPr>
            </a:pPr>
            <a:r>
              <a:t>Project Team: Aastha Gupta, Lucky Lakhani, Runjan Bawa  |  Live link: smart-warehouse-system-rk8p.onrender.com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