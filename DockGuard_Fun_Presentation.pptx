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flip="none" rotWithShape="1">
          <a:gsLst>
            <a:gs pos="0">
              <a:srgbClr val="060F1E"/>
            </a:gs>
            <a:gs pos="38000">
              <a:srgbClr val="0A213D"/>
            </a:gs>
            <a:gs pos="75000">
              <a:srgbClr val="113665"/>
            </a:gs>
            <a:gs pos="100000">
              <a:srgbClr val="07182E"/>
            </a:gs>
          </a:gsLst>
          <a:lin ang="3240000" scaled="1"/>
        </a:gradFill>
        <a:effectLst/>
      </p:bgPr>
    </p:bg>
    <p:spTree>
      <p:nvGrpSpPr>
        <p:cNvPr id="1" name=""/>
        <p:cNvGrpSpPr/>
        <p:nvPr/>
      </p:nvGrpSpPr>
      <p:grpSpPr/>
      <p:sp>
        <p:nvSpPr>
          <p:cNvPr id="2" name="TextBox 1"/>
          <p:cNvSpPr txBox="1"/>
          <p:nvPr/>
        </p:nvSpPr>
        <p:spPr>
          <a:xfrm>
            <a:off x="731520" y="438912"/>
            <a:ext cx="10728655" cy="256032"/>
          </a:xfrm>
          <a:prstGeom prst="rect">
            <a:avLst/>
          </a:prstGeom>
          <a:noFill/>
        </p:spPr>
        <p:txBody>
          <a:bodyPr wrap="none" lIns="0" tIns="0" rIns="0" bIns="0">
            <a:spAutoFit/>
          </a:bodyPr>
          <a:lstStyle/>
          <a:p>
            <a:pPr>
              <a:defRPr sz="1100" b="1">
                <a:solidFill>
                  <a:srgbClr val="38BDF8"/>
                </a:solidFill>
                <a:latin typeface="Segoe UI"/>
              </a:defRPr>
            </a:pPr>
            <a:r>
              <a:t>AUTONOMOUS WAREHOUSE CARGO INTELLIGENCE</a:t>
            </a:r>
          </a:p>
        </p:txBody>
      </p:sp>
      <p:sp>
        <p:nvSpPr>
          <p:cNvPr id="3" name="TextBox 2"/>
          <p:cNvSpPr txBox="1"/>
          <p:nvPr/>
        </p:nvSpPr>
        <p:spPr>
          <a:xfrm>
            <a:off x="731520" y="749808"/>
            <a:ext cx="10728655" cy="1005840"/>
          </a:xfrm>
          <a:prstGeom prst="rect">
            <a:avLst/>
          </a:prstGeom>
          <a:noFill/>
        </p:spPr>
        <p:txBody>
          <a:bodyPr wrap="square" lIns="0" tIns="0" rIns="0" bIns="0">
            <a:spAutoFit/>
          </a:bodyPr>
          <a:lstStyle/>
          <a:p>
            <a:pPr>
              <a:defRPr sz="3600" b="1">
                <a:solidFill>
                  <a:srgbClr val="FFFFFF"/>
                </a:solidFill>
                <a:latin typeface="Segoe UI"/>
              </a:defRPr>
            </a:pPr>
            <a:r>
              <a:t>DockGuard AI</a:t>
            </a:r>
          </a:p>
          <a:p>
            <a:pPr>
              <a:spcBef>
                <a:spcPts val="300"/>
              </a:spcBef>
              <a:defRPr sz="1650" b="1">
                <a:solidFill>
                  <a:srgbClr val="38BDF8"/>
                </a:solidFill>
                <a:latin typeface="Segoe UI"/>
              </a:defRPr>
            </a:pPr>
            <a:r>
              <a:t>Because gravity shouldn't win on the warehouse loading dock.</a:t>
            </a:r>
          </a:p>
        </p:txBody>
      </p:sp>
      <p:sp>
        <p:nvSpPr>
          <p:cNvPr id="4" name="Rectangle 3"/>
          <p:cNvSpPr/>
          <p:nvPr/>
        </p:nvSpPr>
        <p:spPr>
          <a:xfrm>
            <a:off x="731520" y="1901952"/>
            <a:ext cx="10728655" cy="1170432"/>
          </a:xfrm>
          <a:prstGeom prst="rect">
            <a:avLst/>
          </a:prstGeom>
          <a:solidFill>
            <a:srgbClr val="102C5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901952"/>
            <a:ext cx="36576" cy="117043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93392"/>
            <a:ext cx="10287000" cy="987552"/>
          </a:xfrm>
          <a:prstGeom prst="rect">
            <a:avLst/>
          </a:prstGeom>
          <a:noFill/>
        </p:spPr>
        <p:txBody>
          <a:bodyPr wrap="square" lIns="0" tIns="0" rIns="0" bIns="0">
            <a:spAutoFit/>
          </a:bodyPr>
          <a:lstStyle/>
          <a:p>
            <a:pPr>
              <a:defRPr sz="1100" b="1">
                <a:solidFill>
                  <a:srgbClr val="7DD3FC"/>
                </a:solidFill>
                <a:latin typeface="Segoe UI"/>
              </a:defRPr>
            </a:pPr>
            <a:r>
              <a:t>THE 10-SECOND PITCH</a:t>
            </a:r>
          </a:p>
          <a:p>
            <a:pPr>
              <a:spcBef>
                <a:spcPts val="400"/>
              </a:spcBef>
              <a:defRPr sz="1150">
                <a:solidFill>
                  <a:srgbClr val="E2E8F0"/>
                </a:solidFill>
                <a:latin typeface="Segoe UI"/>
              </a:defRPr>
            </a:pPr>
            <a:r>
              <a:t>Ever opened an online order to find your new gadget smashed into puzzle pieces? It almost never happens in the delivery van. It happens in the 4:00 PM warehouse rush where boxes fly, pallets wobble, and nobody notices. We built DockGuard to watch CCTV feeds in real time, catch drops and rough drags in seconds, and make sure damaged boxes never leave the building.</a:t>
            </a:r>
          </a:p>
        </p:txBody>
      </p:sp>
      <p:sp>
        <p:nvSpPr>
          <p:cNvPr id="7" name="Rectangle 6"/>
          <p:cNvSpPr/>
          <p:nvPr/>
        </p:nvSpPr>
        <p:spPr>
          <a:xfrm>
            <a:off x="731520" y="3218688"/>
            <a:ext cx="5230368" cy="3310128"/>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218688"/>
            <a:ext cx="5230368" cy="3200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383280"/>
            <a:ext cx="4773168" cy="2990088"/>
          </a:xfrm>
          <a:prstGeom prst="rect">
            <a:avLst/>
          </a:prstGeom>
          <a:noFill/>
        </p:spPr>
        <p:txBody>
          <a:bodyPr wrap="square" lIns="0" tIns="0" rIns="0" bIns="0">
            <a:spAutoFit/>
          </a:bodyPr>
          <a:lstStyle/>
          <a:p>
            <a:pPr>
              <a:defRPr sz="1400" b="1">
                <a:solidFill>
                  <a:srgbClr val="38BDF8"/>
                </a:solidFill>
                <a:latin typeface="Segoe UI"/>
              </a:defRPr>
            </a:pPr>
            <a:r>
              <a:t>THE SQUAD: TEAM VISIONGUARD</a:t>
            </a:r>
          </a:p>
          <a:p>
            <a:pPr>
              <a:spcBef>
                <a:spcPts val="800"/>
              </a:spcBef>
              <a:defRPr sz="1200" b="1">
                <a:solidFill>
                  <a:srgbClr val="FFFFFF"/>
                </a:solidFill>
                <a:latin typeface="Segoe UI"/>
              </a:defRPr>
            </a:pPr>
            <a:r>
              <a:t>• Aastha Gupta  —  </a:t>
            </a:r>
            <a:r>
              <a:rPr b="1">
                <a:solidFill>
                  <a:srgbClr val="38BDF8"/>
                </a:solidFill>
              </a:rPr>
              <a:t>[Vision Whisperer]</a:t>
            </a:r>
          </a:p>
          <a:p>
            <a:pPr>
              <a:spcBef>
                <a:spcPts val="100"/>
              </a:spcBef>
              <a:defRPr sz="1050">
                <a:solidFill>
                  <a:srgbClr val="CBD5E1"/>
                </a:solidFill>
                <a:latin typeface="Segoe UI"/>
              </a:defRPr>
            </a:pPr>
            <a:r>
              <a:t>   Trained our custom YOLOv8 model to spot cartons, pallets &amp; workers at awkward angles</a:t>
            </a:r>
          </a:p>
          <a:p>
            <a:pPr>
              <a:spcBef>
                <a:spcPts val="800"/>
              </a:spcBef>
              <a:defRPr sz="1200" b="1">
                <a:solidFill>
                  <a:srgbClr val="FFFFFF"/>
                </a:solidFill>
                <a:latin typeface="Segoe UI"/>
              </a:defRPr>
            </a:pPr>
            <a:r>
              <a:t>• Lucky Lakhani  —  </a:t>
            </a:r>
            <a:r>
              <a:rPr b="1">
                <a:solidFill>
                  <a:srgbClr val="38BDF8"/>
                </a:solidFill>
              </a:rPr>
              <a:t>[Pipeline &amp; AI Hacker]</a:t>
            </a:r>
          </a:p>
          <a:p>
            <a:pPr>
              <a:spcBef>
                <a:spcPts val="100"/>
              </a:spcBef>
              <a:defRPr sz="1050">
                <a:solidFill>
                  <a:srgbClr val="CBD5E1"/>
                </a:solidFill>
                <a:latin typeface="Segoe UI"/>
              </a:defRPr>
            </a:pPr>
            <a:r>
              <a:t>   Built the sub-second video buffer, FastAPI endpoints &amp; connected Google Gemini</a:t>
            </a:r>
          </a:p>
          <a:p>
            <a:pPr>
              <a:spcBef>
                <a:spcPts val="800"/>
              </a:spcBef>
              <a:defRPr sz="1200" b="1">
                <a:solidFill>
                  <a:srgbClr val="FFFFFF"/>
                </a:solidFill>
                <a:latin typeface="Segoe UI"/>
              </a:defRPr>
            </a:pPr>
            <a:r>
              <a:t>• Runjan Bawa  —  </a:t>
            </a:r>
            <a:r>
              <a:rPr b="1">
                <a:solidFill>
                  <a:srgbClr val="38BDF8"/>
                </a:solidFill>
              </a:rPr>
              <a:t>[UI &amp; Experience Builder]</a:t>
            </a:r>
          </a:p>
          <a:p>
            <a:pPr>
              <a:spcBef>
                <a:spcPts val="100"/>
              </a:spcBef>
              <a:defRPr sz="1050">
                <a:solidFill>
                  <a:srgbClr val="CBD5E1"/>
                </a:solidFill>
                <a:latin typeface="Segoe UI"/>
              </a:defRPr>
            </a:pPr>
            <a:r>
              <a:t>   Crafted the live dashboard, audio chimes, trend charts &amp; made it look clean</a:t>
            </a:r>
          </a:p>
        </p:txBody>
      </p:sp>
      <p:sp>
        <p:nvSpPr>
          <p:cNvPr id="10" name="Rectangle 9"/>
          <p:cNvSpPr/>
          <p:nvPr/>
        </p:nvSpPr>
        <p:spPr>
          <a:xfrm>
            <a:off x="6229807" y="3218688"/>
            <a:ext cx="5230368" cy="3310128"/>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29807" y="3218688"/>
            <a:ext cx="5230368" cy="32004"/>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8407" y="3383280"/>
            <a:ext cx="4773168" cy="2990088"/>
          </a:xfrm>
          <a:prstGeom prst="rect">
            <a:avLst/>
          </a:prstGeom>
          <a:noFill/>
        </p:spPr>
        <p:txBody>
          <a:bodyPr wrap="square" lIns="0" tIns="0" rIns="0" bIns="0">
            <a:spAutoFit/>
          </a:bodyPr>
          <a:lstStyle/>
          <a:p>
            <a:pPr>
              <a:defRPr sz="1400" b="1">
                <a:solidFill>
                  <a:srgbClr val="7DD3FC"/>
                </a:solidFill>
                <a:latin typeface="Segoe UI"/>
              </a:defRPr>
            </a:pPr>
            <a:r>
              <a:t>WHY THIS ACTUALLY MATTERS</a:t>
            </a:r>
          </a:p>
          <a:p>
            <a:pPr>
              <a:spcBef>
                <a:spcPts val="800"/>
              </a:spcBef>
              <a:defRPr sz="1200" b="1">
                <a:solidFill>
                  <a:srgbClr val="FFFFFF"/>
                </a:solidFill>
                <a:latin typeface="Segoe UI"/>
              </a:defRPr>
            </a:pPr>
            <a:r>
              <a:t>• $50B+ Annual Lost Cargo: </a:t>
            </a:r>
            <a:r>
              <a:rPr b="0">
                <a:solidFill>
                  <a:srgbClr val="CBD5E1"/>
                </a:solidFill>
              </a:rPr>
              <a:t>That's how much merchandise gets wrecked in warehouses before even making it onto the highway. Most of it goes completely unrecorded.</a:t>
            </a:r>
          </a:p>
          <a:p>
            <a:pPr>
              <a:spcBef>
                <a:spcPts val="800"/>
              </a:spcBef>
              <a:defRPr sz="1200" b="1">
                <a:solidFill>
                  <a:srgbClr val="FFFFFF"/>
                </a:solidFill>
                <a:latin typeface="Segoe UI"/>
              </a:defRPr>
            </a:pPr>
            <a:r>
              <a:t>• Human Eyes Can't Keep Up: </a:t>
            </a:r>
            <a:r>
              <a:rPr b="0">
                <a:solidFill>
                  <a:srgbClr val="CBD5E1"/>
                </a:solidFill>
              </a:rPr>
              <a:t>A single supervisor can't watch 10 bays, 40 fast-moving workers, and forklift traffic all at once. Blame turns into guessing games.</a:t>
            </a:r>
          </a:p>
          <a:p>
            <a:pPr>
              <a:spcBef>
                <a:spcPts val="800"/>
              </a:spcBef>
              <a:defRPr sz="1200" b="1">
                <a:solidFill>
                  <a:srgbClr val="FFFFFF"/>
                </a:solidFill>
                <a:latin typeface="Segoe UI"/>
              </a:defRPr>
            </a:pPr>
            <a:r>
              <a:t>• Catching It at the Dock: </a:t>
            </a:r>
            <a:r>
              <a:rPr b="0">
                <a:solidFill>
                  <a:srgbClr val="CBD5E1"/>
                </a:solidFill>
              </a:rPr>
              <a:t>If you catch a cracked box before it's loaded into the trailer, replacing it costs $10. If it reaches the customer, it costs $200+ and a bad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flip="none" rotWithShape="1">
          <a:gsLst>
            <a:gs pos="0">
              <a:srgbClr val="060F1E"/>
            </a:gs>
            <a:gs pos="38000">
              <a:srgbClr val="0A213D"/>
            </a:gs>
            <a:gs pos="75000">
              <a:srgbClr val="113665"/>
            </a:gs>
            <a:gs pos="100000">
              <a:srgbClr val="07182E"/>
            </a:gs>
          </a:gsLst>
          <a:lin ang="3240000" scaled="1"/>
        </a:gradFill>
        <a:effectLst/>
      </p:bgPr>
    </p:bg>
    <p:spTree>
      <p:nvGrpSpPr>
        <p:cNvPr id="1" name=""/>
        <p:cNvGrpSpPr/>
        <p:nvPr/>
      </p:nvGrpSpPr>
      <p:grpSpPr/>
      <p:sp>
        <p:nvSpPr>
          <p:cNvPr id="2" name="TextBox 1"/>
          <p:cNvSpPr txBox="1"/>
          <p:nvPr/>
        </p:nvSpPr>
        <p:spPr>
          <a:xfrm>
            <a:off x="731520" y="347472"/>
            <a:ext cx="5943600" cy="256032"/>
          </a:xfrm>
          <a:prstGeom prst="rect">
            <a:avLst/>
          </a:prstGeom>
          <a:noFill/>
        </p:spPr>
        <p:txBody>
          <a:bodyPr wrap="none" lIns="0" tIns="0" rIns="0" bIns="0">
            <a:spAutoFit/>
          </a:bodyPr>
          <a:lstStyle/>
          <a:p>
            <a:pPr>
              <a:defRPr sz="1100" b="1">
                <a:solidFill>
                  <a:srgbClr val="38BDF8"/>
                </a:solidFill>
                <a:latin typeface="Segoe UI"/>
              </a:defRPr>
            </a:pPr>
            <a:r>
              <a:t>02  /  PROBLEM, SOLUTION &amp; USER JOURNEY</a:t>
            </a:r>
          </a:p>
        </p:txBody>
      </p:sp>
      <p:sp>
        <p:nvSpPr>
          <p:cNvPr id="3" name="TextBox 2"/>
          <p:cNvSpPr txBox="1"/>
          <p:nvPr/>
        </p:nvSpPr>
        <p:spPr>
          <a:xfrm>
            <a:off x="731520" y="621792"/>
            <a:ext cx="10728655" cy="502920"/>
          </a:xfrm>
          <a:prstGeom prst="rect">
            <a:avLst/>
          </a:prstGeom>
          <a:noFill/>
        </p:spPr>
        <p:txBody>
          <a:bodyPr wrap="square" lIns="0" tIns="0" rIns="0" bIns="0">
            <a:spAutoFit/>
          </a:bodyPr>
          <a:lstStyle/>
          <a:p>
            <a:pPr>
              <a:defRPr sz="2500" b="1">
                <a:solidFill>
                  <a:srgbClr val="FFFFFF"/>
                </a:solidFill>
                <a:latin typeface="Segoe UI"/>
              </a:defRPr>
            </a:pPr>
            <a:r>
              <a:t>The Mystery of the Smashed Box (And How We Catch It)</a:t>
            </a:r>
          </a:p>
        </p:txBody>
      </p:sp>
      <p:sp>
        <p:nvSpPr>
          <p:cNvPr id="4" name="Rectangle 3"/>
          <p:cNvSpPr/>
          <p:nvPr/>
        </p:nvSpPr>
        <p:spPr>
          <a:xfrm>
            <a:off x="731520" y="1170432"/>
            <a:ext cx="10728655" cy="13716"/>
          </a:xfrm>
          <a:prstGeom prst="rect">
            <a:avLst/>
          </a:prstGeom>
          <a:solidFill>
            <a:srgbClr val="1C3E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53312"/>
            <a:ext cx="1444752" cy="1115568"/>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53312"/>
            <a:ext cx="1444752" cy="32004"/>
          </a:xfrm>
          <a:prstGeom prst="rect">
            <a:avLst/>
          </a:prstGeom>
          <a:solidFill>
            <a:srgbClr val="1C3E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444752"/>
            <a:ext cx="1335024" cy="960120"/>
          </a:xfrm>
          <a:prstGeom prst="rect">
            <a:avLst/>
          </a:prstGeom>
          <a:noFill/>
        </p:spPr>
        <p:txBody>
          <a:bodyPr wrap="square" lIns="0" tIns="0" rIns="0" bIns="0">
            <a:spAutoFit/>
          </a:bodyPr>
          <a:lstStyle/>
          <a:p>
            <a:pPr algn="ctr">
              <a:defRPr sz="1200" b="1">
                <a:solidFill>
                  <a:srgbClr val="FFFFFF"/>
                </a:solidFill>
                <a:latin typeface="Segoe UI"/>
              </a:defRPr>
            </a:pPr>
            <a:r>
              <a:t>1. Loading Bay</a:t>
            </a:r>
          </a:p>
          <a:p>
            <a:pPr algn="ctr">
              <a:spcBef>
                <a:spcPts val="300"/>
              </a:spcBef>
              <a:defRPr sz="1000">
                <a:solidFill>
                  <a:srgbClr val="E2E8F0"/>
                </a:solidFill>
                <a:latin typeface="Segoe UI"/>
              </a:defRPr>
            </a:pPr>
            <a:r>
              <a:t>Cartons loaded into trucks</a:t>
            </a:r>
          </a:p>
        </p:txBody>
      </p:sp>
      <p:sp>
        <p:nvSpPr>
          <p:cNvPr id="8" name="Rectangle 7"/>
          <p:cNvSpPr/>
          <p:nvPr/>
        </p:nvSpPr>
        <p:spPr>
          <a:xfrm>
            <a:off x="2276856" y="1353312"/>
            <a:ext cx="1444752" cy="1115568"/>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76856" y="1353312"/>
            <a:ext cx="1444752" cy="32004"/>
          </a:xfrm>
          <a:prstGeom prst="rect">
            <a:avLst/>
          </a:prstGeom>
          <a:solidFill>
            <a:srgbClr val="1C3E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1444752"/>
            <a:ext cx="1335024" cy="960120"/>
          </a:xfrm>
          <a:prstGeom prst="rect">
            <a:avLst/>
          </a:prstGeom>
          <a:noFill/>
        </p:spPr>
        <p:txBody>
          <a:bodyPr wrap="square" lIns="0" tIns="0" rIns="0" bIns="0">
            <a:spAutoFit/>
          </a:bodyPr>
          <a:lstStyle/>
          <a:p>
            <a:pPr algn="ctr">
              <a:defRPr sz="1200" b="1">
                <a:solidFill>
                  <a:srgbClr val="FFFFFF"/>
                </a:solidFill>
                <a:latin typeface="Segoe UI"/>
              </a:defRPr>
            </a:pPr>
            <a:r>
              <a:t>2. CCTV Camera</a:t>
            </a:r>
          </a:p>
          <a:p>
            <a:pPr algn="ctr">
              <a:spcBef>
                <a:spcPts val="300"/>
              </a:spcBef>
              <a:defRPr sz="1000">
                <a:solidFill>
                  <a:srgbClr val="E2E8F0"/>
                </a:solidFill>
                <a:latin typeface="Segoe UI"/>
              </a:defRPr>
            </a:pPr>
            <a:r>
              <a:t>Standard security camera</a:t>
            </a:r>
          </a:p>
        </p:txBody>
      </p:sp>
      <p:sp>
        <p:nvSpPr>
          <p:cNvPr id="11" name="Rectangle 10"/>
          <p:cNvSpPr/>
          <p:nvPr/>
        </p:nvSpPr>
        <p:spPr>
          <a:xfrm>
            <a:off x="3822192" y="1353312"/>
            <a:ext cx="1444752" cy="1115568"/>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22192" y="1353312"/>
            <a:ext cx="1444752" cy="32004"/>
          </a:xfrm>
          <a:prstGeom prst="rect">
            <a:avLst/>
          </a:prstGeom>
          <a:solidFill>
            <a:srgbClr val="1C3E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77056" y="1444752"/>
            <a:ext cx="1335024" cy="960120"/>
          </a:xfrm>
          <a:prstGeom prst="rect">
            <a:avLst/>
          </a:prstGeom>
          <a:noFill/>
        </p:spPr>
        <p:txBody>
          <a:bodyPr wrap="square" lIns="0" tIns="0" rIns="0" bIns="0">
            <a:spAutoFit/>
          </a:bodyPr>
          <a:lstStyle/>
          <a:p>
            <a:pPr algn="ctr">
              <a:defRPr sz="1200" b="1">
                <a:solidFill>
                  <a:srgbClr val="FFFFFF"/>
                </a:solidFill>
                <a:latin typeface="Segoe UI"/>
              </a:defRPr>
            </a:pPr>
            <a:r>
              <a:t>3. AI Eyes</a:t>
            </a:r>
          </a:p>
          <a:p>
            <a:pPr algn="ctr">
              <a:spcBef>
                <a:spcPts val="300"/>
              </a:spcBef>
              <a:defRPr sz="1000">
                <a:solidFill>
                  <a:srgbClr val="E2E8F0"/>
                </a:solidFill>
                <a:latin typeface="Segoe UI"/>
              </a:defRPr>
            </a:pPr>
            <a:r>
              <a:t>YOLOv8 tracks every box</a:t>
            </a:r>
          </a:p>
        </p:txBody>
      </p:sp>
      <p:sp>
        <p:nvSpPr>
          <p:cNvPr id="14" name="Rectangle 13"/>
          <p:cNvSpPr/>
          <p:nvPr/>
        </p:nvSpPr>
        <p:spPr>
          <a:xfrm>
            <a:off x="5367528" y="1353312"/>
            <a:ext cx="1444752" cy="1115568"/>
          </a:xfrm>
          <a:prstGeom prst="rect">
            <a:avLst/>
          </a:prstGeom>
          <a:solidFill>
            <a:srgbClr val="102C5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67528" y="1353312"/>
            <a:ext cx="1444752" cy="3200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22392" y="1444752"/>
            <a:ext cx="1335024" cy="960120"/>
          </a:xfrm>
          <a:prstGeom prst="rect">
            <a:avLst/>
          </a:prstGeom>
          <a:noFill/>
        </p:spPr>
        <p:txBody>
          <a:bodyPr wrap="square" lIns="0" tIns="0" rIns="0" bIns="0">
            <a:spAutoFit/>
          </a:bodyPr>
          <a:lstStyle/>
          <a:p>
            <a:pPr algn="ctr">
              <a:defRPr sz="1200" b="1">
                <a:solidFill>
                  <a:srgbClr val="38BDF8"/>
                </a:solidFill>
                <a:latin typeface="Segoe UI"/>
              </a:defRPr>
            </a:pPr>
            <a:r>
              <a:t>4. Danger!</a:t>
            </a:r>
          </a:p>
          <a:p>
            <a:pPr algn="ctr">
              <a:spcBef>
                <a:spcPts val="300"/>
              </a:spcBef>
              <a:defRPr sz="1000">
                <a:solidFill>
                  <a:srgbClr val="E2E8F0"/>
                </a:solidFill>
                <a:latin typeface="Segoe UI"/>
              </a:defRPr>
            </a:pPr>
            <a:r>
              <a:t>Speed spike or drag flagged</a:t>
            </a:r>
          </a:p>
        </p:txBody>
      </p:sp>
      <p:sp>
        <p:nvSpPr>
          <p:cNvPr id="17" name="Rectangle 16"/>
          <p:cNvSpPr/>
          <p:nvPr/>
        </p:nvSpPr>
        <p:spPr>
          <a:xfrm>
            <a:off x="6912864" y="1353312"/>
            <a:ext cx="1444752" cy="1115568"/>
          </a:xfrm>
          <a:prstGeom prst="rect">
            <a:avLst/>
          </a:prstGeom>
          <a:solidFill>
            <a:srgbClr val="102C5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12864" y="1353312"/>
            <a:ext cx="1444752" cy="3200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67728" y="1444752"/>
            <a:ext cx="1335024" cy="960120"/>
          </a:xfrm>
          <a:prstGeom prst="rect">
            <a:avLst/>
          </a:prstGeom>
          <a:noFill/>
        </p:spPr>
        <p:txBody>
          <a:bodyPr wrap="square" lIns="0" tIns="0" rIns="0" bIns="0">
            <a:spAutoFit/>
          </a:bodyPr>
          <a:lstStyle/>
          <a:p>
            <a:pPr algn="ctr">
              <a:defRPr sz="1200" b="1">
                <a:solidFill>
                  <a:srgbClr val="38BDF8"/>
                </a:solidFill>
                <a:latin typeface="Segoe UI"/>
              </a:defRPr>
            </a:pPr>
            <a:r>
              <a:t>5. Friendly Chime</a:t>
            </a:r>
          </a:p>
          <a:p>
            <a:pPr algn="ctr">
              <a:spcBef>
                <a:spcPts val="300"/>
              </a:spcBef>
              <a:defRPr sz="1000">
                <a:solidFill>
                  <a:srgbClr val="E2E8F0"/>
                </a:solidFill>
                <a:latin typeface="Segoe UI"/>
              </a:defRPr>
            </a:pPr>
            <a:r>
              <a:t>Polite sound alert at bay</a:t>
            </a:r>
          </a:p>
        </p:txBody>
      </p:sp>
      <p:sp>
        <p:nvSpPr>
          <p:cNvPr id="20" name="Rectangle 19"/>
          <p:cNvSpPr/>
          <p:nvPr/>
        </p:nvSpPr>
        <p:spPr>
          <a:xfrm>
            <a:off x="8458200" y="1353312"/>
            <a:ext cx="1444752" cy="1115568"/>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58200" y="1353312"/>
            <a:ext cx="1444752" cy="32004"/>
          </a:xfrm>
          <a:prstGeom prst="rect">
            <a:avLst/>
          </a:prstGeom>
          <a:solidFill>
            <a:srgbClr val="1C3E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13064" y="1444752"/>
            <a:ext cx="1335024" cy="960120"/>
          </a:xfrm>
          <a:prstGeom prst="rect">
            <a:avLst/>
          </a:prstGeom>
          <a:noFill/>
        </p:spPr>
        <p:txBody>
          <a:bodyPr wrap="square" lIns="0" tIns="0" rIns="0" bIns="0">
            <a:spAutoFit/>
          </a:bodyPr>
          <a:lstStyle/>
          <a:p>
            <a:pPr algn="ctr">
              <a:defRPr sz="1200" b="1">
                <a:solidFill>
                  <a:srgbClr val="FFFFFF"/>
                </a:solidFill>
                <a:latin typeface="Segoe UI"/>
              </a:defRPr>
            </a:pPr>
            <a:r>
              <a:t>6. Quick Check</a:t>
            </a:r>
          </a:p>
          <a:p>
            <a:pPr algn="ctr">
              <a:spcBef>
                <a:spcPts val="300"/>
              </a:spcBef>
              <a:defRPr sz="1000">
                <a:solidFill>
                  <a:srgbClr val="E2E8F0"/>
                </a:solidFill>
                <a:latin typeface="Segoe UI"/>
              </a:defRPr>
            </a:pPr>
            <a:r>
              <a:t>Worker inspects &amp; resets</a:t>
            </a:r>
          </a:p>
        </p:txBody>
      </p:sp>
      <p:sp>
        <p:nvSpPr>
          <p:cNvPr id="23" name="Rectangle 22"/>
          <p:cNvSpPr/>
          <p:nvPr/>
        </p:nvSpPr>
        <p:spPr>
          <a:xfrm>
            <a:off x="10003536" y="1353312"/>
            <a:ext cx="1444752" cy="1115568"/>
          </a:xfrm>
          <a:prstGeom prst="rect">
            <a:avLst/>
          </a:prstGeom>
          <a:solidFill>
            <a:srgbClr val="102C5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03536" y="1353312"/>
            <a:ext cx="1444752" cy="3200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0" y="1444752"/>
            <a:ext cx="1335024" cy="960120"/>
          </a:xfrm>
          <a:prstGeom prst="rect">
            <a:avLst/>
          </a:prstGeom>
          <a:noFill/>
        </p:spPr>
        <p:txBody>
          <a:bodyPr wrap="square" lIns="0" tIns="0" rIns="0" bIns="0">
            <a:spAutoFit/>
          </a:bodyPr>
          <a:lstStyle/>
          <a:p>
            <a:pPr algn="ctr">
              <a:defRPr sz="1200" b="1">
                <a:solidFill>
                  <a:srgbClr val="38BDF8"/>
                </a:solidFill>
                <a:latin typeface="Segoe UI"/>
              </a:defRPr>
            </a:pPr>
            <a:r>
              <a:t>7. Zero Damage</a:t>
            </a:r>
          </a:p>
          <a:p>
            <a:pPr algn="ctr">
              <a:spcBef>
                <a:spcPts val="300"/>
              </a:spcBef>
              <a:defRPr sz="1000">
                <a:solidFill>
                  <a:srgbClr val="E2E8F0"/>
                </a:solidFill>
                <a:latin typeface="Segoe UI"/>
              </a:defRPr>
            </a:pPr>
            <a:r>
              <a:t>Shipment leaves 100% intact</a:t>
            </a:r>
          </a:p>
        </p:txBody>
      </p:sp>
      <p:sp>
        <p:nvSpPr>
          <p:cNvPr id="26" name="Rectangle 25"/>
          <p:cNvSpPr/>
          <p:nvPr/>
        </p:nvSpPr>
        <p:spPr>
          <a:xfrm>
            <a:off x="731520" y="2633472"/>
            <a:ext cx="5230368" cy="3977639"/>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2633472"/>
            <a:ext cx="5230368"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2798064"/>
            <a:ext cx="4773168" cy="3657599"/>
          </a:xfrm>
          <a:prstGeom prst="rect">
            <a:avLst/>
          </a:prstGeom>
          <a:noFill/>
        </p:spPr>
        <p:txBody>
          <a:bodyPr wrap="square" lIns="0" tIns="0" rIns="0" bIns="0">
            <a:spAutoFit/>
          </a:bodyPr>
          <a:lstStyle/>
          <a:p>
            <a:pPr>
              <a:defRPr sz="1400" b="1">
                <a:solidFill>
                  <a:srgbClr val="38BDF8"/>
                </a:solidFill>
                <a:latin typeface="Segoe UI"/>
              </a:defRPr>
            </a:pPr>
            <a:r>
              <a:t>THE LOADER'S STORY: Ramesh at Loading Bay 3</a:t>
            </a:r>
          </a:p>
          <a:p>
            <a:pPr>
              <a:spcBef>
                <a:spcPts val="600"/>
              </a:spcBef>
              <a:defRPr sz="1100" b="1">
                <a:solidFill>
                  <a:srgbClr val="FFFFFF"/>
                </a:solidFill>
                <a:latin typeface="Segoe UI"/>
              </a:defRPr>
            </a:pPr>
            <a:r>
              <a:t>• The Rush: </a:t>
            </a:r>
            <a:r>
              <a:rPr b="0">
                <a:solidFill>
                  <a:srgbClr val="CBD5E1"/>
                </a:solidFill>
              </a:rPr>
              <a:t>It's 4:15 PM, 34°C, and Ramesh has 45 minutes to finish packing a 40-foot trailer.</a:t>
            </a:r>
          </a:p>
          <a:p>
            <a:pPr>
              <a:spcBef>
                <a:spcPts val="600"/>
              </a:spcBef>
              <a:defRPr sz="1100" b="1">
                <a:solidFill>
                  <a:srgbClr val="FFFFFF"/>
                </a:solidFill>
                <a:latin typeface="Segoe UI"/>
              </a:defRPr>
            </a:pPr>
            <a:r>
              <a:t>• The Slip: </a:t>
            </a:r>
            <a:r>
              <a:rPr b="0">
                <a:solidFill>
                  <a:srgbClr val="CBD5E1"/>
                </a:solidFill>
              </a:rPr>
              <a:t>He tries lifting a 25kg crate without a partner. His grip slips, and the box crashes 1.2 meters to the concrete.</a:t>
            </a:r>
          </a:p>
          <a:p>
            <a:pPr>
              <a:spcBef>
                <a:spcPts val="600"/>
              </a:spcBef>
              <a:defRPr sz="1100" b="1">
                <a:solidFill>
                  <a:srgbClr val="FFFFFF"/>
                </a:solidFill>
                <a:latin typeface="Segoe UI"/>
              </a:defRPr>
            </a:pPr>
            <a:r>
              <a:t>• No Panic Siren: </a:t>
            </a:r>
            <a:r>
              <a:rPr b="0">
                <a:solidFill>
                  <a:srgbClr val="CBD5E1"/>
                </a:solidFill>
              </a:rPr>
              <a:t>Instead of an ear-piercing fire alarm that makes everyone freeze, a friendly, microwave-style *ding* chimes at Bay 3, and his dock screen flashes yellow.</a:t>
            </a:r>
          </a:p>
          <a:p>
            <a:pPr>
              <a:spcBef>
                <a:spcPts val="600"/>
              </a:spcBef>
              <a:defRPr sz="1100" b="1">
                <a:solidFill>
                  <a:srgbClr val="FFFFFF"/>
                </a:solidFill>
                <a:latin typeface="Segoe UI"/>
              </a:defRPr>
            </a:pPr>
            <a:r>
              <a:t>• What He Does: </a:t>
            </a:r>
            <a:r>
              <a:rPr b="0">
                <a:solidFill>
                  <a:srgbClr val="CBD5E1"/>
                </a:solidFill>
              </a:rPr>
              <a:t>Instead of sheepishly hiding the box in the back of the truck, Ramesh stops, inspects the tape, calls his teammate for a 2-person lift, and sets the item aside.</a:t>
            </a:r>
          </a:p>
          <a:p>
            <a:pPr>
              <a:spcBef>
                <a:spcPts val="600"/>
              </a:spcBef>
              <a:defRPr sz="1100" b="1">
                <a:solidFill>
                  <a:srgbClr val="FFFFFF"/>
                </a:solidFill>
                <a:latin typeface="Segoe UI"/>
              </a:defRPr>
            </a:pPr>
            <a:r>
              <a:t>• The Win: </a:t>
            </a:r>
            <a:r>
              <a:rPr b="0">
                <a:solidFill>
                  <a:srgbClr val="CBD5E1"/>
                </a:solidFill>
              </a:rPr>
              <a:t>No broken microwave sent to a customer, and Ramesh learns to ask for a hand with heavy loads.</a:t>
            </a:r>
          </a:p>
        </p:txBody>
      </p:sp>
      <p:sp>
        <p:nvSpPr>
          <p:cNvPr id="29" name="Rectangle 28"/>
          <p:cNvSpPr/>
          <p:nvPr/>
        </p:nvSpPr>
        <p:spPr>
          <a:xfrm>
            <a:off x="6229807" y="2633472"/>
            <a:ext cx="5230368" cy="3977639"/>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29807" y="2633472"/>
            <a:ext cx="5230368" cy="36576"/>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8407" y="2798064"/>
            <a:ext cx="4773168" cy="3657599"/>
          </a:xfrm>
          <a:prstGeom prst="rect">
            <a:avLst/>
          </a:prstGeom>
          <a:noFill/>
        </p:spPr>
        <p:txBody>
          <a:bodyPr wrap="square" lIns="0" tIns="0" rIns="0" bIns="0">
            <a:spAutoFit/>
          </a:bodyPr>
          <a:lstStyle/>
          <a:p>
            <a:pPr>
              <a:defRPr sz="1400" b="1">
                <a:solidFill>
                  <a:srgbClr val="7DD3FC"/>
                </a:solidFill>
                <a:latin typeface="Segoe UI"/>
              </a:defRPr>
            </a:pPr>
            <a:r>
              <a:t>THE SUPERVISOR'S STORY: Pooja with her iPad</a:t>
            </a:r>
          </a:p>
          <a:p>
            <a:pPr>
              <a:spcBef>
                <a:spcPts val="600"/>
              </a:spcBef>
              <a:defRPr sz="1100" b="1">
                <a:solidFill>
                  <a:srgbClr val="FFFFFF"/>
                </a:solidFill>
                <a:latin typeface="Segoe UI"/>
              </a:defRPr>
            </a:pPr>
            <a:r>
              <a:t>• The Daily Nightmare: </a:t>
            </a:r>
            <a:r>
              <a:rPr b="0">
                <a:solidFill>
                  <a:srgbClr val="CBD5E1"/>
                </a:solidFill>
              </a:rPr>
              <a:t>Pooja used to spend 45 minutes every evening fast-forwarding through blurry CCTV tapes trying to figure out who dropped a customer's TV.</a:t>
            </a:r>
          </a:p>
          <a:p>
            <a:pPr>
              <a:spcBef>
                <a:spcPts val="600"/>
              </a:spcBef>
              <a:defRPr sz="1100" b="1">
                <a:solidFill>
                  <a:srgbClr val="FFFFFF"/>
                </a:solidFill>
                <a:latin typeface="Segoe UI"/>
              </a:defRPr>
            </a:pPr>
            <a:r>
              <a:t>• Instant Notification: </a:t>
            </a:r>
            <a:r>
              <a:rPr b="0">
                <a:solidFill>
                  <a:srgbClr val="CBD5E1"/>
                </a:solidFill>
              </a:rPr>
              <a:t>Her tablet buzzes: 'Bay 3: High-Velocity Drop Flagged (10:14 AM)'.</a:t>
            </a:r>
          </a:p>
          <a:p>
            <a:pPr>
              <a:spcBef>
                <a:spcPts val="600"/>
              </a:spcBef>
              <a:defRPr sz="1100" b="1">
                <a:solidFill>
                  <a:srgbClr val="FFFFFF"/>
                </a:solidFill>
                <a:latin typeface="Segoe UI"/>
              </a:defRPr>
            </a:pPr>
            <a:r>
              <a:t>• TikTok-Length Replay: </a:t>
            </a:r>
            <a:r>
              <a:rPr b="0">
                <a:solidFill>
                  <a:srgbClr val="CBD5E1"/>
                </a:solidFill>
              </a:rPr>
              <a:t>She taps it and immediately watches a 5-second replay showing the carton falling, complete with bounding box tracking and impact velocity.</a:t>
            </a:r>
          </a:p>
          <a:p>
            <a:pPr>
              <a:spcBef>
                <a:spcPts val="600"/>
              </a:spcBef>
              <a:defRPr sz="1100" b="1">
                <a:solidFill>
                  <a:srgbClr val="FFFFFF"/>
                </a:solidFill>
                <a:latin typeface="Segoe UI"/>
              </a:defRPr>
            </a:pPr>
            <a:r>
              <a:t>• Quick Resolution: </a:t>
            </a:r>
            <a:r>
              <a:rPr b="0">
                <a:solidFill>
                  <a:srgbClr val="CBD5E1"/>
                </a:solidFill>
              </a:rPr>
              <a:t>She signs off on a packaging replacement in 10 seconds flat—no shouting matches, no guessing.</a:t>
            </a:r>
          </a:p>
          <a:p>
            <a:pPr>
              <a:spcBef>
                <a:spcPts val="600"/>
              </a:spcBef>
              <a:defRPr sz="1100" b="1">
                <a:solidFill>
                  <a:srgbClr val="FFFFFF"/>
                </a:solidFill>
                <a:latin typeface="Segoe UI"/>
              </a:defRPr>
            </a:pPr>
            <a:r>
              <a:t>• Asking the AI: </a:t>
            </a:r>
            <a:r>
              <a:rPr b="0">
                <a:solidFill>
                  <a:srgbClr val="CBD5E1"/>
                </a:solidFill>
              </a:rPr>
              <a:t>At the end of the week, she asks the Gemini chat: 'Which shift has the most drops?' and instantly gets an answer for Monday's safety huddle.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flip="none" rotWithShape="1">
          <a:gsLst>
            <a:gs pos="0">
              <a:srgbClr val="060F1E"/>
            </a:gs>
            <a:gs pos="38000">
              <a:srgbClr val="0A213D"/>
            </a:gs>
            <a:gs pos="75000">
              <a:srgbClr val="113665"/>
            </a:gs>
            <a:gs pos="100000">
              <a:srgbClr val="07182E"/>
            </a:gs>
          </a:gsLst>
          <a:lin ang="3240000" scaled="1"/>
        </a:gradFill>
        <a:effectLst/>
      </p:bgPr>
    </p:bg>
    <p:spTree>
      <p:nvGrpSpPr>
        <p:cNvPr id="1" name=""/>
        <p:cNvGrpSpPr/>
        <p:nvPr/>
      </p:nvGrpSpPr>
      <p:grpSpPr/>
      <p:sp>
        <p:nvSpPr>
          <p:cNvPr id="2" name="TextBox 1"/>
          <p:cNvSpPr txBox="1"/>
          <p:nvPr/>
        </p:nvSpPr>
        <p:spPr>
          <a:xfrm>
            <a:off x="731520" y="347472"/>
            <a:ext cx="5943600" cy="256032"/>
          </a:xfrm>
          <a:prstGeom prst="rect">
            <a:avLst/>
          </a:prstGeom>
          <a:noFill/>
        </p:spPr>
        <p:txBody>
          <a:bodyPr wrap="none" lIns="0" tIns="0" rIns="0" bIns="0">
            <a:spAutoFit/>
          </a:bodyPr>
          <a:lstStyle/>
          <a:p>
            <a:pPr>
              <a:defRPr sz="1100" b="1">
                <a:solidFill>
                  <a:srgbClr val="38BDF8"/>
                </a:solidFill>
                <a:latin typeface="Segoe UI"/>
              </a:defRPr>
            </a:pPr>
            <a:r>
              <a:t>03  /  TECHNICAL ARCHITECTURE &amp; TECH STACK</a:t>
            </a:r>
          </a:p>
        </p:txBody>
      </p:sp>
      <p:sp>
        <p:nvSpPr>
          <p:cNvPr id="3" name="TextBox 2"/>
          <p:cNvSpPr txBox="1"/>
          <p:nvPr/>
        </p:nvSpPr>
        <p:spPr>
          <a:xfrm>
            <a:off x="6858000" y="347472"/>
            <a:ext cx="4602175" cy="256032"/>
          </a:xfrm>
          <a:prstGeom prst="rect">
            <a:avLst/>
          </a:prstGeom>
          <a:noFill/>
        </p:spPr>
        <p:txBody>
          <a:bodyPr wrap="none" lIns="0" tIns="0" rIns="0" bIns="0">
            <a:spAutoFit/>
          </a:bodyPr>
          <a:lstStyle/>
          <a:p>
            <a:pPr algn="r">
              <a:defRPr sz="1050" b="1">
                <a:solidFill>
                  <a:srgbClr val="7DD3FC"/>
                </a:solidFill>
                <a:latin typeface="Segoe UI"/>
              </a:defRPr>
            </a:pPr>
            <a:r>
              <a:t>CONFIDENTIAL — HACKATHON PROJECT</a:t>
            </a:r>
          </a:p>
        </p:txBody>
      </p:sp>
      <p:sp>
        <p:nvSpPr>
          <p:cNvPr id="4" name="TextBox 3"/>
          <p:cNvSpPr txBox="1"/>
          <p:nvPr/>
        </p:nvSpPr>
        <p:spPr>
          <a:xfrm>
            <a:off x="731520" y="621792"/>
            <a:ext cx="10728655" cy="502920"/>
          </a:xfrm>
          <a:prstGeom prst="rect">
            <a:avLst/>
          </a:prstGeom>
          <a:noFill/>
        </p:spPr>
        <p:txBody>
          <a:bodyPr wrap="square" lIns="0" tIns="0" rIns="0" bIns="0">
            <a:spAutoFit/>
          </a:bodyPr>
          <a:lstStyle/>
          <a:p>
            <a:pPr>
              <a:defRPr sz="2500" b="1">
                <a:solidFill>
                  <a:srgbClr val="FFFFFF"/>
                </a:solidFill>
                <a:latin typeface="Segoe UI"/>
              </a:defRPr>
            </a:pPr>
            <a:r>
              <a:t>Under the Hood: How We Taught Cameras to Care About Boxes</a:t>
            </a:r>
          </a:p>
        </p:txBody>
      </p:sp>
      <p:sp>
        <p:nvSpPr>
          <p:cNvPr id="5" name="Rectangle 4"/>
          <p:cNvSpPr/>
          <p:nvPr/>
        </p:nvSpPr>
        <p:spPr>
          <a:xfrm>
            <a:off x="731520" y="1170432"/>
            <a:ext cx="10728655" cy="13716"/>
          </a:xfrm>
          <a:prstGeom prst="rect">
            <a:avLst/>
          </a:prstGeom>
          <a:solidFill>
            <a:srgbClr val="1C3E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53312"/>
            <a:ext cx="3410712" cy="2542032"/>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53312"/>
            <a:ext cx="3410712"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481328"/>
            <a:ext cx="3081528" cy="2286000"/>
          </a:xfrm>
          <a:prstGeom prst="rect">
            <a:avLst/>
          </a:prstGeom>
          <a:noFill/>
        </p:spPr>
        <p:txBody>
          <a:bodyPr wrap="square" lIns="0" tIns="0" rIns="0" bIns="0">
            <a:spAutoFit/>
          </a:bodyPr>
          <a:lstStyle/>
          <a:p>
            <a:pPr>
              <a:defRPr sz="1200" b="1">
                <a:solidFill>
                  <a:srgbClr val="38BDF8"/>
                </a:solidFill>
                <a:latin typeface="Segoe UI"/>
              </a:defRPr>
            </a:pPr>
            <a:r>
              <a:t>1. Computer Vision (YOLOv8 + ByteTrack)</a:t>
            </a:r>
          </a:p>
          <a:p>
            <a:pPr>
              <a:spcBef>
                <a:spcPts val="600"/>
              </a:spcBef>
              <a:defRPr sz="1050" b="1">
                <a:solidFill>
                  <a:srgbClr val="FFFFFF"/>
                </a:solidFill>
                <a:latin typeface="Segoe UI"/>
              </a:defRPr>
            </a:pPr>
            <a:r>
              <a:t>• The Model: </a:t>
            </a:r>
            <a:r>
              <a:rPr b="0">
                <a:solidFill>
                  <a:srgbClr val="CBD5E1"/>
                </a:solidFill>
              </a:rPr>
              <a:t>Ultralytics YOLOv8 fine-tuned on warehouse objects.</a:t>
            </a:r>
          </a:p>
          <a:p>
            <a:pPr>
              <a:spcBef>
                <a:spcPts val="600"/>
              </a:spcBef>
              <a:defRPr sz="1050" b="1">
                <a:solidFill>
                  <a:srgbClr val="FFFFFF"/>
                </a:solidFill>
                <a:latin typeface="Segoe UI"/>
              </a:defRPr>
            </a:pPr>
            <a:r>
              <a:t>• What it sees: </a:t>
            </a:r>
            <a:r>
              <a:rPr b="0">
                <a:solidFill>
                  <a:srgbClr val="CBD5E1"/>
                </a:solidFill>
              </a:rPr>
              <a:t>Workers, cardboard cartons, wooden pallets, and forklifts.</a:t>
            </a:r>
          </a:p>
          <a:p>
            <a:pPr>
              <a:spcBef>
                <a:spcPts val="600"/>
              </a:spcBef>
              <a:defRPr sz="1050" b="1">
                <a:solidFill>
                  <a:srgbClr val="FFFFFF"/>
                </a:solidFill>
                <a:latin typeface="Segoe UI"/>
              </a:defRPr>
            </a:pPr>
            <a:r>
              <a:t>• The ByteTrack Trick: </a:t>
            </a:r>
            <a:r>
              <a:rPr b="0">
                <a:solidFill>
                  <a:srgbClr val="CBD5E1"/>
                </a:solidFill>
              </a:rPr>
              <a:t>Keeps track of 'Box #4' even when a worker walks in front of it so the ID doesn't get lost.</a:t>
            </a:r>
          </a:p>
        </p:txBody>
      </p:sp>
      <p:sp>
        <p:nvSpPr>
          <p:cNvPr id="9" name="Rectangle 8"/>
          <p:cNvSpPr/>
          <p:nvPr/>
        </p:nvSpPr>
        <p:spPr>
          <a:xfrm>
            <a:off x="4389120" y="1353312"/>
            <a:ext cx="3410712" cy="2542032"/>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353312"/>
            <a:ext cx="3410712"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481328"/>
            <a:ext cx="3081528" cy="2286000"/>
          </a:xfrm>
          <a:prstGeom prst="rect">
            <a:avLst/>
          </a:prstGeom>
          <a:noFill/>
        </p:spPr>
        <p:txBody>
          <a:bodyPr wrap="square" lIns="0" tIns="0" rIns="0" bIns="0">
            <a:spAutoFit/>
          </a:bodyPr>
          <a:lstStyle/>
          <a:p>
            <a:pPr>
              <a:defRPr sz="1200" b="1">
                <a:solidFill>
                  <a:srgbClr val="38BDF8"/>
                </a:solidFill>
                <a:latin typeface="Segoe UI"/>
              </a:defRPr>
            </a:pPr>
            <a:r>
              <a:t>2. The Physics &amp; Motion Rules</a:t>
            </a:r>
          </a:p>
          <a:p>
            <a:pPr>
              <a:spcBef>
                <a:spcPts val="600"/>
              </a:spcBef>
              <a:defRPr sz="1050" b="1">
                <a:solidFill>
                  <a:srgbClr val="FFFFFF"/>
                </a:solidFill>
                <a:latin typeface="Segoe UI"/>
              </a:defRPr>
            </a:pPr>
            <a:r>
              <a:t>• Drop Detector: </a:t>
            </a:r>
            <a:r>
              <a:rPr b="0">
                <a:solidFill>
                  <a:srgbClr val="CBD5E1"/>
                </a:solidFill>
              </a:rPr>
              <a:t>If a box's downward Y-velocity spikes &gt; 2.5 m/s and suddenly hits zero, that's a crash.</a:t>
            </a:r>
          </a:p>
          <a:p>
            <a:pPr>
              <a:spcBef>
                <a:spcPts val="600"/>
              </a:spcBef>
              <a:defRPr sz="1050" b="1">
                <a:solidFill>
                  <a:srgbClr val="FFFFFF"/>
                </a:solidFill>
                <a:latin typeface="Segoe UI"/>
              </a:defRPr>
            </a:pPr>
            <a:r>
              <a:t>• Drag Detector: </a:t>
            </a:r>
            <a:r>
              <a:rPr b="0">
                <a:solidFill>
                  <a:srgbClr val="CBD5E1"/>
                </a:solidFill>
              </a:rPr>
              <a:t>If a carton slides &gt; 2 meters across the floor without lifting, it flags rough dragging.</a:t>
            </a:r>
          </a:p>
          <a:p>
            <a:pPr>
              <a:spcBef>
                <a:spcPts val="600"/>
              </a:spcBef>
              <a:defRPr sz="1050" b="1">
                <a:solidFill>
                  <a:srgbClr val="FFFFFF"/>
                </a:solidFill>
                <a:latin typeface="Segoe UI"/>
              </a:defRPr>
            </a:pPr>
            <a:r>
              <a:t>• Stack Tilt Check: </a:t>
            </a:r>
            <a:r>
              <a:rPr b="0">
                <a:solidFill>
                  <a:srgbClr val="CBD5E1"/>
                </a:solidFill>
              </a:rPr>
              <a:t>Measures the angle of boxes on pallets—anything tilted &gt; 15° triggers a wobble warning.</a:t>
            </a:r>
          </a:p>
        </p:txBody>
      </p:sp>
      <p:sp>
        <p:nvSpPr>
          <p:cNvPr id="12" name="Rectangle 11"/>
          <p:cNvSpPr/>
          <p:nvPr/>
        </p:nvSpPr>
        <p:spPr>
          <a:xfrm>
            <a:off x="8046720" y="1353312"/>
            <a:ext cx="3410712" cy="2542032"/>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353312"/>
            <a:ext cx="3410712"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11312" y="1481328"/>
            <a:ext cx="3081528" cy="2286000"/>
          </a:xfrm>
          <a:prstGeom prst="rect">
            <a:avLst/>
          </a:prstGeom>
          <a:noFill/>
        </p:spPr>
        <p:txBody>
          <a:bodyPr wrap="square" lIns="0" tIns="0" rIns="0" bIns="0">
            <a:spAutoFit/>
          </a:bodyPr>
          <a:lstStyle/>
          <a:p>
            <a:pPr>
              <a:defRPr sz="1200" b="1">
                <a:solidFill>
                  <a:srgbClr val="38BDF8"/>
                </a:solidFill>
                <a:latin typeface="Segoe UI"/>
              </a:defRPr>
            </a:pPr>
            <a:r>
              <a:t>3. Conversational AI (Google Gemini 2.5)</a:t>
            </a:r>
          </a:p>
          <a:p>
            <a:pPr>
              <a:spcBef>
                <a:spcPts val="600"/>
              </a:spcBef>
              <a:defRPr sz="1050" b="1">
                <a:solidFill>
                  <a:srgbClr val="FFFFFF"/>
                </a:solidFill>
                <a:latin typeface="Segoe UI"/>
              </a:defRPr>
            </a:pPr>
            <a:r>
              <a:t>• Why an LLM? </a:t>
            </a:r>
            <a:r>
              <a:rPr b="0">
                <a:solidFill>
                  <a:srgbClr val="CBD5E1"/>
                </a:solidFill>
              </a:rPr>
              <a:t>Supervisors hate writing SQL queries or clicking through 20 filter dropdowns.</a:t>
            </a:r>
          </a:p>
          <a:p>
            <a:pPr>
              <a:spcBef>
                <a:spcPts val="600"/>
              </a:spcBef>
              <a:defRPr sz="1050" b="1">
                <a:solidFill>
                  <a:srgbClr val="FFFFFF"/>
                </a:solidFill>
                <a:latin typeface="Segoe UI"/>
              </a:defRPr>
            </a:pPr>
            <a:r>
              <a:t>• How it works: </a:t>
            </a:r>
            <a:r>
              <a:rPr b="0">
                <a:solidFill>
                  <a:srgbClr val="CBD5E1"/>
                </a:solidFill>
              </a:rPr>
              <a:t>Feeds SQLite telemetry into Gemini to answer plain questions: 'Did Bay 3 drop anything today?'</a:t>
            </a:r>
          </a:p>
          <a:p>
            <a:pPr>
              <a:spcBef>
                <a:spcPts val="600"/>
              </a:spcBef>
              <a:defRPr sz="1050" b="1">
                <a:solidFill>
                  <a:srgbClr val="FFFFFF"/>
                </a:solidFill>
                <a:latin typeface="Segoe UI"/>
              </a:defRPr>
            </a:pPr>
            <a:r>
              <a:t>• Result: </a:t>
            </a:r>
            <a:r>
              <a:rPr b="0">
                <a:solidFill>
                  <a:srgbClr val="CBD5E1"/>
                </a:solidFill>
              </a:rPr>
              <a:t>Instant plain-English answers with timestamps.</a:t>
            </a:r>
          </a:p>
        </p:txBody>
      </p:sp>
      <p:sp>
        <p:nvSpPr>
          <p:cNvPr id="15" name="Rectangle 14"/>
          <p:cNvSpPr/>
          <p:nvPr/>
        </p:nvSpPr>
        <p:spPr>
          <a:xfrm>
            <a:off x="731520" y="4096512"/>
            <a:ext cx="3410712" cy="2542032"/>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096512"/>
            <a:ext cx="3410712"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224528"/>
            <a:ext cx="3081528" cy="2286000"/>
          </a:xfrm>
          <a:prstGeom prst="rect">
            <a:avLst/>
          </a:prstGeom>
          <a:noFill/>
        </p:spPr>
        <p:txBody>
          <a:bodyPr wrap="square" lIns="0" tIns="0" rIns="0" bIns="0">
            <a:spAutoFit/>
          </a:bodyPr>
          <a:lstStyle/>
          <a:p>
            <a:pPr>
              <a:defRPr sz="1200" b="1">
                <a:solidFill>
                  <a:srgbClr val="38BDF8"/>
                </a:solidFill>
                <a:latin typeface="Segoe UI"/>
              </a:defRPr>
            </a:pPr>
            <a:r>
              <a:t>4. Smart Video Snips (OpenCV + FFmpeg)</a:t>
            </a:r>
          </a:p>
          <a:p>
            <a:pPr>
              <a:spcBef>
                <a:spcPts val="600"/>
              </a:spcBef>
              <a:defRPr sz="1050" b="1">
                <a:solidFill>
                  <a:srgbClr val="FFFFFF"/>
                </a:solidFill>
                <a:latin typeface="Segoe UI"/>
              </a:defRPr>
            </a:pPr>
            <a:r>
              <a:t>• No Wasted Storage: </a:t>
            </a:r>
            <a:r>
              <a:rPr b="0">
                <a:solidFill>
                  <a:srgbClr val="CBD5E1"/>
                </a:solidFill>
              </a:rPr>
              <a:t>We don't save 24 hours of boring empty dock video.</a:t>
            </a:r>
          </a:p>
          <a:p>
            <a:pPr>
              <a:spcBef>
                <a:spcPts val="600"/>
              </a:spcBef>
              <a:defRPr sz="1050" b="1">
                <a:solidFill>
                  <a:srgbClr val="FFFFFF"/>
                </a:solidFill>
                <a:latin typeface="Segoe UI"/>
              </a:defRPr>
            </a:pPr>
            <a:r>
              <a:t>• Rolling Ring Buffer: </a:t>
            </a:r>
            <a:r>
              <a:rPr b="0">
                <a:solidFill>
                  <a:srgbClr val="CBD5E1"/>
                </a:solidFill>
              </a:rPr>
              <a:t>Keeps last 15 seconds in memory; automatically cuts a neat 5-second replay clip on alert.</a:t>
            </a:r>
          </a:p>
          <a:p>
            <a:pPr>
              <a:spcBef>
                <a:spcPts val="600"/>
              </a:spcBef>
              <a:defRPr sz="1050" b="1">
                <a:solidFill>
                  <a:srgbClr val="FFFFFF"/>
                </a:solidFill>
                <a:latin typeface="Segoe UI"/>
              </a:defRPr>
            </a:pPr>
            <a:r>
              <a:t>• Web Ready: </a:t>
            </a:r>
            <a:r>
              <a:rPr b="0">
                <a:solidFill>
                  <a:srgbClr val="CBD5E1"/>
                </a:solidFill>
              </a:rPr>
              <a:t>Encodes to lightweight H.264 so it plays instantly in the browser.</a:t>
            </a:r>
          </a:p>
        </p:txBody>
      </p:sp>
      <p:sp>
        <p:nvSpPr>
          <p:cNvPr id="18" name="Rectangle 17"/>
          <p:cNvSpPr/>
          <p:nvPr/>
        </p:nvSpPr>
        <p:spPr>
          <a:xfrm>
            <a:off x="4389120" y="4096512"/>
            <a:ext cx="3410712" cy="2542032"/>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4096512"/>
            <a:ext cx="3410712"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4224528"/>
            <a:ext cx="3081528" cy="2286000"/>
          </a:xfrm>
          <a:prstGeom prst="rect">
            <a:avLst/>
          </a:prstGeom>
          <a:noFill/>
        </p:spPr>
        <p:txBody>
          <a:bodyPr wrap="square" lIns="0" tIns="0" rIns="0" bIns="0">
            <a:spAutoFit/>
          </a:bodyPr>
          <a:lstStyle/>
          <a:p>
            <a:pPr>
              <a:defRPr sz="1200" b="1">
                <a:solidFill>
                  <a:srgbClr val="38BDF8"/>
                </a:solidFill>
                <a:latin typeface="Segoe UI"/>
              </a:defRPr>
            </a:pPr>
            <a:r>
              <a:t>5. Fast Python Backend &amp; Database</a:t>
            </a:r>
          </a:p>
          <a:p>
            <a:pPr>
              <a:spcBef>
                <a:spcPts val="600"/>
              </a:spcBef>
              <a:defRPr sz="1050" b="1">
                <a:solidFill>
                  <a:srgbClr val="FFFFFF"/>
                </a:solidFill>
                <a:latin typeface="Segoe UI"/>
              </a:defRPr>
            </a:pPr>
            <a:r>
              <a:t>• FastAPI Core: </a:t>
            </a:r>
            <a:r>
              <a:rPr b="0">
                <a:solidFill>
                  <a:srgbClr val="CBD5E1"/>
                </a:solidFill>
              </a:rPr>
              <a:t>Super-fast async framework handling video uploads, alert WebSockets, and stats.</a:t>
            </a:r>
          </a:p>
          <a:p>
            <a:pPr>
              <a:spcBef>
                <a:spcPts val="600"/>
              </a:spcBef>
              <a:defRPr sz="1050" b="1">
                <a:solidFill>
                  <a:srgbClr val="FFFFFF"/>
                </a:solidFill>
                <a:latin typeface="Segoe UI"/>
              </a:defRPr>
            </a:pPr>
            <a:r>
              <a:t>• SQLite + SQLAlchemy: </a:t>
            </a:r>
            <a:r>
              <a:rPr b="0">
                <a:solidFill>
                  <a:srgbClr val="CBD5E1"/>
                </a:solidFill>
              </a:rPr>
              <a:t>Simple, reliable local database storing incident records, drop heights, and camera IDs.</a:t>
            </a:r>
          </a:p>
          <a:p>
            <a:pPr>
              <a:spcBef>
                <a:spcPts val="600"/>
              </a:spcBef>
              <a:defRPr sz="1050" b="1">
                <a:solidFill>
                  <a:srgbClr val="FFFFFF"/>
                </a:solidFill>
                <a:latin typeface="Segoe UI"/>
              </a:defRPr>
            </a:pPr>
            <a:r>
              <a:t>• Clean API: </a:t>
            </a:r>
            <a:r>
              <a:rPr b="0">
                <a:solidFill>
                  <a:srgbClr val="CBD5E1"/>
                </a:solidFill>
              </a:rPr>
              <a:t>Well-documented REST routes for the frontend to poll.</a:t>
            </a:r>
          </a:p>
        </p:txBody>
      </p:sp>
      <p:sp>
        <p:nvSpPr>
          <p:cNvPr id="21" name="Rectangle 20"/>
          <p:cNvSpPr/>
          <p:nvPr/>
        </p:nvSpPr>
        <p:spPr>
          <a:xfrm>
            <a:off x="8046720" y="4096512"/>
            <a:ext cx="3410712" cy="2542032"/>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4096512"/>
            <a:ext cx="3410712"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11312" y="4224528"/>
            <a:ext cx="3081528" cy="2286000"/>
          </a:xfrm>
          <a:prstGeom prst="rect">
            <a:avLst/>
          </a:prstGeom>
          <a:noFill/>
        </p:spPr>
        <p:txBody>
          <a:bodyPr wrap="square" lIns="0" tIns="0" rIns="0" bIns="0">
            <a:spAutoFit/>
          </a:bodyPr>
          <a:lstStyle/>
          <a:p>
            <a:pPr>
              <a:defRPr sz="1200" b="1">
                <a:solidFill>
                  <a:srgbClr val="38BDF8"/>
                </a:solidFill>
                <a:latin typeface="Segoe UI"/>
              </a:defRPr>
            </a:pPr>
            <a:r>
              <a:t>6. React Dashboard &amp; Sound Alerts</a:t>
            </a:r>
          </a:p>
          <a:p>
            <a:pPr>
              <a:spcBef>
                <a:spcPts val="600"/>
              </a:spcBef>
              <a:defRPr sz="1050" b="1">
                <a:solidFill>
                  <a:srgbClr val="FFFFFF"/>
                </a:solidFill>
                <a:latin typeface="Segoe UI"/>
              </a:defRPr>
            </a:pPr>
            <a:r>
              <a:t>• Frontend Stack: </a:t>
            </a:r>
            <a:r>
              <a:rPr b="0">
                <a:solidFill>
                  <a:srgbClr val="CBD5E1"/>
                </a:solidFill>
              </a:rPr>
              <a:t>React 18, TypeScript, and Tailwind CSS for a crisp, responsive layout.</a:t>
            </a:r>
          </a:p>
          <a:p>
            <a:pPr>
              <a:spcBef>
                <a:spcPts val="600"/>
              </a:spcBef>
              <a:defRPr sz="1050" b="1">
                <a:solidFill>
                  <a:srgbClr val="FFFFFF"/>
                </a:solidFill>
                <a:latin typeface="Segoe UI"/>
              </a:defRPr>
            </a:pPr>
            <a:r>
              <a:t>• Interactive Charts: </a:t>
            </a:r>
            <a:r>
              <a:rPr b="0">
                <a:solidFill>
                  <a:srgbClr val="CBD5E1"/>
                </a:solidFill>
              </a:rPr>
              <a:t>Recharts rendering 7-day risk trends and KPI cards.</a:t>
            </a:r>
          </a:p>
          <a:p>
            <a:pPr>
              <a:spcBef>
                <a:spcPts val="600"/>
              </a:spcBef>
              <a:defRPr sz="1050" b="1">
                <a:solidFill>
                  <a:srgbClr val="FFFFFF"/>
                </a:solidFill>
                <a:latin typeface="Segoe UI"/>
              </a:defRPr>
            </a:pPr>
            <a:r>
              <a:t>• Audio Chimes: </a:t>
            </a:r>
            <a:r>
              <a:rPr b="0">
                <a:solidFill>
                  <a:srgbClr val="CBD5E1"/>
                </a:solidFill>
              </a:rPr>
              <a:t>Web Audio API generates soft synthetic tones in-browser without downloading sound files.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flip="none" rotWithShape="1">
          <a:gsLst>
            <a:gs pos="0">
              <a:srgbClr val="060F1E"/>
            </a:gs>
            <a:gs pos="38000">
              <a:srgbClr val="0A213D"/>
            </a:gs>
            <a:gs pos="75000">
              <a:srgbClr val="113665"/>
            </a:gs>
            <a:gs pos="100000">
              <a:srgbClr val="07182E"/>
            </a:gs>
          </a:gsLst>
          <a:lin ang="3240000" scaled="1"/>
        </a:gradFill>
        <a:effectLst/>
      </p:bgPr>
    </p:bg>
    <p:spTree>
      <p:nvGrpSpPr>
        <p:cNvPr id="1" name=""/>
        <p:cNvGrpSpPr/>
        <p:nvPr/>
      </p:nvGrpSpPr>
      <p:grpSpPr/>
      <p:sp>
        <p:nvSpPr>
          <p:cNvPr id="2" name="TextBox 1"/>
          <p:cNvSpPr txBox="1"/>
          <p:nvPr/>
        </p:nvSpPr>
        <p:spPr>
          <a:xfrm>
            <a:off x="731520" y="347472"/>
            <a:ext cx="5943600" cy="256032"/>
          </a:xfrm>
          <a:prstGeom prst="rect">
            <a:avLst/>
          </a:prstGeom>
          <a:noFill/>
        </p:spPr>
        <p:txBody>
          <a:bodyPr wrap="none" lIns="0" tIns="0" rIns="0" bIns="0">
            <a:spAutoFit/>
          </a:bodyPr>
          <a:lstStyle/>
          <a:p>
            <a:pPr>
              <a:defRPr sz="1100" b="1">
                <a:solidFill>
                  <a:srgbClr val="38BDF8"/>
                </a:solidFill>
                <a:latin typeface="Segoe UI"/>
              </a:defRPr>
            </a:pPr>
            <a:r>
              <a:t>04  /  PROTOTYPE SCREENSHOTS &amp; DEMO</a:t>
            </a:r>
          </a:p>
        </p:txBody>
      </p:sp>
      <p:sp>
        <p:nvSpPr>
          <p:cNvPr id="3" name="TextBox 2"/>
          <p:cNvSpPr txBox="1"/>
          <p:nvPr/>
        </p:nvSpPr>
        <p:spPr>
          <a:xfrm>
            <a:off x="731520" y="621792"/>
            <a:ext cx="10728655" cy="502920"/>
          </a:xfrm>
          <a:prstGeom prst="rect">
            <a:avLst/>
          </a:prstGeom>
          <a:noFill/>
        </p:spPr>
        <p:txBody>
          <a:bodyPr wrap="square" lIns="0" tIns="0" rIns="0" bIns="0">
            <a:spAutoFit/>
          </a:bodyPr>
          <a:lstStyle/>
          <a:p>
            <a:pPr>
              <a:defRPr sz="2500" b="1">
                <a:solidFill>
                  <a:srgbClr val="FFFFFF"/>
                </a:solidFill>
                <a:latin typeface="Segoe UI"/>
              </a:defRPr>
            </a:pPr>
            <a:r>
              <a:t>In Action: Spotting Drops, Drags &amp; Tilted Pallets</a:t>
            </a:r>
          </a:p>
        </p:txBody>
      </p:sp>
      <p:sp>
        <p:nvSpPr>
          <p:cNvPr id="4" name="Rectangle 3"/>
          <p:cNvSpPr/>
          <p:nvPr/>
        </p:nvSpPr>
        <p:spPr>
          <a:xfrm>
            <a:off x="731520" y="1170432"/>
            <a:ext cx="10728655" cy="13716"/>
          </a:xfrm>
          <a:prstGeom prst="rect">
            <a:avLst/>
          </a:prstGeom>
          <a:solidFill>
            <a:srgbClr val="1C3E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dia_1788498059037.png"/>
          <p:cNvPicPr>
            <a:picLocks noChangeAspect="1"/>
          </p:cNvPicPr>
          <p:nvPr/>
        </p:nvPicPr>
        <p:blipFill>
          <a:blip r:embed="rId2"/>
          <a:stretch>
            <a:fillRect/>
          </a:stretch>
        </p:blipFill>
        <p:spPr>
          <a:xfrm>
            <a:off x="731520" y="1353312"/>
            <a:ext cx="3246120" cy="2331720"/>
          </a:xfrm>
          <a:prstGeom prst="rect">
            <a:avLst/>
          </a:prstGeom>
        </p:spPr>
      </p:pic>
      <p:sp>
        <p:nvSpPr>
          <p:cNvPr id="6" name="TextBox 5"/>
          <p:cNvSpPr txBox="1"/>
          <p:nvPr/>
        </p:nvSpPr>
        <p:spPr>
          <a:xfrm>
            <a:off x="731520" y="3712463"/>
            <a:ext cx="3246120" cy="274320"/>
          </a:xfrm>
          <a:prstGeom prst="rect">
            <a:avLst/>
          </a:prstGeom>
          <a:noFill/>
        </p:spPr>
        <p:txBody>
          <a:bodyPr wrap="square" lIns="0" tIns="0" rIns="0" bIns="0">
            <a:spAutoFit/>
          </a:bodyPr>
          <a:lstStyle/>
          <a:p>
            <a:pPr>
              <a:defRPr sz="950">
                <a:solidFill>
                  <a:srgbClr val="38BDF8"/>
                </a:solidFill>
                <a:latin typeface="Segoe UI"/>
              </a:defRPr>
            </a:pPr>
            <a:r>
              <a:t>AI detecting worker &amp; box dragged 4.6m on wet floor</a:t>
            </a:r>
          </a:p>
        </p:txBody>
      </p:sp>
      <p:pic>
        <p:nvPicPr>
          <p:cNvPr id="7" name="Picture 6" descr="media_1788497397504.png"/>
          <p:cNvPicPr>
            <a:picLocks noChangeAspect="1"/>
          </p:cNvPicPr>
          <p:nvPr/>
        </p:nvPicPr>
        <p:blipFill>
          <a:blip r:embed="rId3"/>
          <a:stretch>
            <a:fillRect/>
          </a:stretch>
        </p:blipFill>
        <p:spPr>
          <a:xfrm>
            <a:off x="4160520" y="1353312"/>
            <a:ext cx="3291840" cy="2331720"/>
          </a:xfrm>
          <a:prstGeom prst="rect">
            <a:avLst/>
          </a:prstGeom>
        </p:spPr>
      </p:pic>
      <p:sp>
        <p:nvSpPr>
          <p:cNvPr id="8" name="TextBox 7"/>
          <p:cNvSpPr txBox="1"/>
          <p:nvPr/>
        </p:nvSpPr>
        <p:spPr>
          <a:xfrm>
            <a:off x="4160520" y="3712463"/>
            <a:ext cx="3291840" cy="274320"/>
          </a:xfrm>
          <a:prstGeom prst="rect">
            <a:avLst/>
          </a:prstGeom>
          <a:noFill/>
        </p:spPr>
        <p:txBody>
          <a:bodyPr wrap="square" lIns="0" tIns="0" rIns="0" bIns="0">
            <a:spAutoFit/>
          </a:bodyPr>
          <a:lstStyle/>
          <a:p>
            <a:pPr>
              <a:defRPr sz="950">
                <a:solidFill>
                  <a:srgbClr val="38BDF8"/>
                </a:solidFill>
                <a:latin typeface="Segoe UI"/>
              </a:defRPr>
            </a:pPr>
            <a:r>
              <a:t>Instant 5-second replay with falling box trajectory</a:t>
            </a:r>
          </a:p>
        </p:txBody>
      </p:sp>
      <p:pic>
        <p:nvPicPr>
          <p:cNvPr id="9" name="Picture 8" descr="media_1788627628552.png"/>
          <p:cNvPicPr>
            <a:picLocks noChangeAspect="1"/>
          </p:cNvPicPr>
          <p:nvPr/>
        </p:nvPicPr>
        <p:blipFill>
          <a:blip r:embed="rId4"/>
          <a:stretch>
            <a:fillRect/>
          </a:stretch>
        </p:blipFill>
        <p:spPr>
          <a:xfrm>
            <a:off x="731520" y="4041648"/>
            <a:ext cx="6720840" cy="2240280"/>
          </a:xfrm>
          <a:prstGeom prst="rect">
            <a:avLst/>
          </a:prstGeom>
        </p:spPr>
      </p:pic>
      <p:sp>
        <p:nvSpPr>
          <p:cNvPr id="10" name="TextBox 9"/>
          <p:cNvSpPr txBox="1"/>
          <p:nvPr/>
        </p:nvSpPr>
        <p:spPr>
          <a:xfrm>
            <a:off x="731520" y="6327648"/>
            <a:ext cx="6720840" cy="274320"/>
          </a:xfrm>
          <a:prstGeom prst="rect">
            <a:avLst/>
          </a:prstGeom>
          <a:noFill/>
        </p:spPr>
        <p:txBody>
          <a:bodyPr wrap="square" lIns="0" tIns="0" rIns="0" bIns="0">
            <a:spAutoFit/>
          </a:bodyPr>
          <a:lstStyle/>
          <a:p>
            <a:pPr>
              <a:defRPr sz="950">
                <a:solidFill>
                  <a:srgbClr val="94A3B8"/>
                </a:solidFill>
                <a:latin typeface="Segoe UI"/>
              </a:defRPr>
            </a:pPr>
            <a:r>
              <a:t>The live dashboard: Pastel KPI cards, 7-day risk trend curves, and instant alert drawer</a:t>
            </a:r>
          </a:p>
        </p:txBody>
      </p:sp>
      <p:sp>
        <p:nvSpPr>
          <p:cNvPr id="11" name="Rectangle 10"/>
          <p:cNvSpPr/>
          <p:nvPr/>
        </p:nvSpPr>
        <p:spPr>
          <a:xfrm>
            <a:off x="7635240" y="1353312"/>
            <a:ext cx="3822191" cy="5230368"/>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35240" y="1353312"/>
            <a:ext cx="3822191"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36408" y="1508760"/>
            <a:ext cx="3419855" cy="4937760"/>
          </a:xfrm>
          <a:prstGeom prst="rect">
            <a:avLst/>
          </a:prstGeom>
          <a:noFill/>
        </p:spPr>
        <p:txBody>
          <a:bodyPr wrap="square" lIns="0" tIns="0" rIns="0" bIns="0">
            <a:spAutoFit/>
          </a:bodyPr>
          <a:lstStyle/>
          <a:p>
            <a:pPr>
              <a:defRPr sz="1300" b="1">
                <a:solidFill>
                  <a:srgbClr val="38BDF8"/>
                </a:solidFill>
                <a:latin typeface="Segoe UI"/>
              </a:defRPr>
            </a:pPr>
            <a:r>
              <a:t>4 REAL SCENARIOS WE TESTED</a:t>
            </a:r>
          </a:p>
          <a:p>
            <a:pPr>
              <a:spcBef>
                <a:spcPts val="700"/>
              </a:spcBef>
              <a:defRPr sz="1100" b="1">
                <a:solidFill>
                  <a:srgbClr val="FFFFFF"/>
                </a:solidFill>
                <a:latin typeface="Segoe UI"/>
              </a:defRPr>
            </a:pPr>
            <a:r>
              <a:t>• 1. The 'Butterfingers' Drop: </a:t>
            </a:r>
            <a:r>
              <a:rPr b="0">
                <a:solidFill>
                  <a:srgbClr val="CBD5E1"/>
                </a:solidFill>
              </a:rPr>
              <a:t>Carton slips from 1.3m off pallet staging. The camera spots the free-fall spike and triggers a CRITICAL alert in 1.2s flat.</a:t>
            </a:r>
          </a:p>
          <a:p>
            <a:pPr>
              <a:spcBef>
                <a:spcPts val="700"/>
              </a:spcBef>
              <a:defRPr sz="1100" b="1">
                <a:solidFill>
                  <a:srgbClr val="FFFFFF"/>
                </a:solidFill>
                <a:latin typeface="Segoe UI"/>
              </a:defRPr>
            </a:pPr>
            <a:r>
              <a:t>• 2. The Wet-Floor Hockey Puck: </a:t>
            </a:r>
            <a:r>
              <a:rPr b="0">
                <a:solidFill>
                  <a:srgbClr val="CBD5E1"/>
                </a:solidFill>
              </a:rPr>
              <a:t>A worker slides a 20kg box 4.6m across wet concrete. The system measures the ground distance and flags HIGH risk dragging.</a:t>
            </a:r>
          </a:p>
          <a:p>
            <a:pPr>
              <a:spcBef>
                <a:spcPts val="700"/>
              </a:spcBef>
              <a:defRPr sz="1100" b="1">
                <a:solidFill>
                  <a:srgbClr val="FFFFFF"/>
                </a:solidFill>
                <a:latin typeface="Segoe UI"/>
              </a:defRPr>
            </a:pPr>
            <a:r>
              <a:t>• 3. The Leaning Tower of Boxes: </a:t>
            </a:r>
            <a:r>
              <a:rPr b="0">
                <a:solidFill>
                  <a:srgbClr val="CBD5E1"/>
                </a:solidFill>
              </a:rPr>
              <a:t>Boxes stacked with a 17° tilt without proper interlocking are flagged as CAUTION so the loader can straighten the pile.</a:t>
            </a:r>
          </a:p>
          <a:p>
            <a:pPr>
              <a:spcBef>
                <a:spcPts val="700"/>
              </a:spcBef>
              <a:defRPr sz="1100" b="1">
                <a:solidFill>
                  <a:srgbClr val="FFFFFF"/>
                </a:solidFill>
                <a:latin typeface="Segoe UI"/>
              </a:defRPr>
            </a:pPr>
            <a:r>
              <a:t>• 4. Grilling the AI Assistant: </a:t>
            </a:r>
            <a:r>
              <a:rPr b="0">
                <a:solidFill>
                  <a:srgbClr val="CBD5E1"/>
                </a:solidFill>
              </a:rPr>
              <a:t>We typed: 'Which bay had drops today?' and Gemini parsed the database logs to tell us Bay 3 had 2 drop incidents at 10:14 AM and 2:30 PM.</a:t>
            </a:r>
          </a:p>
          <a:p>
            <a:pPr>
              <a:spcBef>
                <a:spcPts val="1200"/>
              </a:spcBef>
              <a:defRPr sz="1100" b="1">
                <a:solidFill>
                  <a:srgbClr val="38BDF8"/>
                </a:solidFill>
                <a:latin typeface="Segoe UI"/>
              </a:defRPr>
            </a:pPr>
            <a:r>
              <a:t>TEST IT YOURSELF (LIVE LINKS):</a:t>
            </a:r>
          </a:p>
          <a:p>
            <a:pPr>
              <a:spcBef>
                <a:spcPts val="200"/>
              </a:spcBef>
              <a:defRPr sz="1000" b="1">
                <a:solidFill>
                  <a:srgbClr val="FFFFFF"/>
                </a:solidFill>
                <a:latin typeface="Segoe UI"/>
              </a:defRPr>
            </a:pPr>
            <a:r>
              <a:t>  • Live Web App: </a:t>
            </a:r>
            <a:r>
              <a:rPr b="0">
                <a:solidFill>
                  <a:srgbClr val="94A3B8"/>
                </a:solidFill>
              </a:rPr>
              <a:t>smart-warehouse-system-rk8p.onrender.com</a:t>
            </a:r>
          </a:p>
          <a:p>
            <a:pPr>
              <a:spcBef>
                <a:spcPts val="200"/>
              </a:spcBef>
              <a:defRPr sz="1000" b="1">
                <a:solidFill>
                  <a:srgbClr val="FFFFFF"/>
                </a:solidFill>
                <a:latin typeface="Segoe UI"/>
              </a:defRPr>
            </a:pPr>
            <a:r>
              <a:t>  • Local Port: </a:t>
            </a:r>
            <a:r>
              <a:rPr b="0">
                <a:solidFill>
                  <a:srgbClr val="94A3B8"/>
                </a:solidFill>
              </a:rPr>
              <a:t>localhost:8000 / localhost:5173</a:t>
            </a:r>
          </a:p>
          <a:p>
            <a:pPr>
              <a:spcBef>
                <a:spcPts val="200"/>
              </a:spcBef>
              <a:defRPr sz="1000" b="1">
                <a:solidFill>
                  <a:srgbClr val="FFFFFF"/>
                </a:solidFill>
                <a:latin typeface="Segoe UI"/>
              </a:defRPr>
            </a:pPr>
            <a:r>
              <a:t>  • Open Source Repo: </a:t>
            </a:r>
            <a:r>
              <a:rPr b="0">
                <a:solidFill>
                  <a:srgbClr val="94A3B8"/>
                </a:solidFill>
              </a:rPr>
              <a:t>github.com/Aastha008/Smart-Warehouse-System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flip="none" rotWithShape="1">
          <a:gsLst>
            <a:gs pos="0">
              <a:srgbClr val="060F1E"/>
            </a:gs>
            <a:gs pos="38000">
              <a:srgbClr val="0A213D"/>
            </a:gs>
            <a:gs pos="75000">
              <a:srgbClr val="113665"/>
            </a:gs>
            <a:gs pos="100000">
              <a:srgbClr val="07182E"/>
            </a:gs>
          </a:gsLst>
          <a:lin ang="3240000" scaled="1"/>
        </a:gradFill>
        <a:effectLst/>
      </p:bgPr>
    </p:bg>
    <p:spTree>
      <p:nvGrpSpPr>
        <p:cNvPr id="1" name=""/>
        <p:cNvGrpSpPr/>
        <p:nvPr/>
      </p:nvGrpSpPr>
      <p:grpSpPr/>
      <p:sp>
        <p:nvSpPr>
          <p:cNvPr id="2" name="TextBox 1"/>
          <p:cNvSpPr txBox="1"/>
          <p:nvPr/>
        </p:nvSpPr>
        <p:spPr>
          <a:xfrm>
            <a:off x="731520" y="347472"/>
            <a:ext cx="5943600" cy="256032"/>
          </a:xfrm>
          <a:prstGeom prst="rect">
            <a:avLst/>
          </a:prstGeom>
          <a:noFill/>
        </p:spPr>
        <p:txBody>
          <a:bodyPr wrap="none" lIns="0" tIns="0" rIns="0" bIns="0">
            <a:spAutoFit/>
          </a:bodyPr>
          <a:lstStyle/>
          <a:p>
            <a:pPr>
              <a:defRPr sz="1100" b="1">
                <a:solidFill>
                  <a:srgbClr val="38BDF8"/>
                </a:solidFill>
                <a:latin typeface="Segoe UI"/>
              </a:defRPr>
            </a:pPr>
            <a:r>
              <a:t>05  /  FEEDBACK, ITERATIONS &amp; REAL IMPACT</a:t>
            </a:r>
          </a:p>
        </p:txBody>
      </p:sp>
      <p:sp>
        <p:nvSpPr>
          <p:cNvPr id="3" name="TextBox 2"/>
          <p:cNvSpPr txBox="1"/>
          <p:nvPr/>
        </p:nvSpPr>
        <p:spPr>
          <a:xfrm>
            <a:off x="731520" y="621792"/>
            <a:ext cx="10728655" cy="502920"/>
          </a:xfrm>
          <a:prstGeom prst="rect">
            <a:avLst/>
          </a:prstGeom>
          <a:noFill/>
        </p:spPr>
        <p:txBody>
          <a:bodyPr wrap="square" lIns="0" tIns="0" rIns="0" bIns="0">
            <a:spAutoFit/>
          </a:bodyPr>
          <a:lstStyle/>
          <a:p>
            <a:pPr>
              <a:defRPr sz="2500" b="1">
                <a:solidFill>
                  <a:srgbClr val="FFFFFF"/>
                </a:solidFill>
                <a:latin typeface="Segoe UI"/>
              </a:defRPr>
            </a:pPr>
            <a:r>
              <a:t>What Warehouse Crews Told Us (And How They Roasted Version 1)</a:t>
            </a:r>
          </a:p>
        </p:txBody>
      </p:sp>
      <p:sp>
        <p:nvSpPr>
          <p:cNvPr id="4" name="Rectangle 3"/>
          <p:cNvSpPr/>
          <p:nvPr/>
        </p:nvSpPr>
        <p:spPr>
          <a:xfrm>
            <a:off x="731520" y="1170432"/>
            <a:ext cx="10728655" cy="13716"/>
          </a:xfrm>
          <a:prstGeom prst="rect">
            <a:avLst/>
          </a:prstGeom>
          <a:solidFill>
            <a:srgbClr val="1C3E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53312"/>
            <a:ext cx="6858000" cy="932688"/>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53312"/>
            <a:ext cx="36576" cy="9326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426464"/>
            <a:ext cx="6601968" cy="786384"/>
          </a:xfrm>
          <a:prstGeom prst="rect">
            <a:avLst/>
          </a:prstGeom>
          <a:noFill/>
        </p:spPr>
        <p:txBody>
          <a:bodyPr wrap="square" lIns="0" tIns="0" rIns="0" bIns="0">
            <a:spAutoFit/>
          </a:bodyPr>
          <a:lstStyle/>
          <a:p>
            <a:pPr>
              <a:defRPr sz="1100" b="1">
                <a:solidFill>
                  <a:srgbClr val="38BDF8"/>
                </a:solidFill>
                <a:latin typeface="Segoe UI"/>
              </a:defRPr>
            </a:pPr>
            <a:r>
              <a:t>The Shift Supervisor: </a:t>
            </a:r>
            <a:r>
              <a:rPr b="0" i="1">
                <a:solidFill>
                  <a:srgbClr val="FFFFFF"/>
                </a:solidFill>
              </a:rPr>
              <a:t>"I can't watch hours of boring CCTV tapes while running around 6 bays."</a:t>
            </a:r>
          </a:p>
          <a:p>
            <a:pPr>
              <a:spcBef>
                <a:spcPts val="300"/>
              </a:spcBef>
              <a:defRPr sz="1000">
                <a:solidFill>
                  <a:srgbClr val="E2E8F0"/>
                </a:solidFill>
                <a:latin typeface="Segoe UI"/>
              </a:defRPr>
            </a:pPr>
            <a:r>
              <a:t>→ How we fixed it: Built a 1-click replay button that jumps right to the 5-second drop moment with red/yellow timeline markers.</a:t>
            </a:r>
          </a:p>
        </p:txBody>
      </p:sp>
      <p:sp>
        <p:nvSpPr>
          <p:cNvPr id="8" name="Rectangle 7"/>
          <p:cNvSpPr/>
          <p:nvPr/>
        </p:nvSpPr>
        <p:spPr>
          <a:xfrm>
            <a:off x="731520" y="2377440"/>
            <a:ext cx="6858000" cy="932688"/>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377440"/>
            <a:ext cx="36576" cy="932688"/>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450592"/>
            <a:ext cx="6601968" cy="786384"/>
          </a:xfrm>
          <a:prstGeom prst="rect">
            <a:avLst/>
          </a:prstGeom>
          <a:noFill/>
        </p:spPr>
        <p:txBody>
          <a:bodyPr wrap="square" lIns="0" tIns="0" rIns="0" bIns="0">
            <a:spAutoFit/>
          </a:bodyPr>
          <a:lstStyle/>
          <a:p>
            <a:pPr>
              <a:defRPr sz="1100" b="1">
                <a:solidFill>
                  <a:srgbClr val="38BDF8"/>
                </a:solidFill>
                <a:latin typeface="Segoe UI"/>
              </a:defRPr>
            </a:pPr>
            <a:r>
              <a:t>The Loading Worker: </a:t>
            </a:r>
            <a:r>
              <a:rPr b="0" i="1">
                <a:solidFill>
                  <a:srgbClr val="FFFFFF"/>
                </a:solidFill>
              </a:rPr>
              <a:t>"Your first alarm sounded like a nuclear meltdown siren. Everyone hated it."</a:t>
            </a:r>
          </a:p>
          <a:p>
            <a:pPr>
              <a:spcBef>
                <a:spcPts val="300"/>
              </a:spcBef>
              <a:defRPr sz="1000">
                <a:solidFill>
                  <a:srgbClr val="E2E8F0"/>
                </a:solidFill>
                <a:latin typeface="Segoe UI"/>
              </a:defRPr>
            </a:pPr>
            <a:r>
              <a:t>→ How we fixed it: Switched to a polite, gentle audio chime for small issues, saving louder alerts only for big drops.</a:t>
            </a:r>
          </a:p>
        </p:txBody>
      </p:sp>
      <p:sp>
        <p:nvSpPr>
          <p:cNvPr id="11" name="Rectangle 10"/>
          <p:cNvSpPr/>
          <p:nvPr/>
        </p:nvSpPr>
        <p:spPr>
          <a:xfrm>
            <a:off x="731520" y="3401568"/>
            <a:ext cx="6858000" cy="932688"/>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401568"/>
            <a:ext cx="36576" cy="9326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474720"/>
            <a:ext cx="6601968" cy="786384"/>
          </a:xfrm>
          <a:prstGeom prst="rect">
            <a:avLst/>
          </a:prstGeom>
          <a:noFill/>
        </p:spPr>
        <p:txBody>
          <a:bodyPr wrap="square" lIns="0" tIns="0" rIns="0" bIns="0">
            <a:spAutoFit/>
          </a:bodyPr>
          <a:lstStyle/>
          <a:p>
            <a:pPr>
              <a:defRPr sz="1100" b="1">
                <a:solidFill>
                  <a:srgbClr val="38BDF8"/>
                </a:solidFill>
                <a:latin typeface="Segoe UI"/>
              </a:defRPr>
            </a:pPr>
            <a:r>
              <a:t>The Logistics Manager: </a:t>
            </a:r>
            <a:r>
              <a:rPr b="0" i="1">
                <a:solidFill>
                  <a:srgbClr val="FFFFFF"/>
                </a:solidFill>
              </a:rPr>
              <a:t>"Cool tech, but how do I prove to my boss that we're actually breaking fewer things?"</a:t>
            </a:r>
          </a:p>
          <a:p>
            <a:pPr>
              <a:spcBef>
                <a:spcPts val="300"/>
              </a:spcBef>
              <a:defRPr sz="1000">
                <a:solidFill>
                  <a:srgbClr val="E2E8F0"/>
                </a:solidFill>
                <a:latin typeface="Segoe UI"/>
              </a:defRPr>
            </a:pPr>
            <a:r>
              <a:t>→ How we fixed it: Designed real-time KPI stat cards and a 7-day risk trend chart showing the 95.8% damage-free handling rate.</a:t>
            </a:r>
          </a:p>
        </p:txBody>
      </p:sp>
      <p:sp>
        <p:nvSpPr>
          <p:cNvPr id="14" name="Rectangle 13"/>
          <p:cNvSpPr/>
          <p:nvPr/>
        </p:nvSpPr>
        <p:spPr>
          <a:xfrm>
            <a:off x="731520" y="4425696"/>
            <a:ext cx="6858000" cy="932688"/>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425696"/>
            <a:ext cx="36576" cy="932688"/>
          </a:xfrm>
          <a:prstGeom prst="rect">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4498848"/>
            <a:ext cx="6601968" cy="786384"/>
          </a:xfrm>
          <a:prstGeom prst="rect">
            <a:avLst/>
          </a:prstGeom>
          <a:noFill/>
        </p:spPr>
        <p:txBody>
          <a:bodyPr wrap="square" lIns="0" tIns="0" rIns="0" bIns="0">
            <a:spAutoFit/>
          </a:bodyPr>
          <a:lstStyle/>
          <a:p>
            <a:pPr>
              <a:defRPr sz="1100" b="1">
                <a:solidFill>
                  <a:srgbClr val="38BDF8"/>
                </a:solidFill>
                <a:latin typeface="Segoe UI"/>
              </a:defRPr>
            </a:pPr>
            <a:r>
              <a:t>The Quality Inspector: </a:t>
            </a:r>
            <a:r>
              <a:rPr b="0" i="1">
                <a:solidFill>
                  <a:srgbClr val="FFFFFF"/>
                </a:solidFill>
              </a:rPr>
              <a:t>"When customers return broken ceramics, the freight company claims we dropped it."</a:t>
            </a:r>
          </a:p>
          <a:p>
            <a:pPr>
              <a:spcBef>
                <a:spcPts val="300"/>
              </a:spcBef>
              <a:defRPr sz="1000">
                <a:solidFill>
                  <a:srgbClr val="E2E8F0"/>
                </a:solidFill>
                <a:latin typeface="Segoe UI"/>
              </a:defRPr>
            </a:pPr>
            <a:r>
              <a:t>→ How we fixed it: Saved tamper-evident video clips showing exact time, bay number, and drop height so there's zero finger-pointing.</a:t>
            </a:r>
          </a:p>
        </p:txBody>
      </p:sp>
      <p:sp>
        <p:nvSpPr>
          <p:cNvPr id="17" name="Rectangle 16"/>
          <p:cNvSpPr/>
          <p:nvPr/>
        </p:nvSpPr>
        <p:spPr>
          <a:xfrm>
            <a:off x="731520" y="5449824"/>
            <a:ext cx="6858000" cy="932688"/>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5449824"/>
            <a:ext cx="36576" cy="9326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522976"/>
            <a:ext cx="6601968" cy="786384"/>
          </a:xfrm>
          <a:prstGeom prst="rect">
            <a:avLst/>
          </a:prstGeom>
          <a:noFill/>
        </p:spPr>
        <p:txBody>
          <a:bodyPr wrap="square" lIns="0" tIns="0" rIns="0" bIns="0">
            <a:spAutoFit/>
          </a:bodyPr>
          <a:lstStyle/>
          <a:p>
            <a:pPr>
              <a:defRPr sz="1100" b="1">
                <a:solidFill>
                  <a:srgbClr val="38BDF8"/>
                </a:solidFill>
                <a:latin typeface="Segoe UI"/>
              </a:defRPr>
            </a:pPr>
            <a:r>
              <a:t>The Safety Officer: </a:t>
            </a:r>
            <a:r>
              <a:rPr b="0" i="1">
                <a:solidFill>
                  <a:srgbClr val="FFFFFF"/>
                </a:solidFill>
              </a:rPr>
              <a:t>"Workers drag heavy boxes across wet spots and blow out their backs."</a:t>
            </a:r>
          </a:p>
          <a:p>
            <a:pPr>
              <a:spcBef>
                <a:spcPts val="300"/>
              </a:spcBef>
              <a:defRPr sz="1000">
                <a:solidFill>
                  <a:srgbClr val="E2E8F0"/>
                </a:solidFill>
                <a:latin typeface="Segoe UI"/>
              </a:defRPr>
            </a:pPr>
            <a:r>
              <a:t>→ How we fixed it: Added automatic wet-floor hazard detection boxes and recommendations for two-person lifting.</a:t>
            </a:r>
          </a:p>
        </p:txBody>
      </p:sp>
      <p:sp>
        <p:nvSpPr>
          <p:cNvPr id="20" name="Rectangle 19"/>
          <p:cNvSpPr/>
          <p:nvPr/>
        </p:nvSpPr>
        <p:spPr>
          <a:xfrm>
            <a:off x="7818120" y="1353312"/>
            <a:ext cx="3639312" cy="5029200"/>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18120" y="1353312"/>
            <a:ext cx="3639312"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19288" y="1508760"/>
            <a:ext cx="3236976" cy="4754880"/>
          </a:xfrm>
          <a:prstGeom prst="rect">
            <a:avLst/>
          </a:prstGeom>
          <a:noFill/>
        </p:spPr>
        <p:txBody>
          <a:bodyPr wrap="square" lIns="0" tIns="0" rIns="0" bIns="0">
            <a:spAutoFit/>
          </a:bodyPr>
          <a:lstStyle/>
          <a:p>
            <a:pPr>
              <a:defRPr sz="1300" b="1">
                <a:solidFill>
                  <a:srgbClr val="38BDF8"/>
                </a:solidFill>
                <a:latin typeface="Segoe UI"/>
              </a:defRPr>
            </a:pPr>
            <a:r>
              <a:t>WHAT OUR TESTING SHOWED</a:t>
            </a:r>
          </a:p>
          <a:p>
            <a:pPr>
              <a:spcBef>
                <a:spcPts val="800"/>
              </a:spcBef>
              <a:defRPr sz="1100" b="1">
                <a:solidFill>
                  <a:srgbClr val="FFFFFF"/>
                </a:solidFill>
                <a:latin typeface="Segoe UI"/>
              </a:defRPr>
            </a:pPr>
            <a:r>
              <a:t>• Sub-1.5s Reaction Time: </a:t>
            </a:r>
            <a:r>
              <a:rPr b="0">
                <a:solidFill>
                  <a:srgbClr val="CBD5E1"/>
                </a:solidFill>
              </a:rPr>
              <a:t>From the instant a box crashes to the floor, the system detects it and plays a sound in under 1.5 seconds.</a:t>
            </a:r>
          </a:p>
          <a:p>
            <a:pPr>
              <a:spcBef>
                <a:spcPts val="800"/>
              </a:spcBef>
              <a:defRPr sz="1100" b="1">
                <a:solidFill>
                  <a:srgbClr val="FFFFFF"/>
                </a:solidFill>
                <a:latin typeface="Segoe UI"/>
              </a:defRPr>
            </a:pPr>
            <a:r>
              <a:t>• 30 mins down to 1 min: </a:t>
            </a:r>
            <a:r>
              <a:rPr b="0">
                <a:solidFill>
                  <a:srgbClr val="CBD5E1"/>
                </a:solidFill>
              </a:rPr>
              <a:t>Supervisors no longer waste half an hour hunting for incident timestamps—the 5-second replay is right there.</a:t>
            </a:r>
          </a:p>
          <a:p>
            <a:pPr>
              <a:spcBef>
                <a:spcPts val="800"/>
              </a:spcBef>
              <a:defRPr sz="1100" b="1">
                <a:solidFill>
                  <a:srgbClr val="FFFFFF"/>
                </a:solidFill>
                <a:latin typeface="Segoe UI"/>
              </a:defRPr>
            </a:pPr>
            <a:r>
              <a:t>• Caught 8 out of 9 Drops: </a:t>
            </a:r>
            <a:r>
              <a:rPr b="0">
                <a:solidFill>
                  <a:srgbClr val="CBD5E1"/>
                </a:solidFill>
              </a:rPr>
              <a:t>In our test video footage, the AI caught 8 out of 9 drops that human workers didn't bother reporting.</a:t>
            </a:r>
          </a:p>
          <a:p>
            <a:pPr>
              <a:spcBef>
                <a:spcPts val="800"/>
              </a:spcBef>
              <a:defRPr sz="1100" b="1">
                <a:solidFill>
                  <a:srgbClr val="FFFFFF"/>
                </a:solidFill>
                <a:latin typeface="Segoe UI"/>
              </a:defRPr>
            </a:pPr>
            <a:r>
              <a:t>• Zero Guesswork on Claims: </a:t>
            </a:r>
            <a:r>
              <a:rPr b="0">
                <a:solidFill>
                  <a:srgbClr val="CBD5E1"/>
                </a:solidFill>
              </a:rPr>
              <a:t>Having a video clip with a timestamp and drop height completely shuts down freight liability disputes.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flip="none" rotWithShape="1">
          <a:gsLst>
            <a:gs pos="0">
              <a:srgbClr val="060F1E"/>
            </a:gs>
            <a:gs pos="38000">
              <a:srgbClr val="0A213D"/>
            </a:gs>
            <a:gs pos="75000">
              <a:srgbClr val="113665"/>
            </a:gs>
            <a:gs pos="100000">
              <a:srgbClr val="07182E"/>
            </a:gs>
          </a:gsLst>
          <a:lin ang="3240000" scaled="1"/>
        </a:gradFill>
        <a:effectLst/>
      </p:bgPr>
    </p:bg>
    <p:spTree>
      <p:nvGrpSpPr>
        <p:cNvPr id="1" name=""/>
        <p:cNvGrpSpPr/>
        <p:nvPr/>
      </p:nvGrpSpPr>
      <p:grpSpPr/>
      <p:sp>
        <p:nvSpPr>
          <p:cNvPr id="2" name="TextBox 1"/>
          <p:cNvSpPr txBox="1"/>
          <p:nvPr/>
        </p:nvSpPr>
        <p:spPr>
          <a:xfrm>
            <a:off x="731520" y="347472"/>
            <a:ext cx="5943600" cy="256032"/>
          </a:xfrm>
          <a:prstGeom prst="rect">
            <a:avLst/>
          </a:prstGeom>
          <a:noFill/>
        </p:spPr>
        <p:txBody>
          <a:bodyPr wrap="none" lIns="0" tIns="0" rIns="0" bIns="0">
            <a:spAutoFit/>
          </a:bodyPr>
          <a:lstStyle/>
          <a:p>
            <a:pPr>
              <a:defRPr sz="1100" b="1">
                <a:solidFill>
                  <a:srgbClr val="38BDF8"/>
                </a:solidFill>
                <a:latin typeface="Segoe UI"/>
              </a:defRPr>
            </a:pPr>
            <a:r>
              <a:t>06  /  CONCLUSION, REAL LIMITATIONS &amp; ROADMAP</a:t>
            </a:r>
          </a:p>
        </p:txBody>
      </p:sp>
      <p:sp>
        <p:nvSpPr>
          <p:cNvPr id="3" name="TextBox 2"/>
          <p:cNvSpPr txBox="1"/>
          <p:nvPr/>
        </p:nvSpPr>
        <p:spPr>
          <a:xfrm>
            <a:off x="731520" y="621792"/>
            <a:ext cx="10728655" cy="502920"/>
          </a:xfrm>
          <a:prstGeom prst="rect">
            <a:avLst/>
          </a:prstGeom>
          <a:noFill/>
        </p:spPr>
        <p:txBody>
          <a:bodyPr wrap="square" lIns="0" tIns="0" rIns="0" bIns="0">
            <a:spAutoFit/>
          </a:bodyPr>
          <a:lstStyle/>
          <a:p>
            <a:pPr>
              <a:defRPr sz="2500" b="1">
                <a:solidFill>
                  <a:srgbClr val="FFFFFF"/>
                </a:solidFill>
                <a:latin typeface="Segoe UI"/>
              </a:defRPr>
            </a:pPr>
            <a:r>
              <a:t>The Good, The Glitches &amp; What’s Next</a:t>
            </a:r>
          </a:p>
        </p:txBody>
      </p:sp>
      <p:sp>
        <p:nvSpPr>
          <p:cNvPr id="4" name="Rectangle 3"/>
          <p:cNvSpPr/>
          <p:nvPr/>
        </p:nvSpPr>
        <p:spPr>
          <a:xfrm>
            <a:off x="731520" y="1170432"/>
            <a:ext cx="10728655" cy="13716"/>
          </a:xfrm>
          <a:prstGeom prst="rect">
            <a:avLst/>
          </a:prstGeom>
          <a:solidFill>
            <a:srgbClr val="1C3E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53312"/>
            <a:ext cx="3364992" cy="4160520"/>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53312"/>
            <a:ext cx="3364992" cy="36576"/>
          </a:xfrm>
          <a:prstGeom prst="rect">
            <a:avLst/>
          </a:prstGeom>
          <a:solidFill>
            <a:srgbClr val="1C3E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17904"/>
            <a:ext cx="2999232" cy="3840480"/>
          </a:xfrm>
          <a:prstGeom prst="rect">
            <a:avLst/>
          </a:prstGeom>
          <a:noFill/>
        </p:spPr>
        <p:txBody>
          <a:bodyPr wrap="square" lIns="0" tIns="0" rIns="0" bIns="0">
            <a:spAutoFit/>
          </a:bodyPr>
          <a:lstStyle/>
          <a:p>
            <a:pPr>
              <a:defRPr sz="1400" b="1">
                <a:solidFill>
                  <a:srgbClr val="94A3B8"/>
                </a:solidFill>
                <a:latin typeface="Segoe UI"/>
              </a:defRPr>
            </a:pPr>
            <a:r>
              <a:t>01 — WHAT'S WORKING</a:t>
            </a:r>
          </a:p>
          <a:p>
            <a:pPr>
              <a:spcBef>
                <a:spcPts val="200"/>
              </a:spcBef>
              <a:defRPr sz="1650" b="1">
                <a:solidFill>
                  <a:srgbClr val="FFFFFF"/>
                </a:solidFill>
                <a:latin typeface="Segoe UI"/>
              </a:defRPr>
            </a:pPr>
            <a:r>
              <a:t>The Good Stuff</a:t>
            </a:r>
          </a:p>
          <a:p>
            <a:pPr>
              <a:spcBef>
                <a:spcPts val="700"/>
              </a:spcBef>
              <a:defRPr sz="1100" b="1">
                <a:solidFill>
                  <a:srgbClr val="FFFFFF"/>
                </a:solidFill>
                <a:latin typeface="Segoe UI"/>
              </a:defRPr>
            </a:pPr>
            <a:r>
              <a:t>• Live Cloud App: </a:t>
            </a:r>
            <a:r>
              <a:rPr b="0">
                <a:solidFill>
                  <a:srgbClr val="CBD5E1"/>
                </a:solidFill>
              </a:rPr>
              <a:t>Hosted online 24/7 on Render with working frontend, backend, and database.</a:t>
            </a:r>
          </a:p>
          <a:p>
            <a:pPr>
              <a:spcBef>
                <a:spcPts val="700"/>
              </a:spcBef>
              <a:defRPr sz="1100" b="1">
                <a:solidFill>
                  <a:srgbClr val="FFFFFF"/>
                </a:solidFill>
                <a:latin typeface="Segoe UI"/>
              </a:defRPr>
            </a:pPr>
            <a:r>
              <a:t>• Real Video Analysis: </a:t>
            </a:r>
            <a:r>
              <a:rPr b="0">
                <a:solidFill>
                  <a:srgbClr val="CBD5E1"/>
                </a:solidFill>
              </a:rPr>
              <a:t>Processes uploaded CCTV footage, draws bounding boxes, and flags drops and dragging.</a:t>
            </a:r>
          </a:p>
          <a:p>
            <a:pPr>
              <a:spcBef>
                <a:spcPts val="700"/>
              </a:spcBef>
              <a:defRPr sz="1100" b="1">
                <a:solidFill>
                  <a:srgbClr val="FFFFFF"/>
                </a:solidFill>
                <a:latin typeface="Segoe UI"/>
              </a:defRPr>
            </a:pPr>
            <a:r>
              <a:t>• Dashboard &amp; Sound: </a:t>
            </a:r>
            <a:r>
              <a:rPr b="0">
                <a:solidFill>
                  <a:srgbClr val="CBD5E1"/>
                </a:solidFill>
              </a:rPr>
              <a:t>Real-time KPI cards, 7-day risk trend curves, and in-browser audio chimes.</a:t>
            </a:r>
          </a:p>
          <a:p>
            <a:pPr>
              <a:spcBef>
                <a:spcPts val="700"/>
              </a:spcBef>
              <a:defRPr sz="1100" b="1">
                <a:solidFill>
                  <a:srgbClr val="FFFFFF"/>
                </a:solidFill>
                <a:latin typeface="Segoe UI"/>
              </a:defRPr>
            </a:pPr>
            <a:r>
              <a:t>• Gemini Assistant: </a:t>
            </a:r>
            <a:r>
              <a:rPr b="0">
                <a:solidFill>
                  <a:srgbClr val="CBD5E1"/>
                </a:solidFill>
              </a:rPr>
              <a:t>Actually answers conversational questions using real database records.</a:t>
            </a:r>
          </a:p>
        </p:txBody>
      </p:sp>
      <p:sp>
        <p:nvSpPr>
          <p:cNvPr id="8" name="TextBox 7"/>
          <p:cNvSpPr txBox="1"/>
          <p:nvPr/>
        </p:nvSpPr>
        <p:spPr>
          <a:xfrm>
            <a:off x="4169664" y="2999232"/>
            <a:ext cx="182880" cy="457200"/>
          </a:xfrm>
          <a:prstGeom prst="rect">
            <a:avLst/>
          </a:prstGeom>
          <a:noFill/>
        </p:spPr>
        <p:txBody>
          <a:bodyPr wrap="none" lIns="0" tIns="0" rIns="0" bIns="0">
            <a:spAutoFit/>
          </a:bodyPr>
          <a:lstStyle/>
          <a:p>
            <a:pPr algn="ctr">
              <a:defRPr sz="2400" b="1">
                <a:solidFill>
                  <a:srgbClr val="38BDF8"/>
                </a:solidFill>
                <a:latin typeface="Segoe UI"/>
              </a:defRPr>
            </a:pPr>
            <a:r>
              <a:t>→</a:t>
            </a:r>
          </a:p>
        </p:txBody>
      </p:sp>
      <p:sp>
        <p:nvSpPr>
          <p:cNvPr id="9" name="Rectangle 8"/>
          <p:cNvSpPr/>
          <p:nvPr/>
        </p:nvSpPr>
        <p:spPr>
          <a:xfrm>
            <a:off x="4407408" y="1353312"/>
            <a:ext cx="3364992" cy="4160520"/>
          </a:xfrm>
          <a:prstGeom prst="rect">
            <a:avLst/>
          </a:prstGeom>
          <a:solidFill>
            <a:srgbClr val="0A192E"/>
          </a:solidFill>
          <a:ln w="12700">
            <a:solidFill>
              <a:srgbClr val="1C3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07408" y="1353312"/>
            <a:ext cx="3364992" cy="36576"/>
          </a:xfrm>
          <a:prstGeom prst="rect">
            <a:avLst/>
          </a:prstGeom>
          <a:solidFill>
            <a:srgbClr val="1C3E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517904"/>
            <a:ext cx="2999232" cy="3840480"/>
          </a:xfrm>
          <a:prstGeom prst="rect">
            <a:avLst/>
          </a:prstGeom>
          <a:noFill/>
        </p:spPr>
        <p:txBody>
          <a:bodyPr wrap="square" lIns="0" tIns="0" rIns="0" bIns="0">
            <a:spAutoFit/>
          </a:bodyPr>
          <a:lstStyle/>
          <a:p>
            <a:pPr>
              <a:defRPr sz="1400" b="1">
                <a:solidFill>
                  <a:srgbClr val="94A3B8"/>
                </a:solidFill>
                <a:latin typeface="Segoe UI"/>
              </a:defRPr>
            </a:pPr>
            <a:r>
              <a:t>02 — CURRENT LIMITATIONS</a:t>
            </a:r>
          </a:p>
          <a:p>
            <a:pPr>
              <a:spcBef>
                <a:spcPts val="200"/>
              </a:spcBef>
              <a:defRPr sz="1650" b="1">
                <a:solidFill>
                  <a:srgbClr val="94A3B8"/>
                </a:solidFill>
                <a:latin typeface="Segoe UI"/>
              </a:defRPr>
            </a:pPr>
            <a:r>
              <a:t>Honest Glitches</a:t>
            </a:r>
          </a:p>
          <a:p>
            <a:pPr>
              <a:spcBef>
                <a:spcPts val="700"/>
              </a:spcBef>
              <a:defRPr sz="1100" b="1">
                <a:solidFill>
                  <a:srgbClr val="FFFFFF"/>
                </a:solidFill>
                <a:latin typeface="Segoe UI"/>
              </a:defRPr>
            </a:pPr>
            <a:r>
              <a:t>• Free Tier Cloud CPU: </a:t>
            </a:r>
            <a:r>
              <a:rPr b="0">
                <a:solidFill>
                  <a:srgbClr val="CBD5E1"/>
                </a:solidFill>
              </a:rPr>
              <a:t>Running video analysis on a free CPU instance takes 5–8 seconds per clip. A dedicated GPU will make it instant.</a:t>
            </a:r>
          </a:p>
          <a:p>
            <a:pPr>
              <a:spcBef>
                <a:spcPts val="700"/>
              </a:spcBef>
              <a:defRPr sz="1100" b="1">
                <a:solidFill>
                  <a:srgbClr val="FFFFFF"/>
                </a:solidFill>
                <a:latin typeface="Segoe UI"/>
              </a:defRPr>
            </a:pPr>
            <a:r>
              <a:t>• The Crowd Problem: </a:t>
            </a:r>
            <a:r>
              <a:rPr b="0">
                <a:solidFill>
                  <a:srgbClr val="CBD5E1"/>
                </a:solidFill>
              </a:rPr>
              <a:t>When 3 workers crowd directly in front of a box, the camera can temporarily lose sight of it.</a:t>
            </a:r>
          </a:p>
          <a:p>
            <a:pPr>
              <a:spcBef>
                <a:spcPts val="700"/>
              </a:spcBef>
              <a:defRPr sz="1100" b="1">
                <a:solidFill>
                  <a:srgbClr val="FFFFFF"/>
                </a:solidFill>
                <a:latin typeface="Segoe UI"/>
              </a:defRPr>
            </a:pPr>
            <a:r>
              <a:t>• Morning Sunlight Glare: </a:t>
            </a:r>
            <a:r>
              <a:rPr b="0">
                <a:solidFill>
                  <a:srgbClr val="CBD5E1"/>
                </a:solidFill>
              </a:rPr>
              <a:t>Intense morning glare through open truck doors can slightly lower detection confidence.</a:t>
            </a:r>
          </a:p>
        </p:txBody>
      </p:sp>
      <p:sp>
        <p:nvSpPr>
          <p:cNvPr id="12" name="TextBox 11"/>
          <p:cNvSpPr txBox="1"/>
          <p:nvPr/>
        </p:nvSpPr>
        <p:spPr>
          <a:xfrm>
            <a:off x="7845552" y="2999232"/>
            <a:ext cx="182880" cy="457200"/>
          </a:xfrm>
          <a:prstGeom prst="rect">
            <a:avLst/>
          </a:prstGeom>
          <a:noFill/>
        </p:spPr>
        <p:txBody>
          <a:bodyPr wrap="none" lIns="0" tIns="0" rIns="0" bIns="0">
            <a:spAutoFit/>
          </a:bodyPr>
          <a:lstStyle/>
          <a:p>
            <a:pPr algn="ctr">
              <a:defRPr sz="2400" b="1">
                <a:solidFill>
                  <a:srgbClr val="38BDF8"/>
                </a:solidFill>
                <a:latin typeface="Segoe UI"/>
              </a:defRPr>
            </a:pPr>
            <a:r>
              <a:t>→</a:t>
            </a:r>
          </a:p>
        </p:txBody>
      </p:sp>
      <p:sp>
        <p:nvSpPr>
          <p:cNvPr id="13" name="Rectangle 12"/>
          <p:cNvSpPr/>
          <p:nvPr/>
        </p:nvSpPr>
        <p:spPr>
          <a:xfrm>
            <a:off x="8083296" y="1353312"/>
            <a:ext cx="3364992" cy="4160520"/>
          </a:xfrm>
          <a:prstGeom prst="rect">
            <a:avLst/>
          </a:prstGeom>
          <a:solidFill>
            <a:srgbClr val="102C52"/>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83296" y="1353312"/>
            <a:ext cx="3364992"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66176" y="1517904"/>
            <a:ext cx="2999232" cy="3840480"/>
          </a:xfrm>
          <a:prstGeom prst="rect">
            <a:avLst/>
          </a:prstGeom>
          <a:noFill/>
        </p:spPr>
        <p:txBody>
          <a:bodyPr wrap="square" lIns="0" tIns="0" rIns="0" bIns="0">
            <a:spAutoFit/>
          </a:bodyPr>
          <a:lstStyle/>
          <a:p>
            <a:pPr>
              <a:defRPr sz="1400" b="1">
                <a:solidFill>
                  <a:srgbClr val="38BDF8"/>
                </a:solidFill>
                <a:latin typeface="Segoe UI"/>
              </a:defRPr>
            </a:pPr>
            <a:r>
              <a:t>03 — WHAT'S NEXT</a:t>
            </a:r>
          </a:p>
          <a:p>
            <a:pPr>
              <a:spcBef>
                <a:spcPts val="200"/>
              </a:spcBef>
              <a:defRPr sz="1650" b="1">
                <a:solidFill>
                  <a:srgbClr val="38BDF8"/>
                </a:solidFill>
                <a:latin typeface="Segoe UI"/>
              </a:defRPr>
            </a:pPr>
            <a:r>
              <a:t>Enterprise Roadmap</a:t>
            </a:r>
          </a:p>
          <a:p>
            <a:pPr>
              <a:spcBef>
                <a:spcPts val="700"/>
              </a:spcBef>
              <a:defRPr sz="1100" b="1">
                <a:solidFill>
                  <a:srgbClr val="FFFFFF"/>
                </a:solidFill>
                <a:latin typeface="Segoe UI"/>
              </a:defRPr>
            </a:pPr>
            <a:r>
              <a:t>• Edge Hardware (NVIDIA Jetson): </a:t>
            </a:r>
            <a:r>
              <a:rPr b="0">
                <a:solidFill>
                  <a:srgbClr val="CBD5E1"/>
                </a:solidFill>
              </a:rPr>
              <a:t>Run YOLOv8 right on the dock on a $150 Jetson nano for instant &lt;50ms processing.</a:t>
            </a:r>
          </a:p>
          <a:p>
            <a:pPr>
              <a:spcBef>
                <a:spcPts val="700"/>
              </a:spcBef>
              <a:defRPr sz="1100" b="1">
                <a:solidFill>
                  <a:srgbClr val="FFFFFF"/>
                </a:solidFill>
                <a:latin typeface="Segoe UI"/>
              </a:defRPr>
            </a:pPr>
            <a:r>
              <a:t>• Barcode Scanner Link: </a:t>
            </a:r>
            <a:r>
              <a:rPr b="0">
                <a:solidFill>
                  <a:srgbClr val="CBD5E1"/>
                </a:solidFill>
              </a:rPr>
              <a:t>Connect detection timestamps directly to package tracking numbers (WMS integration).</a:t>
            </a:r>
          </a:p>
          <a:p>
            <a:pPr>
              <a:spcBef>
                <a:spcPts val="700"/>
              </a:spcBef>
              <a:defRPr sz="1100" b="1">
                <a:solidFill>
                  <a:srgbClr val="FFFFFF"/>
                </a:solidFill>
                <a:latin typeface="Segoe UI"/>
              </a:defRPr>
            </a:pPr>
            <a:r>
              <a:t>• Ergonomic Lifting Checks: </a:t>
            </a:r>
            <a:r>
              <a:rPr b="0">
                <a:solidFill>
                  <a:srgbClr val="CBD5E1"/>
                </a:solidFill>
              </a:rPr>
              <a:t>Warn workers if they bend at the back instead of lifting with their knees to prevent injury.</a:t>
            </a:r>
          </a:p>
        </p:txBody>
      </p:sp>
      <p:sp>
        <p:nvSpPr>
          <p:cNvPr id="16" name="Rectangle 15"/>
          <p:cNvSpPr/>
          <p:nvPr/>
        </p:nvSpPr>
        <p:spPr>
          <a:xfrm>
            <a:off x="731520" y="5687568"/>
            <a:ext cx="10728655" cy="13716"/>
          </a:xfrm>
          <a:prstGeom prst="rect">
            <a:avLst/>
          </a:prstGeom>
          <a:solidFill>
            <a:srgbClr val="1C3E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779008"/>
            <a:ext cx="10728655" cy="731520"/>
          </a:xfrm>
          <a:prstGeom prst="rect">
            <a:avLst/>
          </a:prstGeom>
          <a:noFill/>
        </p:spPr>
        <p:txBody>
          <a:bodyPr wrap="square" lIns="0" tIns="0" rIns="0" bIns="0">
            <a:spAutoFit/>
          </a:bodyPr>
          <a:lstStyle/>
          <a:p>
            <a:pPr>
              <a:defRPr sz="1500" b="1">
                <a:solidFill>
                  <a:srgbClr val="FFFFFF"/>
                </a:solidFill>
                <a:latin typeface="Segoe UI"/>
              </a:defRPr>
            </a:pPr>
            <a:r>
              <a:t>DockGuard AI: </a:t>
            </a:r>
            <a:r>
              <a:rPr b="1">
                <a:solidFill>
                  <a:srgbClr val="38BDF8"/>
                </a:solidFill>
              </a:rPr>
              <a:t>From detecting risk  →  to preventing it.</a:t>
            </a:r>
          </a:p>
          <a:p>
            <a:pPr>
              <a:spcBef>
                <a:spcPts val="300"/>
              </a:spcBef>
              <a:defRPr sz="1050">
                <a:solidFill>
                  <a:srgbClr val="94A3B8"/>
                </a:solidFill>
                <a:latin typeface="Segoe UI"/>
              </a:defRPr>
            </a:pPr>
            <a:r>
              <a:t>Team VisionGuard: Aastha Gupta, Lucky Lakhani, Runjan Bawa   |   smart-warehouse-system-rk8p.onrender.com   |   github.com/Aastha008/Smart-Warehouse-System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