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flip="none" rotWithShape="1">
          <a:gsLst>
            <a:gs pos="0">
              <a:srgbClr val="060F1E"/>
            </a:gs>
            <a:gs pos="38000">
              <a:srgbClr val="0A213D"/>
            </a:gs>
            <a:gs pos="75000">
              <a:srgbClr val="113665"/>
            </a:gs>
            <a:gs pos="100000">
              <a:srgbClr val="07182E"/>
            </a:gs>
          </a:gsLst>
          <a:lin ang="324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AUTONOMOUS WAREHOUSE CARGO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62179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Segoe UI"/>
              </a:defRPr>
            </a:pPr>
            <a:r>
              <a:t>DockGuard AI</a:t>
            </a:r>
          </a:p>
          <a:p>
            <a:pPr>
              <a:spcBef>
                <a:spcPts val="400"/>
              </a:spcBef>
              <a:defRPr sz="1500" b="1">
                <a:solidFill>
                  <a:srgbClr val="38BDF8"/>
                </a:solidFill>
                <a:latin typeface="Segoe UI"/>
              </a:defRPr>
            </a:pPr>
            <a:r>
              <a:t>Because gravity shouldn't win on the warehouse loading dock.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212848"/>
            <a:ext cx="36576" cy="10972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8096" y="2212848"/>
            <a:ext cx="6181344" cy="1097280"/>
          </a:xfrm>
          <a:prstGeom prst="rect">
            <a:avLst/>
          </a:prstGeom>
          <a:solidFill>
            <a:srgbClr val="0A1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67712"/>
            <a:ext cx="5897880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7DD3FC"/>
                </a:solidFill>
                <a:latin typeface="Segoe UI"/>
              </a:defRPr>
            </a:pPr>
            <a:r>
              <a:t>THE PROBLEM IN 10 SECONDS</a:t>
            </a:r>
          </a:p>
          <a:p>
            <a:pPr>
              <a:spcBef>
                <a:spcPts val="3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Ever opened an online delivery to find a shattered product? It rarely breaks in the van. It happens in the 4:00 PM warehouse rush where cartons slip, pallets wobble, and nobody notices. DockGuard watches CCTV in real time to catch drops, rough drags, and stack collapses before goods ever leave the bay.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20440"/>
            <a:ext cx="62179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THE BUILDERS  —  TEAM VISIONGUARD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886200"/>
            <a:ext cx="6217920" cy="749808"/>
          </a:xfrm>
          <a:prstGeom prst="rect">
            <a:avLst/>
          </a:prstGeom>
          <a:solidFill>
            <a:srgbClr val="0A192E"/>
          </a:solidFill>
          <a:ln w="12700">
            <a:solidFill>
              <a:srgbClr val="1C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3886200"/>
            <a:ext cx="27432" cy="74980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959352"/>
            <a:ext cx="59436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Aastha Gupta</a:t>
            </a:r>
            <a:r>
              <a:rPr sz="950" b="1">
                <a:solidFill>
                  <a:srgbClr val="38BDF8"/>
                </a:solidFill>
              </a:rPr>
              <a:t>   •   Computer Vision Whisperer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Trained custom YOLOv8 model for carton, pallet &amp; worker detection under complex dock occlusions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727448"/>
            <a:ext cx="6217920" cy="749808"/>
          </a:xfrm>
          <a:prstGeom prst="rect">
            <a:avLst/>
          </a:prstGeom>
          <a:solidFill>
            <a:srgbClr val="0A192E"/>
          </a:solidFill>
          <a:ln w="12700">
            <a:solidFill>
              <a:srgbClr val="1C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727448"/>
            <a:ext cx="27432" cy="74980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800600"/>
            <a:ext cx="59436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Lucky Lakhani</a:t>
            </a:r>
            <a:r>
              <a:rPr sz="950" b="1">
                <a:solidFill>
                  <a:srgbClr val="38BDF8"/>
                </a:solidFill>
              </a:rPr>
              <a:t>   •   Pipeline &amp; AI Hacker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Built low-latency video ring buffer, async FastAPI backend, and Gemini 2.5 RAG integration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568696"/>
            <a:ext cx="6217920" cy="749808"/>
          </a:xfrm>
          <a:prstGeom prst="rect">
            <a:avLst/>
          </a:prstGeom>
          <a:solidFill>
            <a:srgbClr val="0A192E"/>
          </a:solidFill>
          <a:ln w="12700">
            <a:solidFill>
              <a:srgbClr val="1C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5568696"/>
            <a:ext cx="27432" cy="74980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5641848"/>
            <a:ext cx="59436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Runjan Bawa</a:t>
            </a:r>
            <a:r>
              <a:rPr sz="950" b="1">
                <a:solidFill>
                  <a:srgbClr val="38BDF8"/>
                </a:solidFill>
              </a:rPr>
              <a:t>   •   UI &amp; Operational Experience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Crafted the live dashboard, Web Audio chimes, 7-day risk charts, and supervisor workflows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868680"/>
            <a:ext cx="4144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INDUSTRY REALITY &amp; ECONOMIC IMPACT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1280160"/>
            <a:ext cx="4144975" cy="1481328"/>
          </a:xfrm>
          <a:prstGeom prst="rect">
            <a:avLst/>
          </a:prstGeom>
          <a:solidFill>
            <a:srgbClr val="0A192E"/>
          </a:solidFill>
          <a:ln w="12700">
            <a:solidFill>
              <a:srgbClr val="1C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16368" y="1408176"/>
            <a:ext cx="3742639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01   </a:t>
            </a:r>
            <a:r>
              <a:rPr sz="1700" b="1">
                <a:solidFill>
                  <a:srgbClr val="FFFFFF"/>
                </a:solidFill>
                <a:latin typeface="Segoe UI"/>
              </a:rPr>
              <a:t>$50B+  </a:t>
            </a:r>
            <a:r>
              <a:rPr sz="1000" b="1">
                <a:solidFill>
                  <a:srgbClr val="38BDF8"/>
                </a:solidFill>
                <a:latin typeface="Segoe UI"/>
              </a:rPr>
              <a:t>Annual Global Freight Damage</a:t>
            </a:r>
          </a:p>
          <a:p>
            <a:pPr>
              <a:spcBef>
                <a:spcPts val="5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Over $50 billion of merchandise is destroyed in warehouses each year before reaching highways. The majority goes entirely unrecorded at the loading dock.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0" y="2907792"/>
            <a:ext cx="4144975" cy="1481328"/>
          </a:xfrm>
          <a:prstGeom prst="rect">
            <a:avLst/>
          </a:prstGeom>
          <a:solidFill>
            <a:srgbClr val="0A192E"/>
          </a:solidFill>
          <a:ln w="12700">
            <a:solidFill>
              <a:srgbClr val="1C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16368" y="3035808"/>
            <a:ext cx="3742639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02   </a:t>
            </a:r>
            <a:r>
              <a:rPr sz="1700" b="1">
                <a:solidFill>
                  <a:srgbClr val="FFFFFF"/>
                </a:solidFill>
                <a:latin typeface="Segoe UI"/>
              </a:rPr>
              <a:t>1 : 10  </a:t>
            </a:r>
            <a:r>
              <a:rPr sz="1000" b="1">
                <a:solidFill>
                  <a:srgbClr val="38BDF8"/>
                </a:solidFill>
                <a:latin typeface="Segoe UI"/>
              </a:rPr>
              <a:t>Supervisor Blindspot Ratio</a:t>
            </a:r>
          </a:p>
          <a:p>
            <a:pPr>
              <a:spcBef>
                <a:spcPts val="5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A single dock supervisor oversees up to 10 active bays, 40 fast-moving workers, and forklift traffic. Blame turns into speculation and customer friction.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0" y="4535424"/>
            <a:ext cx="4144975" cy="1481328"/>
          </a:xfrm>
          <a:prstGeom prst="rect">
            <a:avLst/>
          </a:prstGeom>
          <a:solidFill>
            <a:srgbClr val="0A192E"/>
          </a:solidFill>
          <a:ln w="12700">
            <a:solidFill>
              <a:srgbClr val="1C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368" y="4663440"/>
            <a:ext cx="3742639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03   </a:t>
            </a:r>
            <a:r>
              <a:rPr sz="1700" b="1">
                <a:solidFill>
                  <a:srgbClr val="FFFFFF"/>
                </a:solidFill>
                <a:latin typeface="Segoe UI"/>
              </a:rPr>
              <a:t>&lt; 1.5s  </a:t>
            </a:r>
            <a:r>
              <a:rPr sz="1000" b="1">
                <a:solidFill>
                  <a:srgbClr val="38BDF8"/>
                </a:solidFill>
                <a:latin typeface="Segoe UI"/>
              </a:rPr>
              <a:t>Intervention Window</a:t>
            </a:r>
          </a:p>
          <a:p>
            <a:pPr>
              <a:spcBef>
                <a:spcPts val="5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Catching cracked goods at the dock costs ~$10 to repackage. Letting damaged goods ship to a customer costs $200+ in return logistics and lost account goodwill.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6492240"/>
            <a:ext cx="10728655" cy="13716"/>
          </a:xfrm>
          <a:prstGeom prst="rect">
            <a:avLst/>
          </a:prstGeom>
          <a:solidFill>
            <a:srgbClr val="1C3E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6537960"/>
            <a:ext cx="1072865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DockGuard AI  •  Autonomous Video Intelligence for Warehouse Loading Bays  •  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flip="none" rotWithShape="1">
          <a:gsLst>
            <a:gs pos="0">
              <a:srgbClr val="060F1E"/>
            </a:gs>
            <a:gs pos="38000">
              <a:srgbClr val="0A213D"/>
            </a:gs>
            <a:gs pos="75000">
              <a:srgbClr val="113665"/>
            </a:gs>
            <a:gs pos="100000">
              <a:srgbClr val="07182E"/>
            </a:gs>
          </a:gsLst>
          <a:lin ang="324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6400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02  /  PROBLEM, SOLUTION &amp; USER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The Anatomy of a Saved Carton: From Sensor to Safe Shipment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43584"/>
            <a:ext cx="10728655" cy="13716"/>
          </a:xfrm>
          <a:prstGeom prst="rect">
            <a:avLst/>
          </a:prstGeom>
          <a:solidFill>
            <a:srgbClr val="1C3E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444752" cy="932688"/>
          </a:xfrm>
          <a:prstGeom prst="rect">
            <a:avLst/>
          </a:prstGeom>
          <a:solidFill>
            <a:srgbClr val="0A192E"/>
          </a:solidFill>
          <a:ln w="12700">
            <a:solidFill>
              <a:srgbClr val="1C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490472"/>
            <a:ext cx="1298448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Segoe UI"/>
              </a:defRPr>
            </a:pPr>
            <a:r>
              <a:t>01 • Bay Activity</a:t>
            </a:r>
          </a:p>
          <a:p>
            <a:pPr>
              <a:spcBef>
                <a:spcPts val="300"/>
              </a:spcBef>
              <a:defRPr sz="819">
                <a:solidFill>
                  <a:srgbClr val="E2E8F0"/>
                </a:solidFill>
                <a:latin typeface="Segoe UI"/>
              </a:defRPr>
            </a:pPr>
            <a:r>
              <a:t>Cartons loaded into 40ft trailer</a:t>
            </a:r>
          </a:p>
        </p:txBody>
      </p:sp>
      <p:sp>
        <p:nvSpPr>
          <p:cNvPr id="7" name="Rectangle 6"/>
          <p:cNvSpPr/>
          <p:nvPr/>
        </p:nvSpPr>
        <p:spPr>
          <a:xfrm>
            <a:off x="2276856" y="1417320"/>
            <a:ext cx="1444752" cy="932688"/>
          </a:xfrm>
          <a:prstGeom prst="rect">
            <a:avLst/>
          </a:prstGeom>
          <a:solidFill>
            <a:srgbClr val="0A192E"/>
          </a:solidFill>
          <a:ln w="12700">
            <a:solidFill>
              <a:srgbClr val="1C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50008" y="1490472"/>
            <a:ext cx="1298448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Segoe UI"/>
              </a:defRPr>
            </a:pPr>
            <a:r>
              <a:t>02 • CCTV Stream</a:t>
            </a:r>
          </a:p>
          <a:p>
            <a:pPr>
              <a:spcBef>
                <a:spcPts val="300"/>
              </a:spcBef>
              <a:defRPr sz="819">
                <a:solidFill>
                  <a:srgbClr val="E2E8F0"/>
                </a:solidFill>
                <a:latin typeface="Segoe UI"/>
              </a:defRPr>
            </a:pPr>
            <a:r>
              <a:t>1080p camera captures bay frames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822192" y="1417320"/>
            <a:ext cx="1444752" cy="932688"/>
          </a:xfrm>
          <a:prstGeom prst="rect">
            <a:avLst/>
          </a:prstGeom>
          <a:solidFill>
            <a:srgbClr val="0A192E"/>
          </a:solidFill>
          <a:ln w="12700">
            <a:solidFill>
              <a:srgbClr val="1C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95344" y="1490472"/>
            <a:ext cx="1298448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Segoe UI"/>
              </a:defRPr>
            </a:pPr>
            <a:r>
              <a:t>03 • YOLOv8 Vision</a:t>
            </a:r>
          </a:p>
          <a:p>
            <a:pPr>
              <a:spcBef>
                <a:spcPts val="300"/>
              </a:spcBef>
              <a:defRPr sz="819">
                <a:solidFill>
                  <a:srgbClr val="E2E8F0"/>
                </a:solidFill>
                <a:latin typeface="Segoe UI"/>
              </a:defRPr>
            </a:pPr>
            <a:r>
              <a:t>Spatial tracking of boxes &amp; workers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67528" y="1417320"/>
            <a:ext cx="1444752" cy="932688"/>
          </a:xfrm>
          <a:prstGeom prst="rect">
            <a:avLst/>
          </a:prstGeom>
          <a:solidFill>
            <a:srgbClr val="102C52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67528" y="1417320"/>
            <a:ext cx="1444752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1490472"/>
            <a:ext cx="1298448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04 • Risk Detector</a:t>
            </a:r>
          </a:p>
          <a:p>
            <a:pPr>
              <a:spcBef>
                <a:spcPts val="300"/>
              </a:spcBef>
              <a:defRPr sz="819">
                <a:solidFill>
                  <a:srgbClr val="E2E8F0"/>
                </a:solidFill>
                <a:latin typeface="Segoe UI"/>
              </a:defRPr>
            </a:pPr>
            <a:r>
              <a:t>Free-fall acceleration or drag flag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12864" y="1417320"/>
            <a:ext cx="1444752" cy="932688"/>
          </a:xfrm>
          <a:prstGeom prst="rect">
            <a:avLst/>
          </a:prstGeom>
          <a:solidFill>
            <a:srgbClr val="102C52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12864" y="1417320"/>
            <a:ext cx="1444752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86016" y="1490472"/>
            <a:ext cx="1298448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05 • Dock Chime</a:t>
            </a:r>
          </a:p>
          <a:p>
            <a:pPr>
              <a:spcBef>
                <a:spcPts val="300"/>
              </a:spcBef>
              <a:defRPr sz="819">
                <a:solidFill>
                  <a:srgbClr val="E2E8F0"/>
                </a:solidFill>
                <a:latin typeface="Segoe UI"/>
              </a:defRPr>
            </a:pPr>
            <a:r>
              <a:t>Subtle audible ping at Bay 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58200" y="1417320"/>
            <a:ext cx="1444752" cy="932688"/>
          </a:xfrm>
          <a:prstGeom prst="rect">
            <a:avLst/>
          </a:prstGeom>
          <a:solidFill>
            <a:srgbClr val="0A192E"/>
          </a:solidFill>
          <a:ln w="12700">
            <a:solidFill>
              <a:srgbClr val="1C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31352" y="1490472"/>
            <a:ext cx="1298448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Segoe UI"/>
              </a:defRPr>
            </a:pPr>
            <a:r>
              <a:t>06 • Inspection</a:t>
            </a:r>
          </a:p>
          <a:p>
            <a:pPr>
              <a:spcBef>
                <a:spcPts val="300"/>
              </a:spcBef>
              <a:defRPr sz="819">
                <a:solidFill>
                  <a:srgbClr val="E2E8F0"/>
                </a:solidFill>
                <a:latin typeface="Segoe UI"/>
              </a:defRPr>
            </a:pPr>
            <a:r>
              <a:t>Worker checks tape &amp; sets aside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03536" y="1417320"/>
            <a:ext cx="1444752" cy="932688"/>
          </a:xfrm>
          <a:prstGeom prst="rect">
            <a:avLst/>
          </a:prstGeom>
          <a:solidFill>
            <a:srgbClr val="102C52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003536" y="1417320"/>
            <a:ext cx="1444752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76688" y="1490472"/>
            <a:ext cx="1298448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07 • Zero Defect</a:t>
            </a:r>
          </a:p>
          <a:p>
            <a:pPr>
              <a:spcBef>
                <a:spcPts val="300"/>
              </a:spcBef>
              <a:defRPr sz="819">
                <a:solidFill>
                  <a:srgbClr val="E2E8F0"/>
                </a:solidFill>
                <a:latin typeface="Segoe UI"/>
              </a:defRPr>
            </a:pPr>
            <a:r>
              <a:t>Shipment leaves 100% verified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542032"/>
            <a:ext cx="5212080" cy="3794760"/>
          </a:xfrm>
          <a:prstGeom prst="rect">
            <a:avLst/>
          </a:prstGeom>
          <a:solidFill>
            <a:srgbClr val="0A192E"/>
          </a:solidFill>
          <a:ln w="12700">
            <a:solidFill>
              <a:srgbClr val="1C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2542032"/>
            <a:ext cx="52120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2706624"/>
            <a:ext cx="475488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OPERATOR JOURNEY: RAMESH AT BAY 3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How DockGuard supports rather than polices dockworkers under pressure.</a:t>
            </a:r>
          </a:p>
          <a:p>
            <a:pPr>
              <a:spcBef>
                <a:spcPts val="600"/>
              </a:spcBef>
              <a:defRPr sz="950" b="1">
                <a:solidFill>
                  <a:srgbClr val="FFFFFF"/>
                </a:solidFill>
                <a:latin typeface="Segoe UI"/>
              </a:defRPr>
            </a:pPr>
            <a:r>
              <a:t>• The Rush Window: </a:t>
            </a:r>
            <a:r>
              <a:rPr b="0">
                <a:solidFill>
                  <a:srgbClr val="CBD5E1"/>
                </a:solidFill>
              </a:rPr>
              <a:t>It's 4:15 PM, 34°C, and Ramesh has 45 minutes to finish packing a 40-foot container before driver cutoff.</a:t>
            </a:r>
          </a:p>
          <a:p>
            <a:pPr>
              <a:spcBef>
                <a:spcPts val="600"/>
              </a:spcBef>
              <a:defRPr sz="950" b="1">
                <a:solidFill>
                  <a:srgbClr val="FFFFFF"/>
                </a:solidFill>
                <a:latin typeface="Segoe UI"/>
              </a:defRPr>
            </a:pPr>
            <a:r>
              <a:t>• The Accidental Drop: </a:t>
            </a:r>
            <a:r>
              <a:rPr b="0">
                <a:solidFill>
                  <a:srgbClr val="CBD5E1"/>
                </a:solidFill>
              </a:rPr>
              <a:t>Lifting a heavy 25kg crate solo, his grip slips. The carton crashes 1.2 meters directly onto the concrete floor.</a:t>
            </a:r>
          </a:p>
          <a:p>
            <a:pPr>
              <a:spcBef>
                <a:spcPts val="600"/>
              </a:spcBef>
              <a:defRPr sz="950" b="1">
                <a:solidFill>
                  <a:srgbClr val="FFFFFF"/>
                </a:solidFill>
                <a:latin typeface="Segoe UI"/>
              </a:defRPr>
            </a:pPr>
            <a:r>
              <a:t>• Non-Punitive Chime: </a:t>
            </a:r>
            <a:r>
              <a:rPr b="0">
                <a:solidFill>
                  <a:srgbClr val="CBD5E1"/>
                </a:solidFill>
              </a:rPr>
              <a:t>Instead of a harsh alarm that triggers fear or panic, a polite, microwave-style chime pings at Bay 3 as the dock tablet pulses amber.</a:t>
            </a:r>
          </a:p>
          <a:p>
            <a:pPr>
              <a:spcBef>
                <a:spcPts val="600"/>
              </a:spcBef>
              <a:defRPr sz="950" b="1">
                <a:solidFill>
                  <a:srgbClr val="FFFFFF"/>
                </a:solidFill>
                <a:latin typeface="Segoe UI"/>
              </a:defRPr>
            </a:pPr>
            <a:r>
              <a:t>• Immediate Correction: </a:t>
            </a:r>
            <a:r>
              <a:rPr b="0">
                <a:solidFill>
                  <a:srgbClr val="CBD5E1"/>
                </a:solidFill>
              </a:rPr>
              <a:t>Ramesh pauses, inspects the seal, requests assistance for a 2-person lift, and places the suspect carton on the audit cart.</a:t>
            </a:r>
          </a:p>
          <a:p>
            <a:pPr>
              <a:spcBef>
                <a:spcPts val="600"/>
              </a:spcBef>
              <a:defRPr sz="950" b="1">
                <a:solidFill>
                  <a:srgbClr val="FFFFFF"/>
                </a:solidFill>
                <a:latin typeface="Segoe UI"/>
              </a:defRPr>
            </a:pPr>
            <a:r>
              <a:t>• The Outcome: </a:t>
            </a:r>
            <a:r>
              <a:rPr b="0">
                <a:solidFill>
                  <a:srgbClr val="CBD5E1"/>
                </a:solidFill>
              </a:rPr>
              <a:t>A broken high-value appliance never reaches the consumer, and Ramesh avoids back injury on subsequent lifts.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8095" y="2542032"/>
            <a:ext cx="5212080" cy="3794760"/>
          </a:xfrm>
          <a:prstGeom prst="rect">
            <a:avLst/>
          </a:prstGeom>
          <a:solidFill>
            <a:srgbClr val="0A192E"/>
          </a:solidFill>
          <a:ln w="12700">
            <a:solidFill>
              <a:srgbClr val="1C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8095" y="2542032"/>
            <a:ext cx="5212080" cy="27432"/>
          </a:xfrm>
          <a:prstGeom prst="rect">
            <a:avLst/>
          </a:prstGeom>
          <a:solidFill>
            <a:srgbClr val="7DD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2706624"/>
            <a:ext cx="475488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7DD3FC"/>
                </a:solidFill>
                <a:latin typeface="Segoe UI"/>
              </a:defRPr>
            </a:pPr>
            <a:r>
              <a:t>SUPERVISOR JOURNEY: POOJA WITH HER TABLET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Replacing 45 minutes of manual video scrubbing with instant actionable proof.</a:t>
            </a:r>
          </a:p>
          <a:p>
            <a:pPr>
              <a:spcBef>
                <a:spcPts val="600"/>
              </a:spcBef>
              <a:defRPr sz="950" b="1">
                <a:solidFill>
                  <a:srgbClr val="FFFFFF"/>
                </a:solidFill>
                <a:latin typeface="Segoe UI"/>
              </a:defRPr>
            </a:pPr>
            <a:r>
              <a:t>• The Daily Grind: </a:t>
            </a:r>
            <a:r>
              <a:rPr b="0">
                <a:solidFill>
                  <a:srgbClr val="CBD5E1"/>
                </a:solidFill>
              </a:rPr>
              <a:t>Pooja previously wasted 45 minutes every evening scrubbing grainy DVR tapes trying to verify freight claims.</a:t>
            </a:r>
          </a:p>
          <a:p>
            <a:pPr>
              <a:spcBef>
                <a:spcPts val="600"/>
              </a:spcBef>
              <a:defRPr sz="950" b="1">
                <a:solidFill>
                  <a:srgbClr val="FFFFFF"/>
                </a:solidFill>
                <a:latin typeface="Segoe UI"/>
              </a:defRPr>
            </a:pPr>
            <a:r>
              <a:t>• Real-Time Dispatch: </a:t>
            </a:r>
            <a:r>
              <a:rPr b="0">
                <a:solidFill>
                  <a:srgbClr val="CBD5E1"/>
                </a:solidFill>
              </a:rPr>
              <a:t>Her tablet buzzes instantly: 'Bay 3: High-Velocity Drop Detected (10:14 AM)' with classified severity.</a:t>
            </a:r>
          </a:p>
          <a:p>
            <a:pPr>
              <a:spcBef>
                <a:spcPts val="600"/>
              </a:spcBef>
              <a:defRPr sz="950" b="1">
                <a:solidFill>
                  <a:srgbClr val="FFFFFF"/>
                </a:solidFill>
                <a:latin typeface="Segoe UI"/>
              </a:defRPr>
            </a:pPr>
            <a:r>
              <a:t>• 5-Second Micro Replay: </a:t>
            </a:r>
            <a:r>
              <a:rPr b="0">
                <a:solidFill>
                  <a:srgbClr val="CBD5E1"/>
                </a:solidFill>
              </a:rPr>
              <a:t>One tap launches a lightweight 5-second video clip displaying the carton trajectory, bounding box, and impact velocity.</a:t>
            </a:r>
          </a:p>
          <a:p>
            <a:pPr>
              <a:spcBef>
                <a:spcPts val="600"/>
              </a:spcBef>
              <a:defRPr sz="950" b="1">
                <a:solidFill>
                  <a:srgbClr val="FFFFFF"/>
                </a:solidFill>
                <a:latin typeface="Segoe UI"/>
              </a:defRPr>
            </a:pPr>
            <a:r>
              <a:t>• Decisive Sign-Off: </a:t>
            </a:r>
            <a:r>
              <a:rPr b="0">
                <a:solidFill>
                  <a:srgbClr val="CBD5E1"/>
                </a:solidFill>
              </a:rPr>
              <a:t>She verifies the incident, authorizes repackaging in 15 seconds, and logs the package barcode without friction.</a:t>
            </a:r>
          </a:p>
          <a:p>
            <a:pPr>
              <a:spcBef>
                <a:spcPts val="600"/>
              </a:spcBef>
              <a:defRPr sz="950" b="1">
                <a:solidFill>
                  <a:srgbClr val="FFFFFF"/>
                </a:solidFill>
                <a:latin typeface="Segoe UI"/>
              </a:defRPr>
            </a:pPr>
            <a:r>
              <a:t>• Natural Language Audit: </a:t>
            </a:r>
            <a:r>
              <a:rPr b="0">
                <a:solidFill>
                  <a:srgbClr val="CBD5E1"/>
                </a:solidFill>
              </a:rPr>
              <a:t>At shift handover, she asks Gemini: 'Summarize all high-velocity drops today' and receives an instant breakdown for the safety briefing.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6492240"/>
            <a:ext cx="10728655" cy="13716"/>
          </a:xfrm>
          <a:prstGeom prst="rect">
            <a:avLst/>
          </a:prstGeom>
          <a:solidFill>
            <a:srgbClr val="1C3E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6537960"/>
            <a:ext cx="1072865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DockGuard AI  •  Dual User Journey &amp; 7-Stage Prevention Flow  •  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flip="none" rotWithShape="1">
          <a:gsLst>
            <a:gs pos="0">
              <a:srgbClr val="060F1E"/>
            </a:gs>
            <a:gs pos="38000">
              <a:srgbClr val="0A213D"/>
            </a:gs>
            <a:gs pos="75000">
              <a:srgbClr val="113665"/>
            </a:gs>
            <a:gs pos="100000">
              <a:srgbClr val="07182E"/>
            </a:gs>
          </a:gsLst>
          <a:lin ang="324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6400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03  /  TECHNICAL ARCHITECTURE &amp;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0" y="384048"/>
            <a:ext cx="43278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94A3B8"/>
                </a:solidFill>
                <a:latin typeface="Segoe UI"/>
              </a:defRPr>
            </a:pPr>
            <a:r>
              <a:t>CONFIDENTIAL — ACADEMIC &amp; PROTOTYPE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Full-Stack Architecture: Computer Vision, Spatial Physics &amp; LLM RAG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43584"/>
            <a:ext cx="10728655" cy="13716"/>
          </a:xfrm>
          <a:prstGeom prst="rect">
            <a:avLst/>
          </a:prstGeom>
          <a:solidFill>
            <a:srgbClr val="1C3E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98448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38BDF8"/>
                </a:solidFill>
                <a:latin typeface="Segoe UI"/>
              </a:defRPr>
            </a:pPr>
            <a:r>
              <a:t>End-to-end edge-to-cloud intelligence pipeline combining computer vision, kinematic rules, and conversational RAG.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3410712" cy="2240280"/>
          </a:xfrm>
          <a:prstGeom prst="rect">
            <a:avLst/>
          </a:prstGeom>
          <a:solidFill>
            <a:srgbClr val="0A192E"/>
          </a:solidFill>
          <a:ln w="12700">
            <a:solidFill>
              <a:srgbClr val="1C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3410712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55648"/>
            <a:ext cx="3081528" cy="2057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Segoe UI"/>
              </a:defRPr>
            </a:pPr>
            <a:r>
              <a:t>01 • Computer Vision &amp; Object Tracking</a:t>
            </a:r>
          </a:p>
          <a:p>
            <a:pPr>
              <a:spcBef>
                <a:spcPts val="100"/>
              </a:spcBef>
              <a:defRPr sz="850" b="1">
                <a:solidFill>
                  <a:srgbClr val="38BDF8"/>
                </a:solidFill>
                <a:latin typeface="Segoe UI"/>
              </a:defRPr>
            </a:pPr>
            <a:r>
              <a:t>YOLOv8 + ByteTrack (Ultralytics)</a:t>
            </a:r>
          </a:p>
          <a:p>
            <a:pPr>
              <a:spcBef>
                <a:spcPts val="400"/>
              </a:spcBef>
              <a:defRPr sz="850" b="1">
                <a:solidFill>
                  <a:srgbClr val="FFFFFF"/>
                </a:solidFill>
                <a:latin typeface="Segoe UI"/>
              </a:defRPr>
            </a:pPr>
            <a:r>
              <a:t>• Custom Weight Fine-Tuning: </a:t>
            </a:r>
            <a:r>
              <a:rPr b="0">
                <a:solidFill>
                  <a:srgbClr val="CBD5E1"/>
                </a:solidFill>
              </a:rPr>
              <a:t>Trained specifically on warehouse cartons, wooden pallets, personnel, and forklifts.</a:t>
            </a:r>
          </a:p>
          <a:p>
            <a:pPr>
              <a:spcBef>
                <a:spcPts val="400"/>
              </a:spcBef>
              <a:defRPr sz="850" b="1">
                <a:solidFill>
                  <a:srgbClr val="FFFFFF"/>
                </a:solidFill>
                <a:latin typeface="Segoe UI"/>
              </a:defRPr>
            </a:pPr>
            <a:r>
              <a:t>• Persistent Identity Tracking: </a:t>
            </a:r>
            <a:r>
              <a:rPr b="0">
                <a:solidFill>
                  <a:srgbClr val="CBD5E1"/>
                </a:solidFill>
              </a:rPr>
              <a:t>ByteTrack maintains box IDs across frames even during temporary worker occlusion.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645920"/>
            <a:ext cx="3410712" cy="2240280"/>
          </a:xfrm>
          <a:prstGeom prst="rect">
            <a:avLst/>
          </a:prstGeom>
          <a:solidFill>
            <a:srgbClr val="0A192E"/>
          </a:solidFill>
          <a:ln w="12700">
            <a:solidFill>
              <a:srgbClr val="1C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645920"/>
            <a:ext cx="3410712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1755648"/>
            <a:ext cx="3081528" cy="2057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Segoe UI"/>
              </a:defRPr>
            </a:pPr>
            <a:r>
              <a:t>02 • Spatial &amp; Kinematic Physics Rules</a:t>
            </a:r>
          </a:p>
          <a:p>
            <a:pPr>
              <a:spcBef>
                <a:spcPts val="100"/>
              </a:spcBef>
              <a:defRPr sz="850" b="1">
                <a:solidFill>
                  <a:srgbClr val="38BDF8"/>
                </a:solidFill>
                <a:latin typeface="Segoe UI"/>
              </a:defRPr>
            </a:pPr>
            <a:r>
              <a:t>Real-Time Vector Math</a:t>
            </a:r>
          </a:p>
          <a:p>
            <a:pPr>
              <a:spcBef>
                <a:spcPts val="400"/>
              </a:spcBef>
              <a:defRPr sz="850" b="1">
                <a:solidFill>
                  <a:srgbClr val="FFFFFF"/>
                </a:solidFill>
                <a:latin typeface="Segoe UI"/>
              </a:defRPr>
            </a:pPr>
            <a:r>
              <a:t>• Free-Fall Acceleration: </a:t>
            </a:r>
            <a:r>
              <a:rPr b="0">
                <a:solidFill>
                  <a:srgbClr val="CBD5E1"/>
                </a:solidFill>
              </a:rPr>
              <a:t>Monitors downward velocity spikes (vy &gt; 2.5 m/s -&gt; 0 m/s sudden impact) to flag drop crashes.</a:t>
            </a:r>
          </a:p>
          <a:p>
            <a:pPr>
              <a:spcBef>
                <a:spcPts val="400"/>
              </a:spcBef>
              <a:defRPr sz="850" b="1">
                <a:solidFill>
                  <a:srgbClr val="FFFFFF"/>
                </a:solidFill>
                <a:latin typeface="Segoe UI"/>
              </a:defRPr>
            </a:pPr>
            <a:r>
              <a:t>• Friction &amp; Drag Distance: </a:t>
            </a:r>
            <a:r>
              <a:rPr b="0">
                <a:solidFill>
                  <a:srgbClr val="CBD5E1"/>
                </a:solidFill>
              </a:rPr>
              <a:t>Flags sustained lateral displacement (&gt;2m on floor) without vertical lift to catch rough dragging.</a:t>
            </a:r>
          </a:p>
          <a:p>
            <a:pPr>
              <a:spcBef>
                <a:spcPts val="400"/>
              </a:spcBef>
              <a:defRPr sz="850" b="1">
                <a:solidFill>
                  <a:srgbClr val="FFFFFF"/>
                </a:solidFill>
                <a:latin typeface="Segoe UI"/>
              </a:defRPr>
            </a:pPr>
            <a:r>
              <a:t>• Stack Tilt Calculation: </a:t>
            </a:r>
            <a:r>
              <a:rPr b="0">
                <a:solidFill>
                  <a:srgbClr val="CBD5E1"/>
                </a:solidFill>
              </a:rPr>
              <a:t>Measures bounding box tilt angles; orientations exceeding 15° trigger unstable stack warnings.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645920"/>
            <a:ext cx="3410712" cy="2240280"/>
          </a:xfrm>
          <a:prstGeom prst="rect">
            <a:avLst/>
          </a:prstGeom>
          <a:solidFill>
            <a:srgbClr val="0A192E"/>
          </a:solidFill>
          <a:ln w="12700">
            <a:solidFill>
              <a:srgbClr val="1C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10712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1312" y="1755648"/>
            <a:ext cx="3081528" cy="2057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Segoe UI"/>
              </a:defRPr>
            </a:pPr>
            <a:r>
              <a:t>03 • Conversational AI &amp; Audit Assistant</a:t>
            </a:r>
          </a:p>
          <a:p>
            <a:pPr>
              <a:spcBef>
                <a:spcPts val="100"/>
              </a:spcBef>
              <a:defRPr sz="850" b="1">
                <a:solidFill>
                  <a:srgbClr val="38BDF8"/>
                </a:solidFill>
                <a:latin typeface="Segoe UI"/>
              </a:defRPr>
            </a:pPr>
            <a:r>
              <a:t>Google Gemini 2.5 Flash + RAG</a:t>
            </a:r>
          </a:p>
          <a:p>
            <a:pPr>
              <a:spcBef>
                <a:spcPts val="400"/>
              </a:spcBef>
              <a:defRPr sz="850" b="1">
                <a:solidFill>
                  <a:srgbClr val="FFFFFF"/>
                </a:solidFill>
                <a:latin typeface="Segoe UI"/>
              </a:defRPr>
            </a:pPr>
            <a:r>
              <a:t>• Natural Language RAG: </a:t>
            </a:r>
            <a:r>
              <a:rPr b="0">
                <a:solidFill>
                  <a:srgbClr val="CBD5E1"/>
                </a:solidFill>
              </a:rPr>
              <a:t>Ingests SQLite telemetry logs so supervisors can query history in plain English without SQL.</a:t>
            </a:r>
          </a:p>
          <a:p>
            <a:pPr>
              <a:spcBef>
                <a:spcPts val="400"/>
              </a:spcBef>
              <a:defRPr sz="850" b="1">
                <a:solidFill>
                  <a:srgbClr val="FFFFFF"/>
                </a:solidFill>
                <a:latin typeface="Segoe UI"/>
              </a:defRPr>
            </a:pPr>
            <a:r>
              <a:t>• Shift Summaries: </a:t>
            </a:r>
            <a:r>
              <a:rPr b="0">
                <a:solidFill>
                  <a:srgbClr val="CBD5E1"/>
                </a:solidFill>
              </a:rPr>
              <a:t>Generates instant structured executive reports on bay risk hotspots and incident timestamps.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087368"/>
            <a:ext cx="3410712" cy="2240280"/>
          </a:xfrm>
          <a:prstGeom prst="rect">
            <a:avLst/>
          </a:prstGeom>
          <a:solidFill>
            <a:srgbClr val="0A192E"/>
          </a:solidFill>
          <a:ln w="12700">
            <a:solidFill>
              <a:srgbClr val="1C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087368"/>
            <a:ext cx="3410712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197096"/>
            <a:ext cx="3081528" cy="2057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Segoe UI"/>
              </a:defRPr>
            </a:pPr>
            <a:r>
              <a:t>04 • Rolling Video Snip Buffer</a:t>
            </a:r>
          </a:p>
          <a:p>
            <a:pPr>
              <a:spcBef>
                <a:spcPts val="100"/>
              </a:spcBef>
              <a:defRPr sz="850" b="1">
                <a:solidFill>
                  <a:srgbClr val="38BDF8"/>
                </a:solidFill>
                <a:latin typeface="Segoe UI"/>
              </a:defRPr>
            </a:pPr>
            <a:r>
              <a:t>OpenCV + FFmpeg Subprocess</a:t>
            </a:r>
          </a:p>
          <a:p>
            <a:pPr>
              <a:spcBef>
                <a:spcPts val="400"/>
              </a:spcBef>
              <a:defRPr sz="850" b="1">
                <a:solidFill>
                  <a:srgbClr val="FFFFFF"/>
                </a:solidFill>
                <a:latin typeface="Segoe UI"/>
              </a:defRPr>
            </a:pPr>
            <a:r>
              <a:t>• Zero Storage Waste: </a:t>
            </a:r>
            <a:r>
              <a:rPr b="0">
                <a:solidFill>
                  <a:srgbClr val="CBD5E1"/>
                </a:solidFill>
              </a:rPr>
              <a:t>Avoids saving hours of empty dock feeds; maintains a lightweight 15-second FIFO memory buffer.</a:t>
            </a:r>
          </a:p>
          <a:p>
            <a:pPr>
              <a:spcBef>
                <a:spcPts val="400"/>
              </a:spcBef>
              <a:defRPr sz="850" b="1">
                <a:solidFill>
                  <a:srgbClr val="FFFFFF"/>
                </a:solidFill>
                <a:latin typeface="Segoe UI"/>
              </a:defRPr>
            </a:pPr>
            <a:r>
              <a:t>• 5-Second Micro Replays: </a:t>
            </a:r>
            <a:r>
              <a:rPr b="0">
                <a:solidFill>
                  <a:srgbClr val="CBD5E1"/>
                </a:solidFill>
              </a:rPr>
              <a:t>Upon alert trigger, automatically transcodes a lightweight 5s H.264 clip for instant browser streaming.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0" y="4087368"/>
            <a:ext cx="3410712" cy="2240280"/>
          </a:xfrm>
          <a:prstGeom prst="rect">
            <a:avLst/>
          </a:prstGeom>
          <a:solidFill>
            <a:srgbClr val="0A192E"/>
          </a:solidFill>
          <a:ln w="12700">
            <a:solidFill>
              <a:srgbClr val="1C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120" y="4087368"/>
            <a:ext cx="3410712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4197096"/>
            <a:ext cx="3081528" cy="2057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Segoe UI"/>
              </a:defRPr>
            </a:pPr>
            <a:r>
              <a:t>05 • High-Throughput API &amp; Database</a:t>
            </a:r>
          </a:p>
          <a:p>
            <a:pPr>
              <a:spcBef>
                <a:spcPts val="100"/>
              </a:spcBef>
              <a:defRPr sz="850" b="1">
                <a:solidFill>
                  <a:srgbClr val="38BDF8"/>
                </a:solidFill>
                <a:latin typeface="Segoe UI"/>
              </a:defRPr>
            </a:pPr>
            <a:r>
              <a:t>FastAPI + SQLAlchemy + SQLite</a:t>
            </a:r>
          </a:p>
          <a:p>
            <a:pPr>
              <a:spcBef>
                <a:spcPts val="400"/>
              </a:spcBef>
              <a:defRPr sz="850" b="1">
                <a:solidFill>
                  <a:srgbClr val="FFFFFF"/>
                </a:solidFill>
                <a:latin typeface="Segoe UI"/>
              </a:defRPr>
            </a:pPr>
            <a:r>
              <a:t>• Asynchronous Event Loop: </a:t>
            </a:r>
            <a:r>
              <a:rPr b="0">
                <a:solidFill>
                  <a:srgbClr val="CBD5E1"/>
                </a:solidFill>
              </a:rPr>
              <a:t>Ultra-fast REST API handling CCTV video uploads, metric polling, and telemetry ingestion.</a:t>
            </a:r>
          </a:p>
          <a:p>
            <a:pPr>
              <a:spcBef>
                <a:spcPts val="400"/>
              </a:spcBef>
              <a:defRPr sz="850" b="1">
                <a:solidFill>
                  <a:srgbClr val="FFFFFF"/>
                </a:solidFill>
                <a:latin typeface="Segoe UI"/>
              </a:defRPr>
            </a:pPr>
            <a:r>
              <a:t>• Live WebSocket Feeds: </a:t>
            </a:r>
            <a:r>
              <a:rPr b="0">
                <a:solidFill>
                  <a:srgbClr val="CBD5E1"/>
                </a:solidFill>
              </a:rPr>
              <a:t>Broadcasts sub-50ms incident events and danger alerts to connected dock clients.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20" y="4087368"/>
            <a:ext cx="3410712" cy="2240280"/>
          </a:xfrm>
          <a:prstGeom prst="rect">
            <a:avLst/>
          </a:prstGeom>
          <a:solidFill>
            <a:srgbClr val="0A192E"/>
          </a:solidFill>
          <a:ln w="12700">
            <a:solidFill>
              <a:srgbClr val="1C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4087368"/>
            <a:ext cx="3410712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1312" y="4197096"/>
            <a:ext cx="3081528" cy="2057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Segoe UI"/>
              </a:defRPr>
            </a:pPr>
            <a:r>
              <a:t>06 • Operational Frontend &amp; Audio Engine</a:t>
            </a:r>
          </a:p>
          <a:p>
            <a:pPr>
              <a:spcBef>
                <a:spcPts val="100"/>
              </a:spcBef>
              <a:defRPr sz="850" b="1">
                <a:solidFill>
                  <a:srgbClr val="38BDF8"/>
                </a:solidFill>
                <a:latin typeface="Segoe UI"/>
              </a:defRPr>
            </a:pPr>
            <a:r>
              <a:t>React 18 + Tailwind + Web Audio API</a:t>
            </a:r>
          </a:p>
          <a:p>
            <a:pPr>
              <a:spcBef>
                <a:spcPts val="400"/>
              </a:spcBef>
              <a:defRPr sz="850" b="1">
                <a:solidFill>
                  <a:srgbClr val="FFFFFF"/>
                </a:solidFill>
                <a:latin typeface="Segoe UI"/>
              </a:defRPr>
            </a:pPr>
            <a:r>
              <a:t>• Responsive Supervisory UI: </a:t>
            </a:r>
            <a:r>
              <a:rPr b="0">
                <a:solidFill>
                  <a:srgbClr val="CBD5E1"/>
                </a:solidFill>
              </a:rPr>
              <a:t>Interactive KPI metrics, 7-day handling risk charts, and instant alert slide-out drawers.</a:t>
            </a:r>
          </a:p>
          <a:p>
            <a:pPr>
              <a:spcBef>
                <a:spcPts val="400"/>
              </a:spcBef>
              <a:defRPr sz="850" b="1">
                <a:solidFill>
                  <a:srgbClr val="FFFFFF"/>
                </a:solidFill>
                <a:latin typeface="Segoe UI"/>
              </a:defRPr>
            </a:pPr>
            <a:r>
              <a:t>• Synthetic Audio Synthesis: </a:t>
            </a:r>
            <a:r>
              <a:rPr b="0">
                <a:solidFill>
                  <a:srgbClr val="CBD5E1"/>
                </a:solidFill>
              </a:rPr>
              <a:t>Web Audio API generates dock chimes on client devices without external audio file latency.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92240"/>
            <a:ext cx="10728655" cy="13716"/>
          </a:xfrm>
          <a:prstGeom prst="rect">
            <a:avLst/>
          </a:prstGeom>
          <a:solidFill>
            <a:srgbClr val="1C3E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1072865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DockGuard AI  •  Full-Stack Architecture &amp; Implementation Stack  •  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flip="none" rotWithShape="1">
          <a:gsLst>
            <a:gs pos="0">
              <a:srgbClr val="060F1E"/>
            </a:gs>
            <a:gs pos="38000">
              <a:srgbClr val="0A213D"/>
            </a:gs>
            <a:gs pos="75000">
              <a:srgbClr val="113665"/>
            </a:gs>
            <a:gs pos="100000">
              <a:srgbClr val="07182E"/>
            </a:gs>
          </a:gsLst>
          <a:lin ang="324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6400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04  /  PROTOTYPE SCREENSHOTS &amp;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Field Prototype: Live Object Detection, Replay &amp; Supervisory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43584"/>
            <a:ext cx="10728655" cy="13716"/>
          </a:xfrm>
          <a:prstGeom prst="rect">
            <a:avLst/>
          </a:prstGeom>
          <a:solidFill>
            <a:srgbClr val="1C3E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3246120" cy="2286000"/>
          </a:xfrm>
          <a:prstGeom prst="rect">
            <a:avLst/>
          </a:prstGeom>
          <a:solidFill>
            <a:srgbClr val="0A192E"/>
          </a:solidFill>
          <a:ln w="12700">
            <a:solidFill>
              <a:srgbClr val="1C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edia_17884980590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380744"/>
            <a:ext cx="3227832" cy="2267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3685032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38BDF8"/>
                </a:solidFill>
                <a:latin typeface="Segoe UI"/>
              </a:defRPr>
            </a:pPr>
            <a:r>
              <a:t>AI tracking worker &amp; carton dragged 4.6m on wet floor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371600"/>
            <a:ext cx="3291840" cy="2286000"/>
          </a:xfrm>
          <a:prstGeom prst="rect">
            <a:avLst/>
          </a:prstGeom>
          <a:solidFill>
            <a:srgbClr val="0A192E"/>
          </a:solidFill>
          <a:ln w="12700">
            <a:solidFill>
              <a:srgbClr val="1C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edia_17884973975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9663" y="1380744"/>
            <a:ext cx="3273552" cy="22677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60520" y="3685032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38BDF8"/>
                </a:solidFill>
                <a:latin typeface="Segoe UI"/>
              </a:defRPr>
            </a:pPr>
            <a:r>
              <a:t>5-second incident replay with falling velocity vectors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005072"/>
            <a:ext cx="6720840" cy="2395728"/>
          </a:xfrm>
          <a:prstGeom prst="rect">
            <a:avLst/>
          </a:prstGeom>
          <a:solidFill>
            <a:srgbClr val="0A192E"/>
          </a:solidFill>
          <a:ln w="12700">
            <a:solidFill>
              <a:srgbClr val="1C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edia_17886276285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4014215"/>
            <a:ext cx="6702552" cy="2148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20" y="6199632"/>
            <a:ext cx="67208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Production UI: Pastel KPI cards, 7-day risk trend curves, and real-time incident drawer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0" y="1371600"/>
            <a:ext cx="3779215" cy="5029200"/>
          </a:xfrm>
          <a:prstGeom prst="rect">
            <a:avLst/>
          </a:prstGeom>
          <a:solidFill>
            <a:srgbClr val="0A192E"/>
          </a:solidFill>
          <a:ln w="12700">
            <a:solidFill>
              <a:srgbClr val="1C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80960" y="1371600"/>
            <a:ext cx="3779215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82128" y="1508760"/>
            <a:ext cx="3376879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38BDF8"/>
                </a:solidFill>
                <a:latin typeface="Segoe UI"/>
              </a:defRPr>
            </a:pPr>
            <a:r>
              <a:t>EMPIRICAL TEST SCENARIOS</a:t>
            </a:r>
          </a:p>
          <a:p>
            <a:pPr>
              <a:spcBef>
                <a:spcPts val="600"/>
              </a:spcBef>
              <a:defRPr sz="919" b="1">
                <a:solidFill>
                  <a:srgbClr val="FFFFFF"/>
                </a:solidFill>
                <a:latin typeface="Segoe UI"/>
              </a:defRPr>
            </a:pPr>
            <a:r>
              <a:t>01 • Carton Free-Fall Drop (&gt;1.2m)</a:t>
            </a:r>
          </a:p>
          <a:p>
            <a:pPr>
              <a:spcBef>
                <a:spcPts val="100"/>
              </a:spcBef>
              <a:defRPr sz="850">
                <a:solidFill>
                  <a:srgbClr val="CBD5E1"/>
                </a:solidFill>
                <a:latin typeface="Segoe UI"/>
              </a:defRPr>
            </a:pPr>
            <a:r>
              <a:t>Carton slips from staging pallet. Camera spots velocity spike (vy &gt; 2.8 m/s) and triggers dock chime in 1.2s flat.</a:t>
            </a:r>
          </a:p>
          <a:p>
            <a:pPr>
              <a:spcBef>
                <a:spcPts val="600"/>
              </a:spcBef>
              <a:defRPr sz="919" b="1">
                <a:solidFill>
                  <a:srgbClr val="FFFFFF"/>
                </a:solidFill>
                <a:latin typeface="Segoe UI"/>
              </a:defRPr>
            </a:pPr>
            <a:r>
              <a:t>02 • Rough Wet-Floor Dragging</a:t>
            </a:r>
          </a:p>
          <a:p>
            <a:pPr>
              <a:spcBef>
                <a:spcPts val="100"/>
              </a:spcBef>
              <a:defRPr sz="850">
                <a:solidFill>
                  <a:srgbClr val="CBD5E1"/>
                </a:solidFill>
                <a:latin typeface="Segoe UI"/>
              </a:defRPr>
            </a:pPr>
            <a:r>
              <a:t>Worker slides a 20kg box 4.6m across damp concrete. System calculates floor displacement and issues high-risk friction alert.</a:t>
            </a:r>
          </a:p>
          <a:p>
            <a:pPr>
              <a:spcBef>
                <a:spcPts val="600"/>
              </a:spcBef>
              <a:defRPr sz="919" b="1">
                <a:solidFill>
                  <a:srgbClr val="FFFFFF"/>
                </a:solidFill>
                <a:latin typeface="Segoe UI"/>
              </a:defRPr>
            </a:pPr>
            <a:r>
              <a:t>03 • Unstable Pallet Tilt (&gt;17°)</a:t>
            </a:r>
          </a:p>
          <a:p>
            <a:pPr>
              <a:spcBef>
                <a:spcPts val="100"/>
              </a:spcBef>
              <a:defRPr sz="850">
                <a:solidFill>
                  <a:srgbClr val="CBD5E1"/>
                </a:solidFill>
                <a:latin typeface="Segoe UI"/>
              </a:defRPr>
            </a:pPr>
            <a:r>
              <a:t>Boxes stacked at a 17° lean without interlock flagged as caution before transit collapse could occur.</a:t>
            </a:r>
          </a:p>
          <a:p>
            <a:pPr>
              <a:spcBef>
                <a:spcPts val="600"/>
              </a:spcBef>
              <a:defRPr sz="919" b="1">
                <a:solidFill>
                  <a:srgbClr val="FFFFFF"/>
                </a:solidFill>
                <a:latin typeface="Segoe UI"/>
              </a:defRPr>
            </a:pPr>
            <a:r>
              <a:t>04 • Gemini Natural Language Audit</a:t>
            </a:r>
          </a:p>
          <a:p>
            <a:pPr>
              <a:spcBef>
                <a:spcPts val="100"/>
              </a:spcBef>
              <a:defRPr sz="850">
                <a:solidFill>
                  <a:srgbClr val="CBD5E1"/>
                </a:solidFill>
                <a:latin typeface="Segoe UI"/>
              </a:defRPr>
            </a:pPr>
            <a:r>
              <a:t>Asked 'Which bay had drops today?' Gemini parsed logs to confirm Bay 3 had 2 incidents at 10:14 AM and 2:30 PM.</a:t>
            </a:r>
          </a:p>
          <a:p>
            <a:pPr>
              <a:spcBef>
                <a:spcPts val="12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LIVE DEPLOYMENT &amp; REPOSITORIES</a:t>
            </a:r>
          </a:p>
          <a:p>
            <a:pPr>
              <a:spcBef>
                <a:spcPts val="200"/>
              </a:spcBef>
              <a:defRPr sz="850" b="1">
                <a:solidFill>
                  <a:srgbClr val="FFFFFF"/>
                </a:solidFill>
                <a:latin typeface="Segoe UI"/>
              </a:defRPr>
            </a:pPr>
            <a:r>
              <a:t>• Live Web App: </a:t>
            </a:r>
            <a:r>
              <a:rPr b="0">
                <a:solidFill>
                  <a:srgbClr val="94A3B8"/>
                </a:solidFill>
              </a:rPr>
              <a:t>smart-warehouse-system-rk8p.onrender.com</a:t>
            </a:r>
          </a:p>
          <a:p>
            <a:pPr>
              <a:spcBef>
                <a:spcPts val="200"/>
              </a:spcBef>
              <a:defRPr sz="850" b="1">
                <a:solidFill>
                  <a:srgbClr val="FFFFFF"/>
                </a:solidFill>
                <a:latin typeface="Segoe UI"/>
              </a:defRPr>
            </a:pPr>
            <a:r>
              <a:t>• Local Port: </a:t>
            </a:r>
            <a:r>
              <a:rPr b="0">
                <a:solidFill>
                  <a:srgbClr val="94A3B8"/>
                </a:solidFill>
              </a:rPr>
              <a:t>localhost:8000 / localhost:5173</a:t>
            </a:r>
          </a:p>
          <a:p>
            <a:pPr>
              <a:spcBef>
                <a:spcPts val="200"/>
              </a:spcBef>
              <a:defRPr sz="850" b="1">
                <a:solidFill>
                  <a:srgbClr val="FFFFFF"/>
                </a:solidFill>
                <a:latin typeface="Segoe UI"/>
              </a:defRPr>
            </a:pPr>
            <a:r>
              <a:t>• Open Source Repo: </a:t>
            </a:r>
            <a:r>
              <a:rPr b="0">
                <a:solidFill>
                  <a:srgbClr val="94A3B8"/>
                </a:solidFill>
              </a:rPr>
              <a:t>github.com/Aastha008/Smart-Warehouse-System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492240"/>
            <a:ext cx="10728655" cy="13716"/>
          </a:xfrm>
          <a:prstGeom prst="rect">
            <a:avLst/>
          </a:prstGeom>
          <a:solidFill>
            <a:srgbClr val="1C3E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537960"/>
            <a:ext cx="1072865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DockGuard AI  •  Field Prototypes, Test Scenarios &amp; Verified Deployments  •  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flip="none" rotWithShape="1">
          <a:gsLst>
            <a:gs pos="0">
              <a:srgbClr val="060F1E"/>
            </a:gs>
            <a:gs pos="38000">
              <a:srgbClr val="0A213D"/>
            </a:gs>
            <a:gs pos="75000">
              <a:srgbClr val="113665"/>
            </a:gs>
            <a:gs pos="100000">
              <a:srgbClr val="07182E"/>
            </a:gs>
          </a:gsLst>
          <a:lin ang="324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6400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05  /  IMPACT &amp; USER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Operational Feedback: How Warehouse Teams Shaped Our Iterations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43584"/>
            <a:ext cx="10728655" cy="13716"/>
          </a:xfrm>
          <a:prstGeom prst="rect">
            <a:avLst/>
          </a:prstGeom>
          <a:solidFill>
            <a:srgbClr val="1C3E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6858000" cy="896112"/>
          </a:xfrm>
          <a:prstGeom prst="rect">
            <a:avLst/>
          </a:prstGeom>
          <a:solidFill>
            <a:srgbClr val="0A192E"/>
          </a:solidFill>
          <a:ln w="12700">
            <a:solidFill>
              <a:srgbClr val="1C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27432" cy="89611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44752"/>
            <a:ext cx="6583680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The Shift Supervisor: </a:t>
            </a:r>
            <a:r>
              <a:rPr b="0" i="1">
                <a:solidFill>
                  <a:srgbClr val="FFFFFF"/>
                </a:solidFill>
              </a:rPr>
              <a:t>"I can't watch hours of CCTV while running across 6 active bays."</a:t>
            </a:r>
          </a:p>
          <a:p>
            <a:pPr>
              <a:spcBef>
                <a:spcPts val="300"/>
              </a:spcBef>
              <a:defRPr sz="880">
                <a:solidFill>
                  <a:srgbClr val="CBD5E1"/>
                </a:solidFill>
                <a:latin typeface="Segoe UI"/>
              </a:defRPr>
            </a:pPr>
            <a:r>
              <a:t>→ Iteration Implemented: Engineered 1-click 5s replay clips with pre-buffered impact markers so reviews take &lt;10 seconds.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59152"/>
            <a:ext cx="6858000" cy="896112"/>
          </a:xfrm>
          <a:prstGeom prst="rect">
            <a:avLst/>
          </a:prstGeom>
          <a:solidFill>
            <a:srgbClr val="0A192E"/>
          </a:solidFill>
          <a:ln w="12700">
            <a:solidFill>
              <a:srgbClr val="1C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359152"/>
            <a:ext cx="27432" cy="89611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432304"/>
            <a:ext cx="6583680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The Dock Loader: </a:t>
            </a:r>
            <a:r>
              <a:rPr b="0" i="1">
                <a:solidFill>
                  <a:srgbClr val="FFFFFF"/>
                </a:solidFill>
              </a:rPr>
              <a:t>"Your first alarm sounded like an evacuation siren. It made everyone defensive."</a:t>
            </a:r>
          </a:p>
          <a:p>
            <a:pPr>
              <a:spcBef>
                <a:spcPts val="300"/>
              </a:spcBef>
              <a:defRPr sz="880">
                <a:solidFill>
                  <a:srgbClr val="CBD5E1"/>
                </a:solidFill>
                <a:latin typeface="Segoe UI"/>
              </a:defRPr>
            </a:pPr>
            <a:r>
              <a:t>→ Iteration Implemented: Replaced harsh sirens with soft dock chimes and educational recommendations for 2-person lifts.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46704"/>
            <a:ext cx="6858000" cy="896112"/>
          </a:xfrm>
          <a:prstGeom prst="rect">
            <a:avLst/>
          </a:prstGeom>
          <a:solidFill>
            <a:srgbClr val="0A192E"/>
          </a:solidFill>
          <a:ln w="12700">
            <a:solidFill>
              <a:srgbClr val="1C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346704"/>
            <a:ext cx="27432" cy="89611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419856"/>
            <a:ext cx="6583680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The Logistics Director: </a:t>
            </a:r>
            <a:r>
              <a:rPr b="0" i="1">
                <a:solidFill>
                  <a:srgbClr val="FFFFFF"/>
                </a:solidFill>
              </a:rPr>
              <a:t>"How do I prove to executive leadership that we are actually breaking less freight?"</a:t>
            </a:r>
          </a:p>
          <a:p>
            <a:pPr>
              <a:spcBef>
                <a:spcPts val="300"/>
              </a:spcBef>
              <a:defRPr sz="880">
                <a:solidFill>
                  <a:srgbClr val="CBD5E1"/>
                </a:solidFill>
                <a:latin typeface="Segoe UI"/>
              </a:defRPr>
            </a:pPr>
            <a:r>
              <a:t>→ Iteration Implemented: Designed real-time KPI stat cards and a 7-day risk trend chart showing the 95.8% damage-free handling rate.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334256"/>
            <a:ext cx="6858000" cy="896112"/>
          </a:xfrm>
          <a:prstGeom prst="rect">
            <a:avLst/>
          </a:prstGeom>
          <a:solidFill>
            <a:srgbClr val="0A192E"/>
          </a:solidFill>
          <a:ln w="12700">
            <a:solidFill>
              <a:srgbClr val="1C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334256"/>
            <a:ext cx="27432" cy="89611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8"/>
            <a:ext cx="6583680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The Quality Auditor: </a:t>
            </a:r>
            <a:r>
              <a:rPr b="0" i="1">
                <a:solidFill>
                  <a:srgbClr val="FFFFFF"/>
                </a:solidFill>
              </a:rPr>
              <a:t>"Carriers always blame the warehouse for cracked goods discovered at destination."</a:t>
            </a:r>
          </a:p>
          <a:p>
            <a:pPr>
              <a:spcBef>
                <a:spcPts val="300"/>
              </a:spcBef>
              <a:defRPr sz="880">
                <a:solidFill>
                  <a:srgbClr val="CBD5E1"/>
                </a:solidFill>
                <a:latin typeface="Segoe UI"/>
              </a:defRPr>
            </a:pPr>
            <a:r>
              <a:t>→ Iteration Implemented: Saved tamper-evident video clips showing exact time, bay number, and drop height to eliminate liability debates.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321808"/>
            <a:ext cx="6858000" cy="896112"/>
          </a:xfrm>
          <a:prstGeom prst="rect">
            <a:avLst/>
          </a:prstGeom>
          <a:solidFill>
            <a:srgbClr val="0A192E"/>
          </a:solidFill>
          <a:ln w="12700">
            <a:solidFill>
              <a:srgbClr val="1C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321808"/>
            <a:ext cx="27432" cy="89611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394960"/>
            <a:ext cx="6583680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The Safety Compliance Officer: </a:t>
            </a:r>
            <a:r>
              <a:rPr b="0" i="1">
                <a:solidFill>
                  <a:srgbClr val="FFFFFF"/>
                </a:solidFill>
              </a:rPr>
              <a:t>"Workers repeatedly drag heavy goods over wet surfaces causing ergonomic injury."</a:t>
            </a:r>
          </a:p>
          <a:p>
            <a:pPr>
              <a:spcBef>
                <a:spcPts val="300"/>
              </a:spcBef>
              <a:defRPr sz="880">
                <a:solidFill>
                  <a:srgbClr val="CBD5E1"/>
                </a:solidFill>
                <a:latin typeface="Segoe UI"/>
              </a:defRPr>
            </a:pPr>
            <a:r>
              <a:t>→ Iteration Implemented: Added spatial wet-zone detection and automatic heavy carton weight warnings.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18120" y="1371600"/>
            <a:ext cx="3642055" cy="4846320"/>
          </a:xfrm>
          <a:prstGeom prst="rect">
            <a:avLst/>
          </a:prstGeom>
          <a:solidFill>
            <a:srgbClr val="0A192E"/>
          </a:solidFill>
          <a:ln w="12700">
            <a:solidFill>
              <a:srgbClr val="1C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18120" y="1371600"/>
            <a:ext cx="3642055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9288" y="1508760"/>
            <a:ext cx="3239719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38BDF8"/>
                </a:solidFill>
                <a:latin typeface="Segoe UI"/>
              </a:defRPr>
            </a:pPr>
            <a:r>
              <a:t>MEASURED PROTOTYPE RESULTS</a:t>
            </a:r>
          </a:p>
          <a:p>
            <a:pPr>
              <a:spcBef>
                <a:spcPts val="8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&lt; 1.5s • </a:t>
            </a:r>
            <a:r>
              <a:rPr sz="950" b="1">
                <a:solidFill>
                  <a:srgbClr val="38BDF8"/>
                </a:solidFill>
              </a:rPr>
              <a:t>Detection-to-Chime Latency</a:t>
            </a:r>
          </a:p>
          <a:p>
            <a:pPr>
              <a:spcBef>
                <a:spcPts val="200"/>
              </a:spcBef>
              <a:defRPr sz="850">
                <a:solidFill>
                  <a:srgbClr val="CBD5E1"/>
                </a:solidFill>
                <a:latin typeface="Segoe UI"/>
              </a:defRPr>
            </a:pPr>
            <a:r>
              <a:t>Sub-second CV inference flags drops and issues audio alerts before cartons can be covered up or loaded deep into trailers.</a:t>
            </a:r>
          </a:p>
          <a:p>
            <a:pPr>
              <a:spcBef>
                <a:spcPts val="8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30m -&gt; 1m • </a:t>
            </a:r>
            <a:r>
              <a:rPr sz="950" b="1">
                <a:solidFill>
                  <a:srgbClr val="38BDF8"/>
                </a:solidFill>
              </a:rPr>
              <a:t>Incident Verification Speed</a:t>
            </a:r>
          </a:p>
          <a:p>
            <a:pPr>
              <a:spcBef>
                <a:spcPts val="200"/>
              </a:spcBef>
              <a:defRPr sz="850">
                <a:solidFill>
                  <a:srgbClr val="CBD5E1"/>
                </a:solidFill>
                <a:latin typeface="Segoe UI"/>
              </a:defRPr>
            </a:pPr>
            <a:r>
              <a:t>Supervisors access pre-buffered 5s clips in under 60 seconds, eliminating half-hour searches through manual DVR recordings.</a:t>
            </a:r>
          </a:p>
          <a:p>
            <a:pPr>
              <a:spcBef>
                <a:spcPts val="8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89% (8/9) • </a:t>
            </a:r>
            <a:r>
              <a:rPr sz="950" b="1">
                <a:solidFill>
                  <a:srgbClr val="38BDF8"/>
                </a:solidFill>
              </a:rPr>
              <a:t>Unreported Drops Captured</a:t>
            </a:r>
          </a:p>
          <a:p>
            <a:pPr>
              <a:spcBef>
                <a:spcPts val="200"/>
              </a:spcBef>
              <a:defRPr sz="850">
                <a:solidFill>
                  <a:srgbClr val="CBD5E1"/>
                </a:solidFill>
                <a:latin typeface="Segoe UI"/>
              </a:defRPr>
            </a:pPr>
            <a:r>
              <a:t>In blind test video runs, the vision pipeline intercepted 8 of 9 physical drop incidents that workers never logged manually.</a:t>
            </a:r>
          </a:p>
          <a:p>
            <a:pPr>
              <a:spcBef>
                <a:spcPts val="8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100% • </a:t>
            </a:r>
            <a:r>
              <a:rPr sz="950" b="1">
                <a:solidFill>
                  <a:srgbClr val="38BDF8"/>
                </a:solidFill>
              </a:rPr>
              <a:t>Liability Audit Proof</a:t>
            </a:r>
          </a:p>
          <a:p>
            <a:pPr>
              <a:spcBef>
                <a:spcPts val="200"/>
              </a:spcBef>
              <a:defRPr sz="850">
                <a:solidFill>
                  <a:srgbClr val="CBD5E1"/>
                </a:solidFill>
                <a:latin typeface="Segoe UI"/>
              </a:defRPr>
            </a:pPr>
            <a:r>
              <a:t>Timestamped clips with measured impact velocity resolve carrier-versus-warehouse liability disputes instantly.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492240"/>
            <a:ext cx="10728655" cy="13716"/>
          </a:xfrm>
          <a:prstGeom prst="rect">
            <a:avLst/>
          </a:prstGeom>
          <a:solidFill>
            <a:srgbClr val="1C3E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6537960"/>
            <a:ext cx="1072865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DockGuard AI  •  User Validation, Real Operational Feedback &amp; Metrics  •  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flip="none" rotWithShape="1">
          <a:gsLst>
            <a:gs pos="0">
              <a:srgbClr val="060F1E"/>
            </a:gs>
            <a:gs pos="38000">
              <a:srgbClr val="0A213D"/>
            </a:gs>
            <a:gs pos="75000">
              <a:srgbClr val="113665"/>
            </a:gs>
            <a:gs pos="100000">
              <a:srgbClr val="07182E"/>
            </a:gs>
          </a:gsLst>
          <a:lin ang="324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6400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06  /  CONCLUSION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The Honest Reality: Current Capabilities, Engineering Constraints &amp; What's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43584"/>
            <a:ext cx="10728655" cy="13716"/>
          </a:xfrm>
          <a:prstGeom prst="rect">
            <a:avLst/>
          </a:prstGeom>
          <a:solidFill>
            <a:srgbClr val="1C3E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3364992" cy="4343400"/>
          </a:xfrm>
          <a:prstGeom prst="rect">
            <a:avLst/>
          </a:prstGeom>
          <a:solidFill>
            <a:srgbClr val="0A192E"/>
          </a:solidFill>
          <a:ln w="12700">
            <a:solidFill>
              <a:srgbClr val="1C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3364992" cy="32004"/>
          </a:xfrm>
          <a:prstGeom prst="rect">
            <a:avLst/>
          </a:prstGeom>
          <a:solidFill>
            <a:srgbClr val="1C3E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581912"/>
            <a:ext cx="2962656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94A3B8"/>
                </a:solidFill>
                <a:latin typeface="Segoe UI"/>
              </a:defRPr>
            </a:pPr>
            <a:r>
              <a:t>01  —  WHAT'S WORKING TODAY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Segoe UI"/>
              </a:defRPr>
            </a:pPr>
            <a:r>
              <a:t>PROVEN CAPABILITIES</a:t>
            </a:r>
          </a:p>
          <a:p>
            <a:pPr>
              <a:spcBef>
                <a:spcPts val="200"/>
              </a:spcBef>
              <a:defRPr sz="600">
                <a:solidFill>
                  <a:srgbClr val="1C3E66"/>
                </a:solidFill>
                <a:latin typeface="Segoe UI"/>
              </a:defRPr>
            </a:pPr>
            <a:r>
              <a:t>————————————————————————————</a:t>
            </a:r>
          </a:p>
          <a:p>
            <a:pPr>
              <a:spcBef>
                <a:spcPts val="700"/>
              </a:spcBef>
              <a:defRPr sz="919" b="1">
                <a:solidFill>
                  <a:srgbClr val="FFFFFF"/>
                </a:solidFill>
                <a:latin typeface="Segoe UI"/>
              </a:defRPr>
            </a:pPr>
            <a:r>
              <a:t>• Live Full-Stack Cloud App: </a:t>
            </a:r>
            <a:r>
              <a:rPr b="0">
                <a:solidFill>
                  <a:srgbClr val="CBD5E1"/>
                </a:solidFill>
              </a:rPr>
              <a:t>Hosted online 24/7 on Render with working frontend, FastAPI backend, and SQLite telemetry database.</a:t>
            </a:r>
          </a:p>
          <a:p>
            <a:pPr>
              <a:spcBef>
                <a:spcPts val="700"/>
              </a:spcBef>
              <a:defRPr sz="919" b="1">
                <a:solidFill>
                  <a:srgbClr val="FFFFFF"/>
                </a:solidFill>
                <a:latin typeface="Segoe UI"/>
              </a:defRPr>
            </a:pPr>
            <a:r>
              <a:t>• Real Video Analysis: </a:t>
            </a:r>
            <a:r>
              <a:rPr b="0">
                <a:solidFill>
                  <a:srgbClr val="CBD5E1"/>
                </a:solidFill>
              </a:rPr>
              <a:t>Processes uploaded CCTV footage, draws accurate bounding boxes, and flags drops and dragging.</a:t>
            </a:r>
          </a:p>
          <a:p>
            <a:pPr>
              <a:spcBef>
                <a:spcPts val="700"/>
              </a:spcBef>
              <a:defRPr sz="919" b="1">
                <a:solidFill>
                  <a:srgbClr val="FFFFFF"/>
                </a:solidFill>
                <a:latin typeface="Segoe UI"/>
              </a:defRPr>
            </a:pPr>
            <a:r>
              <a:t>• Dashboard &amp; Audio Chimes: </a:t>
            </a:r>
            <a:r>
              <a:rPr b="0">
                <a:solidFill>
                  <a:srgbClr val="CBD5E1"/>
                </a:solidFill>
              </a:rPr>
              <a:t>Real-time KPI cards, 7-day risk trend curves, and zero-latency in-browser Web Audio chimes.</a:t>
            </a:r>
          </a:p>
          <a:p>
            <a:pPr>
              <a:spcBef>
                <a:spcPts val="700"/>
              </a:spcBef>
              <a:defRPr sz="919" b="1">
                <a:solidFill>
                  <a:srgbClr val="FFFFFF"/>
                </a:solidFill>
                <a:latin typeface="Segoe UI"/>
              </a:defRPr>
            </a:pPr>
            <a:r>
              <a:t>• Gemini Conversational RAG: </a:t>
            </a:r>
            <a:r>
              <a:rPr b="0">
                <a:solidFill>
                  <a:srgbClr val="CBD5E1"/>
                </a:solidFill>
              </a:rPr>
              <a:t>Accurately answers natural language supervisor questions using live database records.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9664" y="3429000"/>
            <a:ext cx="1828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600" b="1">
                <a:solidFill>
                  <a:srgbClr val="38BDF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7408" y="1417320"/>
            <a:ext cx="3364992" cy="4343400"/>
          </a:xfrm>
          <a:prstGeom prst="rect">
            <a:avLst/>
          </a:prstGeom>
          <a:solidFill>
            <a:srgbClr val="0A192E"/>
          </a:solidFill>
          <a:ln w="12700">
            <a:solidFill>
              <a:srgbClr val="1C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07408" y="1417320"/>
            <a:ext cx="3364992" cy="32004"/>
          </a:xfrm>
          <a:prstGeom prst="rect">
            <a:avLst/>
          </a:prstGeom>
          <a:solidFill>
            <a:srgbClr val="1C3E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8576" y="1581912"/>
            <a:ext cx="2962656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94A3B8"/>
                </a:solidFill>
                <a:latin typeface="Segoe UI"/>
              </a:defRPr>
            </a:pPr>
            <a:r>
              <a:t>02  —  CURRENT LIMITATIONS</a:t>
            </a:r>
          </a:p>
          <a:p>
            <a:pPr>
              <a:spcBef>
                <a:spcPts val="300"/>
              </a:spcBef>
              <a:defRPr sz="1200" b="1">
                <a:solidFill>
                  <a:srgbClr val="94A3B8"/>
                </a:solidFill>
                <a:latin typeface="Segoe UI"/>
              </a:defRPr>
            </a:pPr>
            <a:r>
              <a:t>HONEST CONSTRAINTS</a:t>
            </a:r>
          </a:p>
          <a:p>
            <a:pPr>
              <a:spcBef>
                <a:spcPts val="200"/>
              </a:spcBef>
              <a:defRPr sz="600">
                <a:solidFill>
                  <a:srgbClr val="1C3E66"/>
                </a:solidFill>
                <a:latin typeface="Segoe UI"/>
              </a:defRPr>
            </a:pPr>
            <a:r>
              <a:t>————————————————————————————</a:t>
            </a:r>
          </a:p>
          <a:p>
            <a:pPr>
              <a:spcBef>
                <a:spcPts val="700"/>
              </a:spcBef>
              <a:defRPr sz="919" b="1">
                <a:solidFill>
                  <a:srgbClr val="FFFFFF"/>
                </a:solidFill>
                <a:latin typeface="Segoe UI"/>
              </a:defRPr>
            </a:pPr>
            <a:r>
              <a:t>• Cloud CPU Latency: </a:t>
            </a:r>
            <a:r>
              <a:rPr b="0">
                <a:solidFill>
                  <a:srgbClr val="CBD5E1"/>
                </a:solidFill>
              </a:rPr>
              <a:t>Running deep video inference on free-tier cloud CPUs takes 5–8 seconds per clip. A dedicated GPU will make it instantaneous.</a:t>
            </a:r>
          </a:p>
          <a:p>
            <a:pPr>
              <a:spcBef>
                <a:spcPts val="700"/>
              </a:spcBef>
              <a:defRPr sz="919" b="1">
                <a:solidFill>
                  <a:srgbClr val="FFFFFF"/>
                </a:solidFill>
                <a:latin typeface="Segoe UI"/>
              </a:defRPr>
            </a:pPr>
            <a:r>
              <a:t>• Heavy Crowding Occlusion: </a:t>
            </a:r>
            <a:r>
              <a:rPr b="0">
                <a:solidFill>
                  <a:srgbClr val="CBD5E1"/>
                </a:solidFill>
              </a:rPr>
              <a:t>When 3+ workers cluster tightly around a carton, bounding box tracking can temporarily lose continuity.</a:t>
            </a:r>
          </a:p>
          <a:p>
            <a:pPr>
              <a:spcBef>
                <a:spcPts val="700"/>
              </a:spcBef>
              <a:defRPr sz="919" b="1">
                <a:solidFill>
                  <a:srgbClr val="FFFFFF"/>
                </a:solidFill>
                <a:latin typeface="Segoe UI"/>
              </a:defRPr>
            </a:pPr>
            <a:r>
              <a:t>• Morning Sunlight Glare: </a:t>
            </a:r>
            <a:r>
              <a:rPr b="0">
                <a:solidFill>
                  <a:srgbClr val="CBD5E1"/>
                </a:solidFill>
              </a:rPr>
              <a:t>Intense direct morning glare through open loading bay doors can slightly lower detection confidence.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5552" y="3429000"/>
            <a:ext cx="1828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600" b="1">
                <a:solidFill>
                  <a:srgbClr val="38BDF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83296" y="1417320"/>
            <a:ext cx="3364992" cy="4343400"/>
          </a:xfrm>
          <a:prstGeom prst="rect">
            <a:avLst/>
          </a:prstGeom>
          <a:solidFill>
            <a:srgbClr val="102C52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83296" y="1417320"/>
            <a:ext cx="3364992" cy="3200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4" y="1581912"/>
            <a:ext cx="2962656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03  —  WHAT'S NEXT</a:t>
            </a:r>
          </a:p>
          <a:p>
            <a:pPr>
              <a:spcBef>
                <a:spcPts val="300"/>
              </a:spcBef>
              <a:defRPr sz="1200" b="1">
                <a:solidFill>
                  <a:srgbClr val="38BDF8"/>
                </a:solidFill>
                <a:latin typeface="Segoe UI"/>
              </a:defRPr>
            </a:pPr>
            <a:r>
              <a:t>ENTERPRISE ROADMAP</a:t>
            </a:r>
          </a:p>
          <a:p>
            <a:pPr>
              <a:spcBef>
                <a:spcPts val="200"/>
              </a:spcBef>
              <a:defRPr sz="600">
                <a:solidFill>
                  <a:srgbClr val="1C3E66"/>
                </a:solidFill>
                <a:latin typeface="Segoe UI"/>
              </a:defRPr>
            </a:pPr>
            <a:r>
              <a:t>————————————————————————————</a:t>
            </a:r>
          </a:p>
          <a:p>
            <a:pPr>
              <a:spcBef>
                <a:spcPts val="700"/>
              </a:spcBef>
              <a:defRPr sz="919" b="1">
                <a:solidFill>
                  <a:srgbClr val="FFFFFF"/>
                </a:solidFill>
                <a:latin typeface="Segoe UI"/>
              </a:defRPr>
            </a:pPr>
            <a:r>
              <a:t>• Edge Hardware (NVIDIA Jetson): </a:t>
            </a:r>
            <a:r>
              <a:rPr b="0">
                <a:solidFill>
                  <a:srgbClr val="CBD5E1"/>
                </a:solidFill>
              </a:rPr>
              <a:t>Deploy localized TensorRT models on $150 dockside Jetson hardware for true &lt;50ms processing.</a:t>
            </a:r>
          </a:p>
          <a:p>
            <a:pPr>
              <a:spcBef>
                <a:spcPts val="700"/>
              </a:spcBef>
              <a:defRPr sz="919" b="1">
                <a:solidFill>
                  <a:srgbClr val="FFFFFF"/>
                </a:solidFill>
                <a:latin typeface="Segoe UI"/>
              </a:defRPr>
            </a:pPr>
            <a:r>
              <a:t>• Barcode Scanner Integration: </a:t>
            </a:r>
            <a:r>
              <a:rPr b="0">
                <a:solidFill>
                  <a:srgbClr val="CBD5E1"/>
                </a:solidFill>
              </a:rPr>
              <a:t>Synchronize AI incident timestamps directly with handheld barcode scans and WMS manifests.</a:t>
            </a:r>
          </a:p>
          <a:p>
            <a:pPr>
              <a:spcBef>
                <a:spcPts val="700"/>
              </a:spcBef>
              <a:defRPr sz="919" b="1">
                <a:solidFill>
                  <a:srgbClr val="FFFFFF"/>
                </a:solidFill>
                <a:latin typeface="Segoe UI"/>
              </a:defRPr>
            </a:pPr>
            <a:r>
              <a:t>• Ergonomic Safety Coaching: </a:t>
            </a:r>
            <a:r>
              <a:rPr b="0">
                <a:solidFill>
                  <a:srgbClr val="CBD5E1"/>
                </a:solidFill>
              </a:rPr>
              <a:t>Warn workers if they bend at the spine instead of lifting with their knees to prevent chronic injury.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6035040"/>
            <a:ext cx="10728655" cy="13716"/>
          </a:xfrm>
          <a:prstGeom prst="rect">
            <a:avLst/>
          </a:prstGeom>
          <a:solidFill>
            <a:srgbClr val="1C3E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144768"/>
            <a:ext cx="107286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Team VisionGuard: Aastha Gupta, Lucky Lakhani, Runjan Bawa  •  Thank you for listening!</a:t>
            </a:r>
          </a:p>
          <a:p>
            <a:pPr>
              <a:spcBef>
                <a:spcPts val="200"/>
              </a:spcBef>
              <a:defRPr sz="900">
                <a:solidFill>
                  <a:srgbClr val="38BDF8"/>
                </a:solidFill>
                <a:latin typeface="Segoe UI"/>
              </a:defRPr>
            </a:pPr>
            <a:r>
              <a:t>Live Web App: smart-warehouse-system-rk8p.onrender.com   |   GitHub: github.com/Aastha008/Smart-Warehouse-System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