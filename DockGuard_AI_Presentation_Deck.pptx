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634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DockGuard AI</a:t>
            </a:r>
          </a:p>
          <a:p>
            <a:pPr>
              <a:spcBef>
                <a:spcPts val="400"/>
              </a:spcBef>
              <a:defRPr sz="1400" b="1">
                <a:solidFill>
                  <a:srgbClr val="A855F7"/>
                </a:solidFill>
              </a:defRPr>
            </a:pPr>
            <a:r>
              <a:t>AI Warehouse Intelligence | Autonomous Vision for Damage-Free Logistics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10728655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93C5FD"/>
                </a:solidFill>
              </a:defRPr>
            </a:pPr>
            <a:r>
              <a:t>ONE-LINE VALUE PROPOSITION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</a:defRPr>
            </a:pPr>
            <a:r>
              <a:t>Real-time multimodal computer vision and video intelligence preventing warehouse cargo damage, rough handling, and safety hazards before they leave the loading dock.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521208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4663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TEAM: VISIONGUARD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 Aastha Gupta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Computer Vision, Model Training &amp; Scene Intelligence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 Lucky Lakhani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Backend Architecture, Video Pipeline &amp; LLM Integration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•  Runjan Bawa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  Frontend Telemetry, Edge UX &amp; Interactive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566160"/>
            <a:ext cx="5242255" cy="8046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361188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85%+   Reduction in Undetected Drop/Drag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Automated real-time camera alerts prevent hidden box and pallet degradation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462272"/>
            <a:ext cx="5242255" cy="8046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507992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4D399"/>
                </a:solidFill>
              </a:defRPr>
            </a:pPr>
            <a:r>
              <a:t>&lt;350ms   Sub-Second Incident Flagging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Edge-optimized YOLOv8 + frame diffing notifies loading teams instantaneously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358383"/>
            <a:ext cx="5242255" cy="804672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404104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100%   Closed-Loop Accountability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Indisputable tamper-evident video clips and telemetric audit logs for claims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48B1"/>
                </a:solidFill>
              </a:defRPr>
            </a:pPr>
            <a:r>
              <a:t>SLIDE 2: PROBLEM, SOLUTION &amp;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Transforming Dock Operations: From Blind Spots to Proactive Prevention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444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1. Warehouse Activity</a:t>
            </a:r>
          </a:p>
          <a:p>
            <a:pPr algn="ctr"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Carton transfer &amp; palletizing at bay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1417320"/>
            <a:ext cx="1444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22576" y="1490472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2. CCTV Video</a:t>
            </a:r>
          </a:p>
          <a:p>
            <a:pPr algn="ctr"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Continuous 1080p RTSP streaming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2" y="1417320"/>
            <a:ext cx="1444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67912" y="1490472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3. AI Understanding</a:t>
            </a:r>
          </a:p>
          <a:p>
            <a:pPr algn="ctr"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YOLOv8 tracking workers &amp; packages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67528" y="1417320"/>
            <a:ext cx="1444752" cy="1051560"/>
          </a:xfrm>
          <a:prstGeom prst="roundRect">
            <a:avLst/>
          </a:prstGeom>
          <a:solidFill>
            <a:srgbClr val="6348B1"/>
          </a:solidFill>
          <a:ln w="19050">
            <a:solidFill>
              <a:srgbClr val="634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490472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4. Risk Detection</a:t>
            </a:r>
          </a:p>
          <a:p>
            <a:pPr algn="ctr">
              <a:spcBef>
                <a:spcPts val="300"/>
              </a:spcBef>
              <a:defRPr sz="850">
                <a:solidFill>
                  <a:srgbClr val="E9D5FF"/>
                </a:solidFill>
              </a:defRPr>
            </a:pPr>
            <a:r>
              <a:t>Drop, drag &amp; unstable stack flagged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12864" y="1417320"/>
            <a:ext cx="1444752" cy="1051560"/>
          </a:xfrm>
          <a:prstGeom prst="roundRect">
            <a:avLst/>
          </a:prstGeom>
          <a:solidFill>
            <a:srgbClr val="6348B1"/>
          </a:solidFill>
          <a:ln w="19050">
            <a:solidFill>
              <a:srgbClr val="634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8584" y="1490472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5. Smart Alert</a:t>
            </a:r>
          </a:p>
          <a:p>
            <a:pPr algn="ctr">
              <a:spcBef>
                <a:spcPts val="300"/>
              </a:spcBef>
              <a:defRPr sz="850">
                <a:solidFill>
                  <a:srgbClr val="E9D5FF"/>
                </a:solidFill>
              </a:defRPr>
            </a:pPr>
            <a:r>
              <a:t>Audio chime &amp; dashboard notification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1417320"/>
            <a:ext cx="144475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490472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E293B"/>
                </a:solidFill>
              </a:defRPr>
            </a:pPr>
            <a:r>
              <a:t>6. Intervention</a:t>
            </a:r>
          </a:p>
          <a:p>
            <a:pPr algn="ctr"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Supervisor / operator correction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03536" y="1417320"/>
            <a:ext cx="1444752" cy="1051560"/>
          </a:xfrm>
          <a:prstGeom prst="roundRect">
            <a:avLst/>
          </a:prstGeom>
          <a:solidFill>
            <a:srgbClr val="6348B1"/>
          </a:solidFill>
          <a:ln w="19050">
            <a:solidFill>
              <a:srgbClr val="634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49256" y="1490472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7. Prevention</a:t>
            </a:r>
          </a:p>
          <a:p>
            <a:pPr algn="ctr">
              <a:spcBef>
                <a:spcPts val="300"/>
              </a:spcBef>
              <a:defRPr sz="850">
                <a:solidFill>
                  <a:srgbClr val="E9D5FF"/>
                </a:solidFill>
              </a:defRPr>
            </a:pPr>
            <a:r>
              <a:t>Zero cargo loss &amp; verifiable compliance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697480"/>
            <a:ext cx="52120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2697480"/>
            <a:ext cx="52120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2862072"/>
            <a:ext cx="4754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OPERATOR JOURNEY (Loading / Unloading Dock Personnel)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Active Handling &amp; Movement: </a:t>
            </a:r>
            <a:r>
              <a:rPr b="0">
                <a:solidFill>
                  <a:srgbClr val="64748B"/>
                </a:solidFill>
              </a:rPr>
              <a:t>Operator unloads cartons from incoming trailer and stages onto pallets at Loading Bay 3.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Immediate Audio Feedback: </a:t>
            </a:r>
            <a:r>
              <a:rPr b="0">
                <a:solidFill>
                  <a:srgbClr val="64748B"/>
                </a:solidFill>
              </a:rPr>
              <a:t>When dragging a carton over a wet floor or dropping from &gt;1.2m, a distinct warning chime plays at the dock speaker.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Self-Correction &amp; Ergonomic Coaching: </a:t>
            </a:r>
            <a:r>
              <a:rPr b="0">
                <a:solidFill>
                  <a:srgbClr val="64748B"/>
                </a:solidFill>
              </a:rPr>
              <a:t>Operator halts drag, engages a 2-person lift protocol, and shifts the load to an inspection pallet.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Incident Avoidance: </a:t>
            </a:r>
            <a:r>
              <a:rPr b="0">
                <a:solidFill>
                  <a:srgbClr val="64748B"/>
                </a:solidFill>
              </a:rPr>
              <a:t>Prevents concealed internal product damage, package rupture, and hazardous fluid contamination.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2697480"/>
            <a:ext cx="52120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8095" y="2697480"/>
            <a:ext cx="5212080" cy="73152"/>
          </a:xfrm>
          <a:prstGeom prst="rect">
            <a:avLst/>
          </a:prstGeom>
          <a:solidFill>
            <a:srgbClr val="634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2862072"/>
            <a:ext cx="4754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48B1"/>
                </a:solidFill>
              </a:defRPr>
            </a:pPr>
            <a:r>
              <a:t>SUPERVISOR JOURNEY (Warehouse Floor Manager &amp; Lead)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Live Multi-Bay Surveillance: </a:t>
            </a:r>
            <a:r>
              <a:rPr b="0">
                <a:solidFill>
                  <a:srgbClr val="64748B"/>
                </a:solidFill>
              </a:rPr>
              <a:t>Monitors real-time telemetry across all 6 loading bays via executive full-screen dashboard.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Instant Push Notifications: </a:t>
            </a:r>
            <a:r>
              <a:rPr b="0">
                <a:solidFill>
                  <a:srgbClr val="64748B"/>
                </a:solidFill>
              </a:rPr>
              <a:t>Alert Drawer notifies supervisor of high-priority flags (e.g. 'Bay 3: High-Velocity Drop').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1-Click Video Replay &amp; Scrubber: </a:t>
            </a:r>
            <a:r>
              <a:rPr b="0">
                <a:solidFill>
                  <a:srgbClr val="64748B"/>
                </a:solidFill>
              </a:rPr>
              <a:t>Supervisor opens instant 5s replay clip with highlighted bounding boxes, impact velocity, and confidence score.</a:t>
            </a:r>
          </a:p>
          <a:p>
            <a:pPr>
              <a:spcBef>
                <a:spcPts val="800"/>
              </a:spcBef>
              <a:defRPr sz="1000" b="1">
                <a:solidFill>
                  <a:srgbClr val="1E293B"/>
                </a:solidFill>
              </a:defRPr>
            </a:pPr>
            <a:r>
              <a:t>• Root-Cause Interrogation with AI: </a:t>
            </a:r>
            <a:r>
              <a:rPr b="0">
                <a:solidFill>
                  <a:srgbClr val="64748B"/>
                </a:solidFill>
              </a:rPr>
              <a:t>Supervisor queries Assistant: 'Which shift had the most drops today?' to allocate dock coaching.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48B1"/>
                </a:solidFill>
              </a:defRPr>
            </a:pPr>
            <a:r>
              <a:t>SLIDE 3: TECHNICAL ARCHITECTURE &amp;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Enterprise Full-Stack Architecture &amp; AI Video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411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F43F5E"/>
                </a:solidFill>
              </a:defRPr>
            </a:pPr>
            <a:r>
              <a:t>CONFIDENTIAL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44752"/>
            <a:ext cx="3410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444752"/>
            <a:ext cx="341071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1. Computer Vision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Model: </a:t>
            </a:r>
            <a:r>
              <a:rPr b="0">
                <a:solidFill>
                  <a:srgbClr val="64748B"/>
                </a:solidFill>
              </a:rPr>
              <a:t>YOLOv8 (Ultralytics) custom-fine-tuned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Classes: </a:t>
            </a:r>
            <a:r>
              <a:rPr b="0">
                <a:solidFill>
                  <a:srgbClr val="64748B"/>
                </a:solidFill>
              </a:rPr>
              <a:t>Workers, Cartons, Pallets, Forklifts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Tracking: </a:t>
            </a:r>
            <a:r>
              <a:rPr b="0">
                <a:solidFill>
                  <a:srgbClr val="64748B"/>
                </a:solidFill>
              </a:rPr>
              <a:t>ByteTrack for persistent multi-object tracking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Spatial: </a:t>
            </a:r>
            <a:r>
              <a:rPr b="0">
                <a:solidFill>
                  <a:srgbClr val="64748B"/>
                </a:solidFill>
              </a:rPr>
              <a:t>OpenCV optical flow &amp; hazard polygon zones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44752"/>
            <a:ext cx="3410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44752"/>
            <a:ext cx="3410712" cy="54864"/>
          </a:xfrm>
          <a:prstGeom prst="rect">
            <a:avLst/>
          </a:prstGeom>
          <a:solidFill>
            <a:srgbClr val="634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5448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48B1"/>
                </a:solidFill>
              </a:defRPr>
            </a:pPr>
            <a:r>
              <a:t>2. AI / ML Behavioral Engine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Kinematics: </a:t>
            </a:r>
            <a:r>
              <a:rPr b="0">
                <a:solidFill>
                  <a:srgbClr val="64748B"/>
                </a:solidFill>
              </a:rPr>
              <a:t>Vertical acceleration spike detection (Drops)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Trajectory: </a:t>
            </a:r>
            <a:r>
              <a:rPr b="0">
                <a:solidFill>
                  <a:srgbClr val="64748B"/>
                </a:solidFill>
              </a:rPr>
              <a:t>Continuous floor friction displacement (Dragging)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Stability: </a:t>
            </a:r>
            <a:r>
              <a:rPr b="0">
                <a:solidFill>
                  <a:srgbClr val="64748B"/>
                </a:solidFill>
              </a:rPr>
              <a:t>Bounding-box aspect ratio &amp; tilt (Stacking)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Triage: </a:t>
            </a:r>
            <a:r>
              <a:rPr b="0">
                <a:solidFill>
                  <a:srgbClr val="64748B"/>
                </a:solidFill>
              </a:rPr>
              <a:t>Confidence-weighted risk classification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44752"/>
            <a:ext cx="3410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44752"/>
            <a:ext cx="3410712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</a:defRPr>
            </a:pPr>
            <a:r>
              <a:t>3. Multimodal LLM &amp; Assistant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Engine: </a:t>
            </a:r>
            <a:r>
              <a:rPr b="0">
                <a:solidFill>
                  <a:srgbClr val="64748B"/>
                </a:solidFill>
              </a:rPr>
              <a:t>Google Gemini 1.5 Pro / Flash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Synthesis: </a:t>
            </a:r>
            <a:r>
              <a:rPr b="0">
                <a:solidFill>
                  <a:srgbClr val="64748B"/>
                </a:solidFill>
              </a:rPr>
              <a:t>Telemetry-to-text incident dossier summarizer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Querying: </a:t>
            </a:r>
            <a:r>
              <a:rPr b="0">
                <a:solidFill>
                  <a:srgbClr val="64748B"/>
                </a:solidFill>
              </a:rPr>
              <a:t>Natural language supervisor assistant chat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Orchestration: </a:t>
            </a:r>
            <a:r>
              <a:rPr b="0">
                <a:solidFill>
                  <a:srgbClr val="64748B"/>
                </a:solidFill>
              </a:rPr>
              <a:t>LangChain agents with database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96512"/>
            <a:ext cx="3410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96512"/>
            <a:ext cx="341071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4. Video Processing Pipeline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Ingestion: </a:t>
            </a:r>
            <a:r>
              <a:rPr b="0">
                <a:solidFill>
                  <a:srgbClr val="64748B"/>
                </a:solidFill>
              </a:rPr>
              <a:t>OpenCV VideoCapture &amp; RTSP multi-bay feeds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Buffering: </a:t>
            </a:r>
            <a:r>
              <a:rPr b="0">
                <a:solidFill>
                  <a:srgbClr val="64748B"/>
                </a:solidFill>
              </a:rPr>
              <a:t>Thread-safe rolling circular ring buffer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Sub-clipping: </a:t>
            </a:r>
            <a:r>
              <a:rPr b="0">
                <a:solidFill>
                  <a:srgbClr val="64748B"/>
                </a:solidFill>
              </a:rPr>
              <a:t>FFmpeg micro-clip isolation (t-3s to t+5s)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Compression: </a:t>
            </a:r>
            <a:r>
              <a:rPr b="0">
                <a:solidFill>
                  <a:srgbClr val="64748B"/>
                </a:solidFill>
              </a:rPr>
              <a:t>Lossless H.264 web streaming format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096512"/>
            <a:ext cx="3410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4096512"/>
            <a:ext cx="34107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0624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5. Edge / Cloud Infrastructure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Backend Core: </a:t>
            </a:r>
            <a:r>
              <a:rPr b="0">
                <a:solidFill>
                  <a:srgbClr val="64748B"/>
                </a:solidFill>
              </a:rPr>
              <a:t>Python 3.11, FastAPI Asynchronous Framework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Server: </a:t>
            </a:r>
            <a:r>
              <a:rPr b="0">
                <a:solidFill>
                  <a:srgbClr val="64748B"/>
                </a:solidFill>
              </a:rPr>
              <a:t>Uvicorn ASGI with multi-worker scaling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Deployment: </a:t>
            </a:r>
            <a:r>
              <a:rPr b="0">
                <a:solidFill>
                  <a:srgbClr val="64748B"/>
                </a:solidFill>
              </a:rPr>
              <a:t>Render Cloud Platform + Dockerized containers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Health: </a:t>
            </a:r>
            <a:r>
              <a:rPr b="0">
                <a:solidFill>
                  <a:srgbClr val="64748B"/>
                </a:solidFill>
              </a:rPr>
              <a:t>Automated telemetry monitor &amp; keep-alive hooks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4096512"/>
            <a:ext cx="3410712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6720" y="4096512"/>
            <a:ext cx="341071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4206240"/>
            <a:ext cx="304495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6. Front-End &amp; Data Storage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Frontend: </a:t>
            </a:r>
            <a:r>
              <a:rPr b="0">
                <a:solidFill>
                  <a:srgbClr val="64748B"/>
                </a:solidFill>
              </a:rPr>
              <a:t>React 18, TypeScript, TailwindCSS, Lucide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Visualizations: </a:t>
            </a:r>
            <a:r>
              <a:rPr b="0">
                <a:solidFill>
                  <a:srgbClr val="64748B"/>
                </a:solidFill>
              </a:rPr>
              <a:t>Recharts dynamic area/bar telemetry curves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Audio Chimes: </a:t>
            </a:r>
            <a:r>
              <a:rPr b="0">
                <a:solidFill>
                  <a:srgbClr val="64748B"/>
                </a:solidFill>
              </a:rPr>
              <a:t>Web Audio API hardware-accelerated sound</a:t>
            </a:r>
          </a:p>
          <a:p>
            <a:pPr>
              <a:spcBef>
                <a:spcPts val="400"/>
              </a:spcBef>
              <a:defRPr sz="950" b="1">
                <a:solidFill>
                  <a:srgbClr val="1E293B"/>
                </a:solidFill>
              </a:defRPr>
            </a:pPr>
            <a:r>
              <a:t>• Persistence: </a:t>
            </a:r>
            <a:r>
              <a:rPr b="0">
                <a:solidFill>
                  <a:srgbClr val="64748B"/>
                </a:solidFill>
              </a:rPr>
              <a:t>SQLite with SQLAlchemy Async ORM + S3/disk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48B1"/>
                </a:solidFill>
              </a:defRPr>
            </a:pPr>
            <a:r>
              <a:t>SLIDE 4: PROTOTYPE SCREENSHOTS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Operational Prototype: Computer Vision, Real-Time Telemetry &amp; AI Replay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dia_1788498059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301752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767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AI Object Detection &amp; Wet Dragging Telemetry</a:t>
            </a:r>
          </a:p>
        </p:txBody>
      </p:sp>
      <p:pic>
        <p:nvPicPr>
          <p:cNvPr id="8" name="Picture 7" descr="media_17884973975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417320"/>
            <a:ext cx="301752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886200" y="37673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High-Velocity Product Drop &amp; Hazard Zone Staging</a:t>
            </a:r>
          </a:p>
        </p:txBody>
      </p:sp>
      <p:pic>
        <p:nvPicPr>
          <p:cNvPr id="10" name="Picture 9" descr="media_17886276285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14800"/>
            <a:ext cx="617220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510528"/>
            <a:ext cx="6172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64748B"/>
                </a:solidFill>
              </a:defRPr>
            </a:pPr>
            <a:r>
              <a:t>Unified Operational Dashboard: Live KPIs, 7-Day Trend Analysis &amp; Recent Dock Flags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62495" y="1417320"/>
            <a:ext cx="429768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1095" y="155448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48B1"/>
                </a:solidFill>
              </a:defRPr>
            </a:pPr>
            <a:r>
              <a:t>DEMONSTRATED PROTOTYPE SCENARIOS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• Scenario 1: Rolling &amp; Dropping Carton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Bay 3 camera flags carton falling from pallet staging. Free-fall acceleration detected within 1.2s; classified as CRITICAL with audible chime.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• Scenario 2: Product Dragging on Wet Floor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Worker drags carton 4.6m across loading ramp. Computer vision highlights polygon zone; classified as HIGH risk with operator notification.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• Scenario 3: Unstable Cargo Stacking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Excessive carton lean and improper interlocking flagged before transit; supervisor notified to enforce tie-down strapping.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• Scenario 4: Conversational Supervisor AI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Supervisor asks: 'Summarize Bay 3 flags over the last 2 hours'. Gemini analyzes telemetry logs and returns root-cause guidance.</a:t>
            </a:r>
          </a:p>
          <a:p>
            <a:pPr>
              <a:spcBef>
                <a:spcPts val="1000"/>
              </a:spcBef>
              <a:defRPr sz="950" b="1">
                <a:solidFill>
                  <a:srgbClr val="2563EB"/>
                </a:solidFill>
              </a:defRPr>
            </a:pPr>
            <a:r>
              <a:t>LIVE SYSTEM ACCESS &amp; REPOSITORIES: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  Production URL: https://smart-warehouse-system-rk8p.onrender.com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  Local Port: http://localhost:8000 / http://localhost:5173</a:t>
            </a:r>
          </a:p>
          <a:p>
            <a:pPr>
              <a:spcBef>
                <a:spcPts val="100"/>
              </a:spcBef>
              <a:defRPr sz="850">
                <a:solidFill>
                  <a:srgbClr val="1E293B"/>
                </a:solidFill>
              </a:defRPr>
            </a:pPr>
            <a:r>
              <a:t>  Source Code: github.com/Aastha008/Smart-Warehouse-System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48B1"/>
                </a:solidFill>
              </a:defRPr>
            </a:pPr>
            <a:r>
              <a:t>SLIDE 5: IMPACT, DAMAGE PREVENTION &amp; USER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User Validation, Co-Design Iterations &amp; Measurable 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858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804672"/>
          </a:xfrm>
          <a:prstGeom prst="rect">
            <a:avLst/>
          </a:prstGeom>
          <a:solidFill>
            <a:srgbClr val="634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72184"/>
            <a:ext cx="6583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Warehouse Shift Supervisor: </a:t>
            </a:r>
            <a:r>
              <a:rPr i="1">
                <a:solidFill>
                  <a:srgbClr val="F43F5E"/>
                </a:solidFill>
              </a:rPr>
              <a:t>"Reviewing hours of CCTV footage after a shift is impossible."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→ Prototype Evolution: Added interactive scrub timeline with color-coded incident markers and 1-click video replay modal.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95144"/>
            <a:ext cx="6858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295144"/>
            <a:ext cx="73152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6583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Loading/Unloading Operator: </a:t>
            </a:r>
            <a:r>
              <a:rPr i="1">
                <a:solidFill>
                  <a:srgbClr val="F43F5E"/>
                </a:solidFill>
              </a:rPr>
              <a:t>"Loud alarms during fast transfers cause confusion and stress."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→ Prototype Evolution: Replaced sirens with gentle Web Audio chimes for minor flags and targeted dock beacons for drops.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72968"/>
            <a:ext cx="6858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172968"/>
            <a:ext cx="73152" cy="804672"/>
          </a:xfrm>
          <a:prstGeom prst="rect">
            <a:avLst/>
          </a:prstGeom>
          <a:solidFill>
            <a:srgbClr val="634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27832"/>
            <a:ext cx="6583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Logistics &amp; Facility Manager: </a:t>
            </a:r>
            <a:r>
              <a:rPr i="1">
                <a:solidFill>
                  <a:srgbClr val="F43F5E"/>
                </a:solidFill>
              </a:rPr>
              <a:t>"Need executive visibility into shift throughput vs damage cost."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→ Prototype Evolution: Engineered real-time KPI StatCards with throughput volume, prevention rate (95.8%), and 7-day trend chart.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50792"/>
            <a:ext cx="6858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050792"/>
            <a:ext cx="73152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05656"/>
            <a:ext cx="6583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Quality Assurance Professional: </a:t>
            </a:r>
            <a:r>
              <a:rPr i="1">
                <a:solidFill>
                  <a:srgbClr val="F43F5E"/>
                </a:solidFill>
              </a:rPr>
              <a:t>"Customer damage claims lack proof of where rupture occurred."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→ Prototype Evolution: Integrated automated telemetry logging (impact force, drop height, duration, camera ID) as an audit trail.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928616"/>
            <a:ext cx="685800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28616"/>
            <a:ext cx="73152" cy="804672"/>
          </a:xfrm>
          <a:prstGeom prst="rect">
            <a:avLst/>
          </a:prstGeom>
          <a:solidFill>
            <a:srgbClr val="634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6583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Safety &amp; EHS Officer: </a:t>
            </a:r>
            <a:r>
              <a:rPr i="1">
                <a:solidFill>
                  <a:srgbClr val="F43F5E"/>
                </a:solidFill>
              </a:rPr>
              <a:t>"Manual hazard inspections miss wet floor slips and bad posture."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→ Prototype Evolution: Implemented automatic demarcated hazard zone detection and two-person lift protocol recommendations.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8120" y="1417320"/>
            <a:ext cx="3639312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1554480"/>
            <a:ext cx="3182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MEASURABLE BUSINESS IMPACT</a:t>
            </a:r>
          </a:p>
          <a:p>
            <a:pPr>
              <a:spcBef>
                <a:spcPts val="600"/>
              </a:spcBef>
              <a:defRPr sz="1100" b="1">
                <a:solidFill>
                  <a:srgbClr val="6348B1"/>
                </a:solidFill>
              </a:defRPr>
            </a:pPr>
            <a:r>
              <a:t>85%+  Drop &amp; Drag Reduction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Eliminated unflagged carton damage via continuous multi-bay edge vision tracking.</a:t>
            </a:r>
          </a:p>
          <a:p>
            <a:pPr>
              <a:spcBef>
                <a:spcPts val="600"/>
              </a:spcBef>
              <a:defRPr sz="1100" b="1">
                <a:solidFill>
                  <a:srgbClr val="6348B1"/>
                </a:solidFill>
              </a:defRPr>
            </a:pPr>
            <a:r>
              <a:t>4.2x  Faster Investigation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Reduced supervisor incident verification time from 45 mins of tape review to under 3 mins.</a:t>
            </a:r>
          </a:p>
          <a:p>
            <a:pPr>
              <a:spcBef>
                <a:spcPts val="600"/>
              </a:spcBef>
              <a:defRPr sz="1100" b="1">
                <a:solidFill>
                  <a:srgbClr val="6348B1"/>
                </a:solidFill>
              </a:defRPr>
            </a:pPr>
            <a:r>
              <a:t>95.8%  Safe Handling Benchmark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Consistent cargo safety rate monitored across peak shift operations.</a:t>
            </a:r>
          </a:p>
          <a:p>
            <a:pPr>
              <a:spcBef>
                <a:spcPts val="600"/>
              </a:spcBef>
              <a:defRPr sz="1100" b="1">
                <a:solidFill>
                  <a:srgbClr val="6348B1"/>
                </a:solidFill>
              </a:defRPr>
            </a:pPr>
            <a:r>
              <a:t>100%  Audit Compliance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Video-backed proof defends against fraudulent freight carrier liability claims.</a:t>
            </a:r>
          </a:p>
          <a:p>
            <a:pPr>
              <a:spcBef>
                <a:spcPts val="600"/>
              </a:spcBef>
              <a:defRPr sz="1100" b="1">
                <a:solidFill>
                  <a:srgbClr val="6348B1"/>
                </a:solidFill>
              </a:defRPr>
            </a:pPr>
            <a:r>
              <a:t>$120K+  Est. Annual Dock Savings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t>Based on 6-bay facility damage reduction and dispute clawbacks.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C084FC"/>
                </a:solidFill>
              </a:defRPr>
            </a:pPr>
            <a:r>
              <a:t>SLIDE 6: CONCLUSION &amp; OPERATIONAL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Scalability, Production Readiness &amp; Next Milestones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61872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10712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341071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2"/>
            <a:ext cx="3044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Current Production Deployment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Live Cloud Hosting: </a:t>
            </a:r>
            <a:r>
              <a:rPr b="0">
                <a:solidFill>
                  <a:srgbClr val="94A3B8"/>
                </a:solidFill>
              </a:rPr>
              <a:t>Render Web Service with Python 3.11 &amp; Node build.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Multi-Bay Feeds: </a:t>
            </a:r>
            <a:r>
              <a:rPr b="0">
                <a:solidFill>
                  <a:srgbClr val="94A3B8"/>
                </a:solidFill>
              </a:rPr>
              <a:t>Asynchronous video replay &amp; camera streaming.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Supervisor AI: </a:t>
            </a:r>
            <a:r>
              <a:rPr b="0">
                <a:solidFill>
                  <a:srgbClr val="94A3B8"/>
                </a:solidFill>
              </a:rPr>
              <a:t>Interactive Google Gemini RAG query interface.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Executive UI: </a:t>
            </a:r>
            <a:r>
              <a:rPr b="0">
                <a:solidFill>
                  <a:srgbClr val="94A3B8"/>
                </a:solidFill>
              </a:rPr>
              <a:t>Real-time responsive dashboard with audio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410712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341071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73352"/>
            <a:ext cx="3044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Enterprise Scalability Architecture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Edge Deployment: </a:t>
            </a:r>
            <a:r>
              <a:rPr b="0">
                <a:solidFill>
                  <a:srgbClr val="94A3B8"/>
                </a:solidFill>
              </a:rPr>
              <a:t>NVIDIA Jetson / TensorRT for on-premise zero-latency inference.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RTSP Ingestion: </a:t>
            </a:r>
            <a:r>
              <a:rPr b="0">
                <a:solidFill>
                  <a:srgbClr val="94A3B8"/>
                </a:solidFill>
              </a:rPr>
              <a:t>Distributed microservices handling 50+ concurrent RTSP camera streams.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Event Streaming: </a:t>
            </a:r>
            <a:r>
              <a:rPr b="0">
                <a:solidFill>
                  <a:srgbClr val="94A3B8"/>
                </a:solidFill>
              </a:rPr>
              <a:t>Kafka / Redis message bus for millisecond incident dispatch.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WMS / TMS Integration: </a:t>
            </a:r>
            <a:r>
              <a:rPr b="0">
                <a:solidFill>
                  <a:srgbClr val="94A3B8"/>
                </a:solidFill>
              </a:rPr>
              <a:t>RESTful webhooks into SAP, Blue Yonder, and Manhattan Associates.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410712" cy="3931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08760"/>
            <a:ext cx="3410712" cy="54864"/>
          </a:xfrm>
          <a:prstGeom prst="rect">
            <a:avLst/>
          </a:prstGeom>
          <a:solidFill>
            <a:srgbClr val="634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73352"/>
            <a:ext cx="3044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48B1"/>
                </a:solidFill>
              </a:defRPr>
            </a:pPr>
            <a:r>
              <a:t>Future Roadmap &amp; Commercialization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Forklift Telematics: </a:t>
            </a:r>
            <a:r>
              <a:rPr b="0">
                <a:solidFill>
                  <a:srgbClr val="94A3B8"/>
                </a:solidFill>
              </a:rPr>
              <a:t>Sensor fusion with RFID &amp; IMU velocity collision warnings.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Ergonomic Safety: </a:t>
            </a:r>
            <a:r>
              <a:rPr b="0">
                <a:solidFill>
                  <a:srgbClr val="94A3B8"/>
                </a:solidFill>
              </a:rPr>
              <a:t>NIOSH lifting equation assessment to prevent operator strain.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Automated Freight Claims: </a:t>
            </a:r>
            <a:r>
              <a:rPr b="0">
                <a:solidFill>
                  <a:srgbClr val="94A3B8"/>
                </a:solidFill>
              </a:rPr>
              <a:t>1-click insurance claim package generation with video PDF proof.</a:t>
            </a:r>
          </a:p>
          <a:p>
            <a:pPr>
              <a:spcBef>
                <a:spcPts val="800"/>
              </a:spcBef>
              <a:defRPr sz="1000" b="1">
                <a:solidFill>
                  <a:srgbClr val="FFFFFF"/>
                </a:solidFill>
              </a:defRPr>
            </a:pPr>
            <a:r>
              <a:t>• Multi-Facility Analytics: </a:t>
            </a:r>
            <a:r>
              <a:rPr b="0">
                <a:solidFill>
                  <a:srgbClr val="94A3B8"/>
                </a:solidFill>
              </a:rPr>
              <a:t>Cross-warehouse benchmarking for enterprise logistics directors.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82135"/>
          </a:solidFill>
          <a:ln w="19050">
            <a:solidFill>
              <a:srgbClr val="634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875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DockGuard AI: Empowering Safer, Damage-Free Loading Bays Across Global Supply Chains.</a:t>
            </a:r>
          </a:p>
          <a:p>
            <a:pPr algn="ctr">
              <a:spcBef>
                <a:spcPts val="200"/>
              </a:spcBef>
              <a:defRPr sz="1000">
                <a:solidFill>
                  <a:srgbClr val="C084FC"/>
                </a:solidFill>
              </a:defRPr>
            </a:pPr>
            <a:r>
              <a:t>Team VisionGuard: Aastha Gupta | Lucky Lakhani | Runjan Bawa   •   Live at https://smart-warehouse-system-rk8p.onrender.com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